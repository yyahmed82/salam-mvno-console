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737360"/>
            <a:ext cx="121916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08A47"/>
                </a:solidFill>
                <a:latin typeface="Aptos"/>
              </a:rPr>
              <a:t>L2 REVIEW SERIES · SESSION 2 of 2 ·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916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Aptos"/>
              </a:rPr>
              <a:t>Session 2 — Is it USEFUL?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3108960"/>
            <a:ext cx="141732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346704"/>
            <a:ext cx="121916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E2E8F0"/>
                </a:solidFill>
                <a:latin typeface="Aptos"/>
              </a:rPr>
              <a:t>Troubleshooting with real cases · Yusr AI copilot · Topology &amp; journeys · Final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8620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94A3B8"/>
                </a:solidFill>
                <a:latin typeface="Aptos"/>
              </a:rPr>
              <a:t>Everything today runs LIVE on the console. When a number looks wrong — say so.</a:t>
            </a:r>
          </a:p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94A3B8"/>
                </a:solidFill>
                <a:latin typeface="Aptos"/>
              </a:rPr>
              <a:t>Two of this week's dashboard fixes exist because someone in this room challenged a number.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489204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5038344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008A47"/>
                </a:solidFill>
                <a:latin typeface="Aptos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5495544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Aptos"/>
              </a:rPr>
              <a:t>RECAP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489204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5038344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008A47"/>
                </a:solidFill>
                <a:latin typeface="Apto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5495544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Aptos"/>
              </a:rPr>
              <a:t>HISTORIC CASES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489204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5038344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008A47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5495544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Aptos"/>
              </a:rPr>
              <a:t>AI COPILOT, LIVE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4892040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5038344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008A47"/>
                </a:solidFill>
                <a:latin typeface="Aptos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5495544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Aptos"/>
              </a:rPr>
              <a:t>FINAL QUIZ QS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SESSION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Agenda — the final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Four blocks, then you sign the verdicts.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5394960" cy="1874519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984248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8A47"/>
                </a:solidFill>
                <a:latin typeface="Aptos"/>
              </a:rPr>
              <a:t>① WARM-UP QUIZ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50008"/>
            <a:ext cx="4892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34155"/>
                </a:solidFill>
                <a:latin typeface="Aptos"/>
              </a:rPr>
              <a:t>Session 1 recap — sync, users, dashboard, alerts, notifications, analytics. Hands up / call 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783080"/>
            <a:ext cx="5394960" cy="1874519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1984248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91C1C"/>
                </a:solidFill>
                <a:latin typeface="Aptos"/>
              </a:rPr>
              <a:t>② TROUBLESHOOTING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2350008"/>
            <a:ext cx="4892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34155"/>
                </a:solidFill>
                <a:latin typeface="Aptos"/>
              </a:rPr>
              <a:t>The core of today. Five real cases this console lived through — replayed the way L1/L2 would work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886200"/>
            <a:ext cx="5394960" cy="1874519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4087368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D28D9"/>
                </a:solidFill>
                <a:latin typeface="Aptos"/>
              </a:rPr>
              <a:t>③ YUSR · يُسر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453128"/>
            <a:ext cx="4892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34155"/>
                </a:solidFill>
                <a:latin typeface="Aptos"/>
              </a:rPr>
              <a:t>The AI copilot — now answering with a real local LLM on this server. Scope, PII, learning loop, live demo.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3886200"/>
            <a:ext cx="5394960" cy="1874519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4087368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D4ED8"/>
                </a:solidFill>
                <a:latin typeface="Aptos"/>
              </a:rPr>
              <a:t>④ KNOW THE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4453128"/>
            <a:ext cx="4892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34155"/>
                </a:solidFill>
                <a:latin typeface="Aptos"/>
              </a:rPr>
              <a:t>Topology, API Gateway, 24 customer journeys, 32 integrations — where to LOOK when something breaks.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89788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5897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Then: the FINAL QUIZ (8 questions, both sessions) and the three sign-off verdicts.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371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8A47"/>
                </a:solidFill>
                <a:latin typeface="Aptos"/>
              </a:rPr>
              <a:t>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7373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Aptos"/>
              </a:rPr>
              <a:t>Warm-up — do you still own session 1?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697480"/>
            <a:ext cx="100584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2E8F0"/>
                </a:solidFill>
                <a:latin typeface="Aptos"/>
              </a:rPr>
              <a:t>Four questions. Shout the letter. Wrong answers are the useful 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65760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377647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7647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Data sync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20624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32511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32511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Users &amp; PII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75488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7375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87375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30352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42239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42239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Alerts &amp; notify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BEAFE"/>
                </a:solidFill>
                <a:latin typeface="Aptos"/>
              </a:rPr>
              <a:t>QUIZ R1  ·  everyone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Data 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Aptos"/>
              </a:rPr>
              <a:t>The dashboard says “updated 4 minutes ago”. Prod had an order 2 minutes ago. Is the console broken?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77440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505456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551176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5328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A — Yes, data must be real-time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35808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163824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09544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912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B — No: replica syncs every ~5 min, so 4–7 min lag is the healthy steady state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94176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3822191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867912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8496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C — Only broken if lag &gt; 15 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52544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4480559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526280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5079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D — The console shows cached data from midnight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77440"/>
            <a:ext cx="5349240" cy="5486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8A47"/>
                </a:solidFill>
                <a:latin typeface="Aptos"/>
              </a:rPr>
              <a:t>✓  ANSWER: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108960"/>
            <a:ext cx="5349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4748B"/>
                </a:solidFill>
                <a:latin typeface="Aptos"/>
              </a:rPr>
              <a:t>WHY IT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364992"/>
            <a:ext cx="5349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Prod-sync pulls every 5 minutes with a safety cutoff — steady-state lag 4–7 min is NORMAL.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937760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3" y="5084064"/>
            <a:ext cx="4873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REMEMBER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3" y="5358384"/>
            <a:ext cx="48737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If the source itself freezes &gt;60 min, the console declares DATA FROZEN on its own banner — you saw that logic in session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BEAFE"/>
                </a:solidFill>
                <a:latin typeface="Aptos"/>
              </a:rPr>
              <a:t>QUIZ R2  ·  everyone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Users &amp; PII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Aptos"/>
              </a:rPr>
              <a:t>An L1 agent opens Subscriber 360. The MSISDN shows 05*****290. Why?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77440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505456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551176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5328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A — A display bug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35808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163824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09544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912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B — The subscriber opted out of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94176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3822191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867912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8496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C — PII is masked per ROLE; only unmaskPII capability + the unmask toggle reveals 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52544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4480559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526280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5079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D — The number was ported out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77440"/>
            <a:ext cx="5349240" cy="5486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8A47"/>
                </a:solidFill>
                <a:latin typeface="Aptos"/>
              </a:rPr>
              <a:t>✓  ANSWER: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108960"/>
            <a:ext cx="5349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4748B"/>
                </a:solidFill>
                <a:latin typeface="Aptos"/>
              </a:rPr>
              <a:t>WHY IT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364992"/>
            <a:ext cx="5349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Masking is applied server-side per the caller's capabilities — the browser never receives what the role can't see.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937760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3" y="5084064"/>
            <a:ext cx="4873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REMEMBER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3" y="5358384"/>
            <a:ext cx="48737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Same governance applies to Yusr: the LLM only ever sees the masked pack.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BEAFE"/>
                </a:solidFill>
                <a:latin typeface="Aptos"/>
              </a:rPr>
              <a:t>QUIZ R3  ·  everyone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Aptos"/>
              </a:rPr>
              <a:t>Orders KPI says 58,982 and the order tree header shows “✓ reconciles”. What does that ✓ prove?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77440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505456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551176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5328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A — The tree is drawn from the KPI number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35808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163824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09544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912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B — Both counts come from the same raw definition &amp; window — independently computed, they MATCH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94176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3822191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867912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8496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C — Nothing, it is decorative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52544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4480559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526280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5079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D — That rollups are enabled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77440"/>
            <a:ext cx="5349240" cy="5486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8A47"/>
                </a:solidFill>
                <a:latin typeface="Aptos"/>
              </a:rPr>
              <a:t>✓  ANSWER: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108960"/>
            <a:ext cx="5349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4748B"/>
                </a:solidFill>
                <a:latin typeface="Aptos"/>
              </a:rPr>
              <a:t>WHY IT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364992"/>
            <a:ext cx="5349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Two independent computations agreeing is the whole point — that's your session-1 'is the data true?' check, automated.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937760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3" y="5084064"/>
            <a:ext cx="4873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REMEMBER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3" y="5358384"/>
            <a:ext cx="48737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This week the tree also became a proven PARTITION: every order lands in exactly one box (verify-flow.cjs, 384 combinations).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BEAFE"/>
                </a:solidFill>
                <a:latin typeface="Aptos"/>
              </a:rPr>
              <a:t>QUIZ R4  ·  everyone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Aptos"/>
              </a:rPr>
              <a:t>A P2 rule with min_sample 20 sees a 100% failure rate from 3 events in its window. What happens?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77440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505456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551176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5328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A — It fires — 100% is critical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35808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163824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09544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912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B — It fires as P3 instead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94176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3822191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867912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8496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C — Nothing: min_sample gates it — 3 events is noise, not 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52544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4480559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526280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5079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D — It pages the on-call directly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77440"/>
            <a:ext cx="5349240" cy="5486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8A47"/>
                </a:solidFill>
                <a:latin typeface="Aptos"/>
              </a:rPr>
              <a:t>✓  ANSWER: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108960"/>
            <a:ext cx="5349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4748B"/>
                </a:solidFill>
                <a:latin typeface="Aptos"/>
              </a:rPr>
              <a:t>WHY IT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364992"/>
            <a:ext cx="5349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Rules fire on threshold + MINIMUM SAMPLE inside the window — that's what keeps 3am single-failure noise out of Teams.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937760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3" y="5084064"/>
            <a:ext cx="4873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REMEMBER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3" y="5358384"/>
            <a:ext cx="48737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Reminder from session 1: that same gate is why count-based watchdogs exist for low-volume windows.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371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8A47"/>
                </a:solidFill>
                <a:latin typeface="Aptos"/>
              </a:rPr>
              <a:t>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7373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Aptos"/>
              </a:rPr>
              <a:t>Troubleshooting — five cases this console lived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697480"/>
            <a:ext cx="100584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2E8F0"/>
                </a:solidFill>
                <a:latin typeface="Aptos"/>
              </a:rPr>
              <a:t>Not lab exercises. Each of these happened, on this platform, with these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65760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377647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7647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BSS 1500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20624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32511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32511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Semati outage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75488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7375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87375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Stuck payments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30352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42239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42239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Courier mystery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85216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97103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97103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The missing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The troubleshooting spine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Every case today walks the same five steps — learn the spine, not the cases.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03120"/>
            <a:ext cx="2011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418587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SYMPTOM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683763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ticket / alert /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angry dashboard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33472" y="2674620"/>
            <a:ext cx="182880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71216" y="2103120"/>
            <a:ext cx="2011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2418587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1216" y="2683763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Troubleshoot page: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one customer or many?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37759" y="2674620"/>
            <a:ext cx="182881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75504" y="2103120"/>
            <a:ext cx="2011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5504" y="2418587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TRACE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2683763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timeline drawer: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request / response / ms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42048" y="2674620"/>
            <a:ext cx="182879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79792" y="2103120"/>
            <a:ext cx="2011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2418587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CAUSE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792" y="2683763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error catalog + runbook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+ past cases (Yusr)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46336" y="2674620"/>
            <a:ext cx="182879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84080" y="2103120"/>
            <a:ext cx="2011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2418587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683763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sql.cjs on the replica —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never trust, always 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657600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THE FOUR SURFACES YOU'LL USE ALL DAY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005072"/>
            <a:ext cx="219456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968496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Troubleshoot → category tiles (Payment / Activation / Eligibility / Delivery / Ownership) → drill to the exact failing call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389120"/>
            <a:ext cx="219456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435254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Subscriber 360 → every event clickable → full request/response JSON in the drawer (PII masked per your role)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773168"/>
            <a:ext cx="219456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736592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Dashboard flow tree → Find (MSISDN / NID) → the customer's whole journey lights up, ending at the box where it stopped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157216"/>
            <a:ext cx="219456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120640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sql.cjs on 152 → read-only SQL against the replica when you need the raw truth — same tool you used in session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EE2E2"/>
                </a:solidFill>
                <a:latin typeface="Aptos"/>
              </a:rPr>
              <a:t>CASE 1  ·  REAL INCIDENT  ·  worked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BSS error 1500 — the incident that taught us about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Aptos"/>
              </a:rPr>
              <a:t>INC0016809: customers failing activation with BSS status 1500. The console showed SOME of it — and missed the rest. Why?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24028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510028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WRITE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75204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activation_logs (replica)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console SAW these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24028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510028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READ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775204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OSB get-subscription-profile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lives in dms_audit_logs.uil_logs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(Clara MySQL) — console was BLIND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240280"/>
            <a:ext cx="32004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51002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775204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OSB fault watcher —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polls uil_logs every 5m,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threshold-calibrated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13631" y="2766060"/>
            <a:ext cx="512065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827264" y="2766060"/>
            <a:ext cx="530351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6928" y="3611880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WHAT L2 SHOULD TAKE FROM 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959352"/>
            <a:ext cx="219456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922776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Lesson 1 — an error family can live in TWO systems: the replica shows writes; OSB read-faults never reach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43400"/>
            <a:ext cx="219456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30682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Lesson 2 — “no alert fired” ≠ “no problem”: 4 new low-volume-aware rules were back-tested against the real incident window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727448"/>
            <a:ext cx="219456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690872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Lesson 3 — the fix is only done when you can PROVE the rule would have fired on the historic data — we did, it would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80644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5806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LIVE: Troubleshoot → BSS tile → api × status_code breakdown; OSB read-faults appear via the uil_logs watcher.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EE2E2"/>
                </a:solidFill>
                <a:latin typeface="Aptos"/>
              </a:rPr>
              <a:t>CASE 2  ·  REAL INCIDENT  ·  worked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Semati / TCC outage #28713 — layered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Aptos"/>
              </a:rPr>
              <a:t>Government eligibility provider degrading: error 715 “Service not available” + 5002 transport resets. One blended failure-rate metric slept through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212848"/>
            <a:ext cx="11064240" cy="31089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67712"/>
            <a:ext cx="16642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F172A"/>
                </a:solidFill>
                <a:latin typeface="Aptos"/>
              </a:rPr>
              <a:t>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267712"/>
            <a:ext cx="44074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F172A"/>
                </a:solidFill>
                <a:latin typeface="Aptos"/>
              </a:rPr>
              <a:t>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2267712"/>
            <a:ext cx="4498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F172A"/>
                </a:solidFill>
                <a:latin typeface="Aptos"/>
              </a:rPr>
              <a:t>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78608"/>
            <a:ext cx="16642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APP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578608"/>
            <a:ext cx="44074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715 — provider up but refusing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578608"/>
            <a:ext cx="4498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provider_error_rate ≥50% over 15 min (P1)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834640"/>
            <a:ext cx="11064240" cy="310896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89504"/>
            <a:ext cx="16642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TRANSPORT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889504"/>
            <a:ext cx="44074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5002 / 408 / SSL resets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889504"/>
            <a:ext cx="4498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transport_error_rate ≥15% over 30 min (P2)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00400"/>
            <a:ext cx="16642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SILENCE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200400"/>
            <a:ext cx="44074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zero successful Semati calls while platform is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200400"/>
            <a:ext cx="4498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success_volume ≤ 0 with min_sample (P1)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456432"/>
            <a:ext cx="11064240" cy="310896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511296"/>
            <a:ext cx="16642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CANARY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511296"/>
            <a:ext cx="44074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synthetic probe calls Semati on a schedule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511296"/>
            <a:ext cx="4498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sematiProbe — catches it at 3am with no traffic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2064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5120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Principle: chronic-noise providers need LAYERED rules — app / transport / silence / canary — not one blended rate.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71500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57150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LIVE: Troubleshoot → Eligibility → filter Semati; Alerts board → the four Semati rules and their thresholds.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EE2E2"/>
                </a:solidFill>
                <a:latin typeface="Aptos"/>
              </a:rPr>
              <a:t>CASE 3  ·  REAL INCIDENT  ·  worked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Stuck &amp; duplicate payments — definitions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81328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Aptos"/>
              </a:rPr>
              <a:t>“Payments stuck” once counted every abandoned checkout — thousands of false positives. The fix was a DEFINITION, not a query.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94560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THE FOUR DEFINITIONS L1 MUST NOT MIX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542032"/>
            <a:ext cx="219456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05456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STUCK (real) = pending + gateway COMMIT RESPONSE present + older than 30 min — the gateway charged, the app never finalised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926079"/>
            <a:ext cx="219456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889503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ABANDONED = pending with NO commit response — customer reached the page and left. Normal business, not an incident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310127"/>
            <a:ext cx="219456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273551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DUPLICATE SUSPECT = same customer + amount charged 2+ times within 30 min — reconcile against Tap before refunding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694176"/>
            <a:ext cx="219456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657600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DECLINE REASONS = gateway code + message parsed from payment_commit_response — the drill-down drawer shows WHY each card failed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07492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5074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LIVE: Troubleshoot → Payment stuck (note how small the number is now) → decline-reason drawer on a failed payment.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66928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669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L2 check: are the stuck thresholds (P2 ≥15 / P1 ≥40 over 3h) still right for current volume? You own this number.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EE2E2"/>
                </a:solidFill>
                <a:latin typeface="Aptos"/>
              </a:rPr>
              <a:t>CASE 4  ·  REAL INCIDENT  ·  worked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This week: the courier mystery — 398 “missing” deliveries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Aptos"/>
              </a:rPr>
              <a:t>During THIS review, the tree showed reseller orders with no courier. Investigation, live, with the tools you have: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48840"/>
            <a:ext cx="20116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44144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SYMPTOM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0662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398 tygo orders,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no delivery row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33472" y="2697480"/>
            <a:ext cx="182880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71216" y="2148840"/>
            <a:ext cx="20116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244144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1216" y="270662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sql.cjs: split by flag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× payment status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37759" y="2697480"/>
            <a:ext cx="182881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75504" y="2148840"/>
            <a:ext cx="20116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5504" y="244144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FINDING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270662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true = courier required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(code, not opinion)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42048" y="2697480"/>
            <a:ext cx="182879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79792" y="2148840"/>
            <a:ext cx="20116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244144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FINDING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792" y="270662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224 = shop pickup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(flag=false, legit)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46336" y="2697480"/>
            <a:ext cx="182879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84080" y="2148840"/>
            <a:ext cx="20116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244144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70662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backlog was 0 —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eSIMs need no courier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566160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WHAT CHANGED BECAUSE WE CHECKED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913632"/>
            <a:ext cx="219456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877056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The dashboard now has Shop pickup (violet) and Courier not created (red) boxes because of this investigation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297680"/>
            <a:ext cx="219456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426110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A new alert (courier_backlog, P2 ≥5 / P1 ≥15 after 30-min grace) pages if paid customers are ever really stranded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681728"/>
            <a:ext cx="219456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645152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The scary number collapsed to ZERO once definitions were right — “alarming” and “wrong” are different problems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76072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" y="5760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This is the review working: a challenged number → verified on raw data → dashboard corrected → alert added. Repeat forever.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EE2E2"/>
                </a:solidFill>
                <a:latin typeface="Aptos"/>
              </a:rPr>
              <a:t>CASE 5  ·  REAL INCIDENT  ·  worked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The missing 3 — “4 eligible, 1 payment. Where are the others?”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34155"/>
                </a:solidFill>
                <a:latin typeface="Aptos"/>
              </a:rPr>
              <a:t>Asked in this room, yesterday. Four eligible orders, one reached payment. The tree LOST three orders — or did it?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94560"/>
            <a:ext cx="265176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441448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Eligibility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0662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4 orders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1874519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2075687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Total Payment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340863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1 — has a payment record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297180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3172968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No payment (NEW)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43814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3 — eligible, never paid: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abandoned before payment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273552" y="2331720"/>
            <a:ext cx="603504" cy="36576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273552" y="2697480"/>
            <a:ext cx="603504" cy="73152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0" y="1874519"/>
            <a:ext cx="4297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THE RULE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2221991"/>
            <a:ext cx="219456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4383" y="2185415"/>
            <a:ext cx="3931920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Boxes must PARTITION: every parent order in exactly one child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2770632"/>
            <a:ext cx="219456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44383" y="2734056"/>
            <a:ext cx="3931920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verify-flow.cjs proves it over all 384 possible order shapes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3319272"/>
            <a:ext cx="219456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4383" y="3282696"/>
            <a:ext cx="3931920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The gap became a visible drop-off box, not silent loss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4340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4343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LIVE: flow tree → Find that customer's NID → the 4 orders light their paths; 3 end at “No payment”, 1 at “Not delivered”. Then Timeline → the full trace.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93776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4937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L2 homework carried forward: whenever a funnel step loses orders silently, demand the partition proof.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371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8A47"/>
                </a:solidFill>
                <a:latin typeface="Aptos"/>
              </a:rPr>
              <a:t>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7373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Aptos"/>
              </a:rPr>
              <a:t>Yusr يُسر — the AI copilot, now with a real brain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697480"/>
            <a:ext cx="100584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2E8F0"/>
                </a:solidFill>
                <a:latin typeface="Aptos"/>
              </a:rPr>
              <a:t>As of last night, a local LLM (llama3.1) answers on this server. Nothing leaves the network.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65760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377647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7647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What it does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20624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32511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32511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PII &amp; scope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75488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7375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87375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Learning loop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30352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42239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42239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Live demo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YUSR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What the LLM actually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The AI never fetches data. It reasons over what the console gathered — masked per YOUR role.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20240"/>
            <a:ext cx="24688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189987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Your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455163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MSISDN / NID /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incident / how-to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920240"/>
            <a:ext cx="28346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189987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Console gathers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455163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profile · timeline · failures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CST tickets · alerts · runbooks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· 32 integrations · past cases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920240"/>
            <a:ext cx="23774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189987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PII mask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455163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per your role —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before the model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sees anything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1920240"/>
            <a:ext cx="18288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2189987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Local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455163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llama3.1 on 152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no cloud, ever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90672" y="2446020"/>
            <a:ext cx="420624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55664" y="2446020"/>
            <a:ext cx="438912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381744" y="2446020"/>
            <a:ext cx="347471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" y="3383280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THE CONTRACT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730752"/>
            <a:ext cx="219456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694176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LLM mode — conversational answer that EXPLAINS the cause and quotes the trace  ·  data-only mode — raw facts when the model is down (still correct, just terse)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114800"/>
            <a:ext cx="219456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07822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Out-of-scope questions are refused BEFORE the model; answers come only from gathered context — “not in the data” beats invention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498848"/>
            <a:ext cx="219456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462272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Arabic works: «لماذا فشل الدفع» routes like English  ·  the header honestly shows “Data-only mode” if the LLM is unreachable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882896"/>
            <a:ext cx="219456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4846320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Settings → Yusr: kill-switch, usage KPIs, latency split, helpful-rate — L2 can audit the copilot like any other component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YUSR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It learns from YOUR thumbs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The model's weights never change — the team's knowledge grows around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29260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25856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Agent rates 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23744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on a correct answer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965960"/>
            <a:ext cx="32918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258568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Case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523744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PII-SCRUBBED problem →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resolution saved (dedup +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upvotes rank retrieval)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65960"/>
            <a:ext cx="35661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25856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Aptos"/>
              </a:rPr>
              <a:t>Next similar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“we solved a similar case: …”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— your own proven practice,</a:t>
            </a: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64748B"/>
                </a:solidFill>
                <a:latin typeface="Aptos"/>
              </a:rPr>
              <a:t>cited back to you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47872" y="2514600"/>
            <a:ext cx="512064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61504" y="2514600"/>
            <a:ext cx="530352" cy="0"/>
          </a:xfrm>
          <a:prstGeom prst="line">
            <a:avLst/>
          </a:prstGeom>
          <a:ln w="2032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6928" y="3520440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RULES OF ENGAGEMENT FOR L1 &amp; L2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867912"/>
            <a:ext cx="219456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831336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👍 is a real action — it teaches Yusr for the whole team. Rate only genuinely correct answers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51960"/>
            <a:ext cx="219456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215384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👎 feeds the helpful-rate KPI so we see WHICH intents need better runbooks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636008"/>
            <a:ext cx="219456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599432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Numbers are scrubbed before storage (05812… → 0581******) — case memory holds patterns, not people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20056"/>
            <a:ext cx="219456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3970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983480"/>
            <a:ext cx="106984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F172A"/>
                </a:solidFill>
                <a:latin typeface="Aptos"/>
              </a:rPr>
              <a:t>A month of honest ratings = the dataset for a real fine-tune later. Today: retrieval. Tomorrow: weights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76072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5760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LIVE DEMO: ask Yusr about yesterday's Case-5 customer → watch it cite the failures; rate it; ask again and see the case memory.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371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8A47"/>
                </a:solidFill>
                <a:latin typeface="Aptos"/>
              </a:rPr>
              <a:t>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7373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Aptos"/>
              </a:rPr>
              <a:t>Know the map — topology &amp; journeys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697480"/>
            <a:ext cx="100584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2E8F0"/>
                </a:solidFill>
                <a:latin typeface="Aptos"/>
              </a:rPr>
              <a:t>When something breaks at 3am, these pages tell you WHERE before you ask WHY.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65760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377647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7647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Topology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20624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32511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32511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API Gateway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75488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7375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87375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24 journeys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30352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42239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42239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32 integrations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Four pages, one habit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Each answers a different “where”. Open them before you open a ticket.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74519"/>
            <a:ext cx="11064240" cy="31089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9384"/>
            <a:ext cx="17556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F172A"/>
                </a:solidFill>
                <a:latin typeface="Aptos"/>
              </a:rPr>
              <a:t>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929384"/>
            <a:ext cx="4773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F172A"/>
                </a:solidFill>
                <a:latin typeface="Aptos"/>
              </a:rPr>
              <a:t>Question it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929384"/>
            <a:ext cx="40416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F172A"/>
                </a:solidFill>
                <a:latin typeface="Aptos"/>
              </a:rPr>
              <a:t>What L2 should verify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79"/>
            <a:ext cx="17556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Topology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240279"/>
            <a:ext cx="4773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How do DMS / BSS / OSB / gov providers connect?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240279"/>
            <a:ext cx="40416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Are the components &amp; links still accurate after R7.2?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496312"/>
            <a:ext cx="11064240" cy="310896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51176"/>
            <a:ext cx="17556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API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551176"/>
            <a:ext cx="4773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Are the GW nodes reachable RIGHT NOW? (live 30s probe)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551176"/>
            <a:ext cx="40416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Probe targets match the real infra IPs (172.31.43.9/.10)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862072"/>
            <a:ext cx="17556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Journeys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2862072"/>
            <a:ext cx="4773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What are the 24 customer journeys, step by step, with APIs &amp; tables?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862072"/>
            <a:ext cx="40416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Do the steps match today's production behaviour?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118104"/>
            <a:ext cx="11064240" cy="310896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172968"/>
            <a:ext cx="17556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Integrations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3172968"/>
            <a:ext cx="4773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All 32 external systems, direction, workers, webhooks — from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172968"/>
            <a:ext cx="40416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Aptos"/>
              </a:rPr>
              <a:t>Anything retired / added? (This catalog also feeds Yusr)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204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4892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LIVE: Topology → follow one MNP order across the map · APIGW → watch a probe tick · Journeys → open journey #7 (Apollo) — the shop-pickup flag from Case 4 lives here.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48640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5486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These are the ONLY pages that document the platform from the platform. If they drift from reality, file it in the review log.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371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8A47"/>
                </a:solidFill>
                <a:latin typeface="Aptos"/>
              </a:rPr>
              <a:t>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7373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Aptos"/>
              </a:rPr>
              <a:t>FINAL QUIZ — the whole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697480"/>
            <a:ext cx="100584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2E8F0"/>
                </a:solidFill>
                <a:latin typeface="Aptos"/>
              </a:rPr>
              <a:t>Eight questions covering both sessions. Individually, on paper or phone. Winner gets bragging rights on the certificate.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65760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377647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7647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Data truth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20624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32511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32511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Alerts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75488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87375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87375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Troubleshooting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303520"/>
            <a:ext cx="10515600" cy="457200"/>
          </a:xfrm>
          <a:prstGeom prst="roundRect">
            <a:avLst>
              <a:gd name="adj" fmla="val 6000"/>
            </a:avLst>
          </a:prstGeom>
          <a:solidFill>
            <a:srgbClr val="151721"/>
          </a:solidFill>
          <a:ln w="9525">
            <a:solidFill>
              <a:srgbClr val="27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42239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8A47"/>
                </a:solidFill>
                <a:latin typeface="Aptos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422392"/>
            <a:ext cx="9326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2E8F0"/>
                </a:solidFill>
                <a:latin typeface="Aptos"/>
              </a:rPr>
              <a:t>Yusr &amp; map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BEAFE"/>
                </a:solidFill>
                <a:latin typeface="Aptos"/>
              </a:rPr>
              <a:t>QUIZ F1  ·  everyone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Flow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Aptos"/>
              </a:rPr>
              <a:t>A PAID physical reseller order requires courier delivery but has NO delivery_requests row after 30+ min. Which box owns it?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77440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505456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551176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5328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A — Not Assigned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35808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163824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09544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912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B — Shop pickup (reseller)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94176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3822191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867912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8496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C — Courier not created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52544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4480559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526280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5079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D — Partner-fulfilled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77440"/>
            <a:ext cx="5349240" cy="5486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8A47"/>
                </a:solidFill>
                <a:latin typeface="Aptos"/>
              </a:rPr>
              <a:t>✓  ANSWER: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108960"/>
            <a:ext cx="5349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4748B"/>
                </a:solidFill>
                <a:latin typeface="Aptos"/>
              </a:rPr>
              <a:t>WHY IT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364992"/>
            <a:ext cx="5349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Courier not created = paid + courier required (flag ≠ false) + no delivery row — the real dispatch backlog, with its own P1/P2 alert.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937760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3" y="5084064"/>
            <a:ext cx="4873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REMEMBER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3" y="5358384"/>
            <a:ext cx="48737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D was retired this week — “partners ship their own SIMs” turned out to be false; they use oto/tam like everyone.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BEAFE"/>
                </a:solidFill>
                <a:latin typeface="Aptos"/>
              </a:rPr>
              <a:t>QUIZ F2  ·  everyone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Reseller flag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Aptos"/>
              </a:rPr>
              <a:t>apollo_require_delivery = false on a tygo order means…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77440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505456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551176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5328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A — Courier delivery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35808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163824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09544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912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B — Delivery skipped — customer collects the SIM in the shop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94176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3822191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867912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8496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C — The order is not eligible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52544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4480559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526280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5079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D — eSIM only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77440"/>
            <a:ext cx="5349240" cy="5486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8A47"/>
                </a:solidFill>
                <a:latin typeface="Aptos"/>
              </a:rPr>
              <a:t>✓  ANSWER: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108960"/>
            <a:ext cx="5349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4748B"/>
                </a:solidFill>
                <a:latin typeface="Aptos"/>
              </a:rPr>
              <a:t>WHY IT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364992"/>
            <a:ext cx="5349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commit_worker skips delivery creation ONLY when the flag is false — that IS the shop-pickup case. Default/absent = couriered.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937760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3" y="5084064"/>
            <a:ext cx="4873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REMEMBER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3" y="5358384"/>
            <a:ext cx="48737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0F172A"/>
                </a:solidFill>
                <a:latin typeface="Aptos"/>
              </a:rPr>
              <a:t>We proved this from the code and the live data after believing the opposite. The code is the ground truth.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BEAFE"/>
                </a:solidFill>
                <a:latin typeface="Aptos"/>
              </a:rPr>
              <a:t>QUIZ F3  ·  everyone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Payments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Aptos"/>
              </a:rPr>
              <a:t>Pending payment, NO gateway commit response, 2 hours old. What is it?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77440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505456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551176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5328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A — Stuck payment — page L2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35808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163824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09544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912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B — Duplicate suspect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94176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3822191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867912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8496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C — Abandoned checkout — normal, no 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52544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4480559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526280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5079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D — A ZATCA reporting failure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77440"/>
            <a:ext cx="5349240" cy="5486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8A47"/>
                </a:solidFill>
                <a:latin typeface="Aptos"/>
              </a:rPr>
              <a:t>✓  ANSWER: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108960"/>
            <a:ext cx="5349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4748B"/>
                </a:solidFill>
                <a:latin typeface="Aptos"/>
              </a:rPr>
              <a:t>WHY IT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364992"/>
            <a:ext cx="5349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No commit response = the gateway never charged — the customer walked away. STUCK requires the commit response to be present.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BEAFE"/>
                </a:solidFill>
                <a:latin typeface="Aptos"/>
              </a:rPr>
              <a:t>QUIZ F4  ·  everyone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BSS 1500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Aptos"/>
              </a:rPr>
              <a:t>Where do OSB READ-path faults (get-subscription-profile) live?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77440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505456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551176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5328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A — activation_logs on the replica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35808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163824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09544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912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B — dms_audit_logs.uil_logs — a separate MySQL, polled by the OSB watcher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94176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3822191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867912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8496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C — payments.extra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52544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4480559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526280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5079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D — They are not recorded anywhere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77440"/>
            <a:ext cx="5349240" cy="5486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8A47"/>
                </a:solidFill>
                <a:latin typeface="Aptos"/>
              </a:rPr>
              <a:t>✓  ANSWER: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108960"/>
            <a:ext cx="5349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4748B"/>
                </a:solidFill>
                <a:latin typeface="Aptos"/>
              </a:rPr>
              <a:t>WHY IT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364992"/>
            <a:ext cx="5349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That blindness was the INC0016809 lesson: write path in the replica, read path in uil_logs — the watcher closed the gap.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BEAFE"/>
                </a:solidFill>
                <a:latin typeface="Aptos"/>
              </a:rPr>
              <a:t>QUIZ F5  ·  everyone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Semati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Aptos"/>
              </a:rPr>
              <a:t>Semati returns 715 “Service not available” on 60% of calls for 20 minutes. Which layer is failing?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77440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505456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551176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5328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A — Transport / TLS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35808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163824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09544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912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B — The provider APP — up but refusing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94176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3822191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867912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8496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C — Our replica sync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52544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4480559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526280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5079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D — The API gateway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77440"/>
            <a:ext cx="5349240" cy="5486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8A47"/>
                </a:solidFill>
                <a:latin typeface="Aptos"/>
              </a:rPr>
              <a:t>✓  ANSWER: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108960"/>
            <a:ext cx="5349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4748B"/>
                </a:solidFill>
                <a:latin typeface="Aptos"/>
              </a:rPr>
              <a:t>WHY IT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364992"/>
            <a:ext cx="5349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715 = application-layer refusal (P1 rule). 5002/408/SSL resets = transport layer. Different layers, different runbooks.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BEAFE"/>
                </a:solidFill>
                <a:latin typeface="Aptos"/>
              </a:rPr>
              <a:t>QUIZ F6  ·  everyone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Yusr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Aptos"/>
              </a:rPr>
              <a:t>Yusr's header says “Data-only mode · LLM offline”. What are you getting?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77440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505456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551176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5328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A — Nothing — the bot is 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35808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163824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09544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912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B — Cached answers from yesterday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94176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3822191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867912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8496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C — Correct raw data (profile, failures, tickets, alerts) without AI reasoning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52544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4480559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526280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5079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D — Answers from the cloud fallback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77440"/>
            <a:ext cx="5349240" cy="5486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8A47"/>
                </a:solidFill>
                <a:latin typeface="Aptos"/>
              </a:rPr>
              <a:t>✓  ANSWER: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108960"/>
            <a:ext cx="5349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4748B"/>
                </a:solidFill>
                <a:latin typeface="Aptos"/>
              </a:rPr>
              <a:t>WHY IT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364992"/>
            <a:ext cx="5349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The console's gathering pipeline still runs — only the reasoning layer is missing. There is NO cloud fallback, by design.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BEAFE"/>
                </a:solidFill>
                <a:latin typeface="Aptos"/>
              </a:rPr>
              <a:t>QUIZ F7  ·  everyone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PII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Aptos"/>
              </a:rPr>
              <a:t>Which statement about Yusr's case memory is TRUE?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77440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505456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551176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5328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A — It stores full questions including MSISDNs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35808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163824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09544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912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B — Identifiers are scrubbed before storage (0581****** / 2*********)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94176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3822191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867912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8496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C — Only super_admin answers are saved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52544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4480559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526280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5079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D — It uploads cases to Ollama.com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77440"/>
            <a:ext cx="5349240" cy="5486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8A47"/>
                </a:solidFill>
                <a:latin typeface="Aptos"/>
              </a:rPr>
              <a:t>✓  ANSWER: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108960"/>
            <a:ext cx="5349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4748B"/>
                </a:solidFill>
                <a:latin typeface="Aptos"/>
              </a:rPr>
              <a:t>WHY IT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364992"/>
            <a:ext cx="5349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Case memory keeps problem PATTERNS, not people. Scrubbing is tested — no MSISDN/NID survives into storage.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BEAFE"/>
                </a:solidFill>
                <a:latin typeface="Aptos"/>
              </a:rPr>
              <a:t>QUIZ F8  ·  everyone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172A"/>
                </a:solidFill>
                <a:latin typeface="Aptos"/>
              </a:rPr>
              <a:t>A dashboard number looks impossible. Session-approved FIRST move?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77440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505456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551176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5328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A — Screenshot it to the group chat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35808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163824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09544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912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B — Assume the console is broken and use Grafana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94176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3822191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867912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8496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C — Drill into it, then verify the raw truth with sql.cjs on the replica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52544"/>
            <a:ext cx="5394960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4480559"/>
            <a:ext cx="292608" cy="292608"/>
          </a:xfrm>
          <a:prstGeom prst="ellipse">
            <a:avLst/>
          </a:prstGeom>
          <a:solidFill>
            <a:srgbClr val="EFF6FF"/>
          </a:solidFill>
          <a:ln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526280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1D4ED8"/>
                </a:solidFill>
                <a:latin typeface="Aptos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5079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Aptos"/>
              </a:rPr>
              <a:t>D — Restart the console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77440"/>
            <a:ext cx="5349240" cy="5486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9525">
            <a:solidFill>
              <a:srgbClr val="008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8A47"/>
                </a:solidFill>
                <a:latin typeface="Aptos"/>
              </a:rPr>
              <a:t>✓  ANSWER: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108960"/>
            <a:ext cx="5349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64748B"/>
                </a:solidFill>
                <a:latin typeface="Aptos"/>
              </a:rPr>
              <a:t>WHY IT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364992"/>
            <a:ext cx="5349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4155"/>
                </a:solidFill>
                <a:latin typeface="Aptos"/>
              </a:rPr>
              <a:t>Trust, but verify — every number in the console is drillable, and the replica is one read-only query away. That habit found every bug this week.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08A47"/>
                </a:solidFill>
                <a:latin typeface="Aptos"/>
              </a:rPr>
              <a:t>SIGN-OFF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F172A"/>
                </a:solidFill>
                <a:latin typeface="Aptos"/>
              </a:rPr>
              <a:t>The three verdicts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640080" cy="32004"/>
          </a:xfrm>
          <a:prstGeom prst="rect">
            <a:avLst/>
          </a:prstGeom>
          <a:solidFill>
            <a:srgbClr val="008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Aptos"/>
              </a:rPr>
              <a:t>This is what the whole series was for. Your names go on these.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01952"/>
            <a:ext cx="53876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45309"/>
                </a:solidFill>
                <a:latin typeface="Aptos"/>
              </a:rPr>
              <a:t>VERDICT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12264"/>
            <a:ext cx="5387644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F172A"/>
                </a:solidFill>
                <a:latin typeface="Aptos"/>
              </a:rPr>
              <a:t>Is the DATA true? (sync, KPIs, order tree, funnel — after this week's fixes)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0332" y="2199132"/>
            <a:ext cx="1599590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5196" y="2199132"/>
            <a:ext cx="148986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45309"/>
                </a:solidFill>
                <a:latin typeface="Aptos"/>
              </a:rPr>
              <a:t>Sign 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7939" y="2199132"/>
            <a:ext cx="1599590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2803" y="2199132"/>
            <a:ext cx="148986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45309"/>
                </a:solidFill>
                <a:latin typeface="Aptos"/>
              </a:rPr>
              <a:t>Sign off with exceptions (log them)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75545" y="2199132"/>
            <a:ext cx="1599590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30409" y="2199132"/>
            <a:ext cx="148986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45309"/>
                </a:solidFill>
                <a:latin typeface="Aptos"/>
              </a:rPr>
              <a:t>Not yet — blockers listed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15468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73552"/>
            <a:ext cx="53876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45309"/>
                </a:solidFill>
                <a:latin typeface="Aptos"/>
              </a:rPr>
              <a:t>VERDICT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83864"/>
            <a:ext cx="5387644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F172A"/>
                </a:solidFill>
                <a:latin typeface="Aptos"/>
              </a:rPr>
              <a:t>Are the ALERTS right? (43 rules, thresholds, escalation &amp; notification routing)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0332" y="3570732"/>
            <a:ext cx="1599590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5196" y="3570732"/>
            <a:ext cx="148986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45309"/>
                </a:solidFill>
                <a:latin typeface="Aptos"/>
              </a:rPr>
              <a:t>Sign off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7939" y="3570732"/>
            <a:ext cx="1599590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2803" y="3570732"/>
            <a:ext cx="148986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45309"/>
                </a:solidFill>
                <a:latin typeface="Aptos"/>
              </a:rPr>
              <a:t>Sign off with threshold changes (name them)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75545" y="3570732"/>
            <a:ext cx="1599590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30409" y="3570732"/>
            <a:ext cx="148986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45309"/>
                </a:solidFill>
                <a:latin typeface="Aptos"/>
              </a:rPr>
              <a:t>Not yet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52628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645152"/>
            <a:ext cx="53876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45309"/>
                </a:solidFill>
                <a:latin typeface="Aptos"/>
              </a:rPr>
              <a:t>VERDICT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855464"/>
            <a:ext cx="5387644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F172A"/>
                </a:solidFill>
                <a:latin typeface="Aptos"/>
              </a:rPr>
              <a:t>Is it USEFUL? (would you open the console FIRST in the next incident?)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0332" y="4942332"/>
            <a:ext cx="1599590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5196" y="4942332"/>
            <a:ext cx="148986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45309"/>
                </a:solidFill>
                <a:latin typeface="Aptos"/>
              </a:rPr>
              <a:t>Yes — it's the first tab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7939" y="4942332"/>
            <a:ext cx="1599590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02803" y="4942332"/>
            <a:ext cx="148986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45309"/>
                </a:solidFill>
                <a:latin typeface="Aptos"/>
              </a:rPr>
              <a:t>Yes, alongside existing tools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75545" y="4942332"/>
            <a:ext cx="1599590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30409" y="4942332"/>
            <a:ext cx="148986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45309"/>
                </a:solidFill>
                <a:latin typeface="Aptos"/>
              </a:rPr>
              <a:t>Not yet — say what's missing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9202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08A47"/>
                </a:solidFill>
                <a:latin typeface="Aptos"/>
              </a:rPr>
              <a:t>L2 REVIEW SERIES —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Aptos"/>
              </a:rPr>
              <a:t>شكراً — this console is better because you pushed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916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50" b="0" i="0">
                <a:solidFill>
                  <a:srgbClr val="E2E8F0"/>
                </a:solidFill>
                <a:latin typeface="Aptos"/>
              </a:rPr>
              <a:t>Changed BY this review: the No-payment box · Shop-pickup &amp; Courier-not-created split · plan filter</a:t>
            </a:r>
          </a:p>
          <a:p>
            <a:pPr algn="ctr">
              <a:lnSpc>
                <a:spcPct val="135000"/>
              </a:lnSpc>
            </a:pPr>
            <a:r>
              <a:rPr sz="1250" b="0" i="0">
                <a:solidFill>
                  <a:srgbClr val="E2E8F0"/>
                </a:solidFill>
                <a:latin typeface="Aptos"/>
              </a:rPr>
              <a:t>· customer Find in the tree · order IDs in drill-downs · Yusr scope &amp; Arabic fixes · the partition proof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0624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94A3B8"/>
                </a:solidFill>
                <a:latin typeface="Aptos"/>
              </a:rPr>
              <a:t>Keep going: log findings in the L2 Review Log · rate Yusr honestly · challenge every number.</a:t>
            </a:r>
          </a:p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94A3B8"/>
                </a:solidFill>
                <a:latin typeface="Aptos"/>
              </a:rPr>
              <a:t>Certificates follow attendance — details in 06-TEAMS-AND-CERTIFICATES.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