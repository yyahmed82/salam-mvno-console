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48840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8A47"/>
                </a:solidFill>
                <a:latin typeface="Aptos"/>
              </a:rPr>
              <a:t>TECHNICAL WORKSHOP  ·  3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87168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ptos"/>
              </a:rPr>
              <a:t>Salam Digital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456432"/>
            <a:ext cx="141732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70332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2E8F0"/>
                </a:solidFill>
                <a:latin typeface="Aptos"/>
              </a:rPr>
              <a:t>Operate it. Troubleshoot with it. Tune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2452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Aptos"/>
              </a:rPr>
              <a:t>Hands-on  ·  bring your laptop  ·  we use live production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4892040"/>
            <a:ext cx="2788920" cy="914400"/>
          </a:xfrm>
          <a:prstGeom prst="roundRect">
            <a:avLst>
              <a:gd name="adj" fmla="val 4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47672" y="50749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7672" y="53309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2E8F0"/>
                </a:solidFill>
                <a:latin typeface="Aptos"/>
              </a:rPr>
              <a:t>Foundations &amp;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4892040"/>
            <a:ext cx="2788920" cy="914400"/>
          </a:xfrm>
          <a:prstGeom prst="roundRect">
            <a:avLst>
              <a:gd name="adj" fmla="val 4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2" y="50749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6632" y="53309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2E8F0"/>
                </a:solidFill>
                <a:latin typeface="Aptos"/>
              </a:rPr>
              <a:t>Troubleshooting &amp; incidents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4892040"/>
            <a:ext cx="2788920" cy="914400"/>
          </a:xfrm>
          <a:prstGeom prst="roundRect">
            <a:avLst>
              <a:gd name="adj" fmla="val 4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50749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53309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2E8F0"/>
                </a:solidFill>
                <a:latin typeface="Aptos"/>
              </a:rPr>
              <a:t>Analytics, tuning &amp;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HOW THIS WORKSHOP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Nobody watches. Everybody clicks.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Every module is the same shape: 10 minutes of demo, 15 minutes where you do it, 5 minutes debrief.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7680960" cy="38404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67127"/>
            <a:ext cx="11887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6544" y="2167127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4" y="2167127"/>
            <a:ext cx="3749039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You will…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551175"/>
            <a:ext cx="11887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4" y="2551175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I drive, you 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551175"/>
            <a:ext cx="3749039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See the screen and the reasoning behind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71215"/>
            <a:ext cx="7680960" cy="384048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935223"/>
            <a:ext cx="11887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6544" y="2935223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You drive, I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935223"/>
            <a:ext cx="3749039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Do it on your own laptop, on live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319271"/>
            <a:ext cx="11887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4" y="3319271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Role-play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3319271"/>
            <a:ext cx="3749039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Handle a realistic customer or incident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39311"/>
            <a:ext cx="7680960" cy="384048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703320"/>
            <a:ext cx="11887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Quiz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6544" y="3703320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Open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703320"/>
            <a:ext cx="3749039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Check understanding — we discuss every answer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2103120"/>
            <a:ext cx="3154680" cy="192024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95944" y="2267712"/>
            <a:ext cx="2679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D4ED8"/>
                </a:solidFill>
                <a:latin typeface="Aptos"/>
              </a:rPr>
              <a:t>GROUND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5944" y="2560320"/>
            <a:ext cx="2679192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Interrupt me any time.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Real customer data — nothing leaves this room.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You cannot break production.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4160520"/>
            <a:ext cx="3154680" cy="146304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5944" y="4325112"/>
            <a:ext cx="2679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Aptos"/>
              </a:rPr>
              <a:t>IF YOUR SCREEN DIFFERS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5944" y="4617720"/>
            <a:ext cx="267919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Say so immediately. It's usually your role — and that's a lesson, not a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A47"/>
                </a:solidFill>
                <a:latin typeface="Aptos"/>
              </a:rPr>
              <a:t>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Aptos"/>
              </a:rPr>
              <a:t>Foundations &amp;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42900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703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2E8F0"/>
                </a:solidFill>
                <a:latin typeface="Aptos"/>
              </a:rPr>
              <a:t>Why this exists · architecture · sign-in · roles · the daily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3434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Aptos"/>
              </a:rPr>
              <a:t>2h 45m  ·  everyone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Four blind spots that cost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Every one of these was real. Every one looked fine on a dashboard at the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5740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951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F172A"/>
                </a:solidFill>
                <a:latin typeface="Aptos"/>
              </a:rPr>
              <a:t>A gateway died behind failover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60904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UPG stopped taking payments. Traffic failed over to HyperPay, so the blended success rate stayed green. Noticed 34 minutes later — by a customer.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205740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2951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F172A"/>
                </a:solidFill>
                <a:latin typeface="Aptos"/>
              </a:rPr>
              <a:t>Charged, but never activated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60904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The gateway captured the money; the confirmation never arrived. Counted as neither success nor failure — invisible.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3192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1696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F172A"/>
                </a:solidFill>
                <a:latin typeface="Aptos"/>
              </a:rPr>
              <a:t>The same customer charged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535424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One order, two captures. Only provable by reconciling with the gateway.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93192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416966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F172A"/>
                </a:solidFill>
                <a:latin typeface="Aptos"/>
              </a:rPr>
              <a:t>A provider that flaps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535424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Semati fails ~55% on a normal day. A flat threshold either screams constantly or never fires.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8A47"/>
                </a:solidFill>
                <a:latin typeface="Aptos"/>
              </a:rPr>
              <a:t>Ask yourself: how long would each of these take to explain today, without the console?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Architecture — where the numbers come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Three facts that explain almost every question you'll have about the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675120" cy="2514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30552"/>
            <a:ext cx="6272783" cy="2185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prod  (172.31.43.123)          ← the real system. We NEVER write here.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  │   read-only · incremental · every 5 min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  ▼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salam_replica (172.31.15.121)  ← everything you SEE is queried from here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mvno_console  (172.31.15.121)  ← rules · alerts · users · audit log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  │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E2E8F0"/>
                </a:solidFill>
                <a:latin typeface="Consolas"/>
              </a:rPr>
              <a:t>console app (152:4600, PM2) → nginx (115) → salam.sa/digital-console/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965960"/>
            <a:ext cx="4114800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20939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A47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209397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Aptos"/>
              </a:rPr>
              <a:t>Read-only by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2368296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Aptos"/>
              </a:rPr>
              <a:t>The prod connection is forced read-only at the database level. The console observes; humans 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926080"/>
            <a:ext cx="4114800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30540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A47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305409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Aptos"/>
              </a:rPr>
              <a:t>~5 minutes is 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3328416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Aptos"/>
              </a:rPr>
              <a:t>Not a fault. A cron watchdog measures the lag and only syncs when we're actually behind.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886200"/>
            <a:ext cx="4114800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40142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A47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4014215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Aptos"/>
              </a:rPr>
              <a:t>It tells you when it's blind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288536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Aptos"/>
              </a:rPr>
              <a:t>If the pipeline stalls, a banner says the figures are NOT live — stale data outranks every other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9160"/>
            <a:ext cx="6675120" cy="123444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873752"/>
            <a:ext cx="61996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WHY A REPLICA AT ALL?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166360"/>
            <a:ext cx="6199631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Dashboards and alert scans are heavy, repetitive queries. Running them against the database that serves customers is the load you least want. The replica absorbs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1FAE5"/>
                </a:solidFill>
                <a:latin typeface="Aptos"/>
              </a:rPr>
              <a:t>LAB 1.1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Everyone signs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Aptos"/>
              </a:rPr>
              <a:t>You are logged in, at the right role, and know what that role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1.  Open https://salam.sa/digital-console/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9776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2.  Enter your @salam.sa work email → Send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3.  Get the 6-digit code (inbox — check junk)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21024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4.  Enter it. You're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41648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5.  Look top-right: your name + role. Say your role out 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0312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226771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EXPECTED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56032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Your role label appears top-right and you can state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61188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264" y="377647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Aptos"/>
              </a:rPr>
              <a:t>IF IT GOES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406908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“No console account” = not created yet, tell me.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“Use a @salam.sa email” = personal address, by design.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Code expires in 10 min — just request another.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1.2B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Roles — least privilege, enforced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Your role decides which pages exist for you and what you can do on them. It is not a suggestion.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7589520" cy="38404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075688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0944" y="2075688"/>
            <a:ext cx="228600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Sees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9824" y="2075688"/>
            <a:ext cx="26517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Aptos"/>
              </a:rPr>
              <a:t>Can also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459736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Super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459736"/>
            <a:ext cx="228600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9824" y="2459736"/>
            <a:ext cx="26517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manage users · unmask PII · everything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79776"/>
            <a:ext cx="7589520" cy="384048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843784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L3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843784"/>
            <a:ext cx="228600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all except user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2843784"/>
            <a:ext cx="26517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edit rules · manage sync · unmask PII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227832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L2 Digital / L2 BSS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227832"/>
            <a:ext cx="228600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ops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227832"/>
            <a:ext cx="26517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edit rules · export · acknowledge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47872"/>
            <a:ext cx="7589520" cy="384048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611879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L1 Digital / L1 BSS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44" y="3611879"/>
            <a:ext cx="228600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ops pages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3611879"/>
            <a:ext cx="26517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export · acknowledge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995928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Report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0944" y="3995928"/>
            <a:ext cx="228600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analytics · SLA ·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3995928"/>
            <a:ext cx="26517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export only — no Troubleshoot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315968"/>
            <a:ext cx="7589520" cy="384048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379976"/>
            <a:ext cx="210312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Errors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4379976"/>
            <a:ext cx="228600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troubleshoot ·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9824" y="4379976"/>
            <a:ext cx="265176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edit rules · export · acknowledge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201168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4" y="2176272"/>
            <a:ext cx="2724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91C1C"/>
                </a:solidFill>
                <a:latin typeface="Aptos"/>
              </a:rPr>
              <a:t>THE PII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4" y="2468880"/>
            <a:ext cx="2724912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Only Super Admin and L3 Digital can unmask customer data — and every unmask is written to the audit log with your name on 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4023360"/>
            <a:ext cx="3200400" cy="15544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0224" y="4187952"/>
            <a:ext cx="2724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D4ED8"/>
                </a:solidFill>
                <a:latin typeface="Aptos"/>
              </a:rPr>
              <a:t>MULTI-ROLE 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4" y="4480560"/>
            <a:ext cx="272491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Get the union of views and the OR of capabilities, labelled by their highest role.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9834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A47"/>
                </a:solidFill>
                <a:latin typeface="Aptos"/>
              </a:rPr>
              <a:t>Try it now: compare your visible tabs with the person next to you. Different? That's the model working.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The Dashboard, field by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One screen that answers: is today normal — and if not, where?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8 KPI cards — each with a sparkline, a vs-previous delta and a sample size (n=)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95728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Colour is relative to the SLA target, not to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25496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8 journey-health tiles — the whole customer path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55263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NOC banner — plain-English headline of the worst thing happening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85031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Ranges: Today · Yesterday · 7d · 30d, plus intra-day (last 1/3/6/12/24h)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1480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Order status flow — 19 nodes, clickable down to the orders behind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74519"/>
            <a:ext cx="5257800" cy="3566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29184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CBD5E1"/>
                </a:solidFill>
                <a:latin typeface="Aptos"/>
              </a:rPr>
              <a:t>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61188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Aptos"/>
              </a:rPr>
              <a:t>d1-dashboard.png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950208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ptos"/>
              </a:rPr>
              <a:t>Dashboard · full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800600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965192"/>
            <a:ext cx="5102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Aptos"/>
              </a:rPr>
              <a:t>BEFORE YOU QUOTE ANY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257800"/>
            <a:ext cx="5102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Check for the staleness banner. If it's there, the figures are NOT live — say so before repeating them to a customer or a manager.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1FAE5"/>
                </a:solidFill>
                <a:latin typeface="Aptos"/>
              </a:rPr>
              <a:t>LAB 1.3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Read today's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Aptos"/>
              </a:rPr>
              <a:t>Answer “is today normal?” with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1.  Dashboard → range = Today. Note orders, payments OK, success %,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9776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2.  Switch to 7d, then 30d — which numbers move most? Why?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3.  Check the journey-health strip — anything amber or 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21024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4.  Look for a staleness banner — is there one?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41648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5.  Open the Order status flow. Find the biggest drop-off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0312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226771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EXPECTED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56032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You can say whether today is normal, and point at the number that proves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61188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264" y="377647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Aptos"/>
              </a:rPr>
              <a:t>IF IT GOES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406908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Small numbers at 09:00 are expected — “Today” is a short window, not a fault.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EAFE"/>
                </a:solidFill>
                <a:latin typeface="Aptos"/>
              </a:rPr>
              <a:t>QUIZ 1  ·  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1.  Where does the console read its data from?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3852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2.  How fresh is the data normally — and is that a fault?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0545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3.  Can the console change anything in production?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7238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4.  Who can unmask customer PII, and what happens when they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3931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5.  A red staleness banner appears. What do you do before quoting a number?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062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6.  A KPI is red. Does that mean the system is broken?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77316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7.  Why can't the Report Manager see the Troubleshoot tab?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ptos"/>
              </a:rPr>
              <a:t>Answer key in 04-QUIZZES.md  ·  discuss every answer — ask “why?”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A47"/>
                </a:solidFill>
                <a:latin typeface="Aptos"/>
              </a:rPr>
              <a:t>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Aptos"/>
              </a:rPr>
              <a:t>Troubleshooting &amp; Incidents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42900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703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2E8F0"/>
                </a:solidFill>
                <a:latin typeface="Aptos"/>
              </a:rPr>
              <a:t>From a customer complaint to a root cause — and running the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3434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Aptos"/>
              </a:rPr>
              <a:t>3h  ·  L1 + L2 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Troubleshoot — the Error Control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Live failures grouped by category and owner team. This is where an L1 spends most of their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Search by mobile · order id · ICCID · national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95728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10 categories, each tagged with the team that owns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25496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Code · message drill-down on 5 categories — the actual reason, not just “failed”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55263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Gateway chips: UPG · HyperPay · Tap · Samsung 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85031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Expand any row → the full end-to-end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1480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Export any view to CSV or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74519"/>
            <a:ext cx="5257800" cy="3566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29184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CBD5E1"/>
                </a:solidFill>
                <a:latin typeface="Aptos"/>
              </a:rPr>
              <a:t>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61188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Aptos"/>
              </a:rPr>
              <a:t>d2-troubleshoot.png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950208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ptos"/>
              </a:rPr>
              <a:t>Troubleshoot · Error Control 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800600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965192"/>
            <a:ext cx="5102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BUILT-IN REFERENCE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257800"/>
            <a:ext cx="5102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Payments, BSS/Semati codes and Nafath each have a reference card with customer-facing wording. You don't need a separate wiki.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2.2  ·  THE MOST IMPORTANT IDEA IN THIS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Failed vs Stuck vs Abandoned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Three payment states that look similar and mean completely different things.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91C1C"/>
                </a:solidFill>
                <a:latin typeface="Aptos"/>
              </a:rPr>
              <a:t>FAILED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status =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tos"/>
              </a:rPr>
              <a:t>The bank or gateway declined it. Nothing was taken.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31920"/>
            <a:ext cx="457200" cy="1828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Read the decline code → use the cheat-sheet wording. Customer can retry.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201168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128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5309"/>
                </a:solidFill>
                <a:latin typeface="Aptos"/>
              </a:rPr>
              <a:t>STUCK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4203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pending + commit response, &gt;30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260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tos"/>
              </a:rPr>
              <a:t>The gateway answered — money may have moved — but our system never confirmed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3931920"/>
            <a:ext cx="457200" cy="182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1148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ESCALATE to L2 with the payment_reference_id. Customer may be charged.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7" y="201168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22128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A47"/>
                </a:solidFill>
                <a:latin typeface="Aptos"/>
              </a:rPr>
              <a:t>ABANDONED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54203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pending, NO commit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29260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tos"/>
              </a:rPr>
              <a:t>The customer reached the payment page and never completed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9" y="3931920"/>
            <a:ext cx="457200" cy="18288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41148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Not an incident. Help them try again.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4068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605272"/>
            <a:ext cx="10588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WHY THIS MATTERS MORE THAN ANYTHING ELSE 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897880"/>
            <a:ext cx="10588752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Get this wrong and you either refund customers who never paid, or leave charged customers stranded. The console distinguishes them by one thing: did the gateway ever answer?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1FAE5"/>
                </a:solidFill>
                <a:latin typeface="Aptos"/>
              </a:rPr>
              <a:t>LAB 2.1  · 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Find the customer  (Scenario 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Aptos"/>
              </a:rPr>
              <a:t>Turn “I paid but nothing happened” into a factual answer and a sentence you'd actually say.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1.  Troubleshoot → search the number I give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9776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2.  Did a payment exist? What status?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3.  If failed — what's the decline code and message?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21024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4.  Where did the order stop: payment, activation, delivery?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41648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5.  Expand → read the timeline. Decide: failed, stuck or abandoned?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0312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226771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EXPECTED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56032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A verdict you can justify, plus the customer wording from the cheat-sheet.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61188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264" y="377647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Aptos"/>
              </a:rPr>
              <a:t>IF IT GOES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406908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“Not found” usually means no failures for that number (good news) — or try the last 9 digits.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Why a healthy average can hide a dead gateway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INC0014859, in one slide. This is the reasoning pattern, not just the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1C1C"/>
                </a:solidFill>
                <a:latin typeface="Aptos"/>
              </a:rPr>
              <a:t>WHAT THE DASHBOARD SHOWED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Payment success 84%  ✓ healthy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No alert firing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No customer complaints yet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…while UPG had taken zero payments for 34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49240" cy="219456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1945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8A47"/>
                </a:solidFill>
                <a:latin typeface="Apto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542032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Traffic auto-failed-over to HyperPay.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The successes were real — they just all came from a different gateway.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The blend hid the outage.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38912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553712"/>
            <a:ext cx="10588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THE FIX — AND THE HABIT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846320"/>
            <a:ext cx="10588752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Per-gateway zero-success watchdogs (UPG P1, HyperPay P2, Tap P2). The habit: whenever you see an average, ask “averaged over what?” — then split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A47"/>
                </a:solidFill>
                <a:latin typeface="Aptos"/>
              </a:rPr>
              <a:t>Try it now:  Troubleshoot → Payment → click through the gateway chips. Is one gateway worse than the others right now?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Alerts — 38 rules, 28 metrics, one golden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The console watches continuously so nobody has to stare at a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8A47"/>
                </a:solidFill>
                <a:latin typeface="Aptos"/>
              </a:rPr>
              <a:t>“An alert fires on CHANGE FROM NORMAL — not on the normal baseline.”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The steady state lives on the SLA page. The Alerts page is for things that just got worse.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175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Every rule has: a window, a minimum sample gate, a severity and a written runbook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747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Correlation: a provider outage pages ONCE as root cause, suppressing ~8 symptom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Metric charts show a seasonal expected band — what's normal for this hour of the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3891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Escalation ladder climbs until someone acknowledges (P1: 0 → 10 → 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971800"/>
            <a:ext cx="5257800" cy="26517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CBD5E1"/>
                </a:solidFill>
                <a:latin typeface="Aptos"/>
              </a:rPr>
              <a:t>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Aptos"/>
              </a:rPr>
              <a:t>d2-alerts.png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90288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ptos"/>
              </a:rPr>
              <a:t>Alerts · open alerts / metric charts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29200"/>
            <a:ext cx="5577840" cy="9601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193792"/>
            <a:ext cx="5102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D4ED8"/>
                </a:solidFill>
                <a:latin typeface="Aptos"/>
              </a:rPr>
              <a:t>ACKNOWLEDGING IS NOT PAPERWORK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486400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Ack stops the ladder climbing. It's how you stop your manager's phone ringing.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1FAE5"/>
                </a:solidFill>
                <a:latin typeface="Aptos"/>
              </a:rPr>
              <a:t>LAB 2.3  · 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Run an incident  (Scenario 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Aptos"/>
              </a:rPr>
              <a:t>Practise the response, not just the observation. Roles: L1 responder · L2 · manager.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1.  Open the incident. Read headline + severity aloud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9776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2.  Read the runbook attached to it. Do 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3.  Acknowledge — and say why that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21024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4.  State the blast radius: what else is affected?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41648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5.  Hand over to L2: what, since when, what you checked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462272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6.  L2: check correlation (root or symptom?) and related tickets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10312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226771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256032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A handover naming the rule, the numbers and what was already checked — not “payments are broken”.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61188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377647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Aptos"/>
              </a:rPr>
              <a:t>IF IT GOES WRONG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406908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If nothing is open right now, use Alerts → History and replay a past incident.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EAFE"/>
                </a:solidFill>
                <a:latin typeface="Aptos"/>
              </a:rPr>
              <a:t>QUIZ 2  ·  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Troubleshooting &amp;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1.  A payment is pending 45 min WITH a commit response. What is it, and what do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3852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2.  Same, but with NO commit response. What is it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0545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3.  Why does the duplicate tile say “suspected” rather than “confirmed”?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7238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4.  Blended success is 84% and looks fine. How can a gateway still be dead?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3931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5.  Semati fails ~55% on a normal day. When should an alert fire?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062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6.  What does acknowledging an incident actually 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77316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7.  Which is an incident rather than a customer case?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ptos"/>
              </a:rPr>
              <a:t>Answer key in 04-QUIZZES.md  ·  discuss every answer — ask “why?”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A47"/>
                </a:solidFill>
                <a:latin typeface="Aptos"/>
              </a:rPr>
              <a:t>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Aptos"/>
              </a:rPr>
              <a:t>Analytics, Tuning &amp;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42900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703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2E8F0"/>
                </a:solidFill>
                <a:latin typeface="Aptos"/>
              </a:rPr>
              <a:t>Build your own views · tune alerting safely · understand what's underneath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3434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4A3B8"/>
                </a:solidFill>
                <a:latin typeface="Aptos"/>
              </a:rPr>
              <a:t>2h 45m  ·  L2 + L3 + ops leads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Analytics — 14 dashboards, 79 panels, or build your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A charting workspace over live data. No BI ticket, no waiting.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14 preset dashboards across 7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04872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7 visualisation types: line · bar · stat · table · pie · donut ·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43784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7 datasets: payments · onboarding · activation · nafath · delivery · change_plan · checkouts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82696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Build: dataset → metric → viz → time bucket → group by → 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21608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Aptos"/>
              </a:rPr>
              <a:t>—  Save to a personal or shared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74519"/>
            <a:ext cx="5257800" cy="3566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29184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CBD5E1"/>
                </a:solidFill>
                <a:latin typeface="Aptos"/>
              </a:rPr>
              <a:t>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1188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Aptos"/>
              </a:rPr>
              <a:t>d3-analytics.png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50208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ptos"/>
              </a:rPr>
              <a:t>Analytics · a preset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34840"/>
            <a:ext cx="5577840" cy="146304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599431"/>
            <a:ext cx="5102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Aptos"/>
              </a:rPr>
              <a:t>COMMON MISTAKES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892040"/>
            <a:ext cx="510235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Grouping by a field with hundreds of values (unreadable) · a window so short there's no data · using a rate when you wanted a count.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Attribution — how a number can be confidently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A true story from this console, and the reason you should always ask where a number comes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1C1C"/>
                </a:solidFill>
                <a:latin typeface="Aptos"/>
              </a:rPr>
              <a:t>WHAT WE 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A reseller channel showed 311 orders.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It hadn't launched yet.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The real number was 65 — and they were test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1945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8A47"/>
                </a:solidFill>
                <a:latin typeface="Apto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542032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We counted via plan_channels — a CONFIG table meaning “which channels MAY sell this plan”.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Aptos"/>
              </a:rPr>
              <a:t>A plan enabled on 5 channels made 1 order count 5 times.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48056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645152"/>
            <a:ext cx="10588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THE RULE THAT PREVENTS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937760"/>
            <a:ext cx="10588752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Attribute from the fact recorded on the row itself (the order's own origin), never from a configuration table. “May sell” is not “did sell”.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23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A47"/>
                </a:solidFill>
                <a:latin typeface="Aptos"/>
              </a:rPr>
              <a:t>Habit to build: when a number surprises you, ask “what exactly was counted, and joined to what?”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Tuning a rule without crying wolf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An alert nobody trusts is worse than no alert. Here's the discipline.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539496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A4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F172A"/>
                </a:solidFill>
                <a:latin typeface="Aptos"/>
              </a:rPr>
              <a:t>Look at the chart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Open the metric chart. What IS normal for this hour of the week? Read the seasonal band.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965960"/>
            <a:ext cx="539496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A4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488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F172A"/>
                </a:solidFill>
                <a:latin typeface="Aptos"/>
              </a:rPr>
              <a:t>Set above the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Not above zero. The threshold should sit above normal variation, not above nothing.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64408"/>
            <a:ext cx="539496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4728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A47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4728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F172A"/>
                </a:solidFill>
                <a:latin typeface="Aptos"/>
              </a:rPr>
              <a:t>Gate the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6732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min_sample stops a quiet 04:00 hour from firing on three events.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264408"/>
            <a:ext cx="539496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4728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A47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4728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F172A"/>
                </a:solidFill>
                <a:latin typeface="Aptos"/>
              </a:rPr>
              <a:t>Test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6732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Evaluates against live data without saving. It should NOT fire on a healthy 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62856"/>
            <a:ext cx="539496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457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A47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4573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F172A"/>
                </a:solidFill>
                <a:latin typeface="Aptos"/>
              </a:rPr>
              <a:t>Save, then watch 24h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65776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Trust it only after it has survived a full daily cycle.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562856"/>
            <a:ext cx="539496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7457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A47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4573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F172A"/>
                </a:solidFill>
                <a:latin typeface="Aptos"/>
              </a:rPr>
              <a:t>If it cried wolf — raise the 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065776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Never delete the rule. A deleted rule is a blind spot with no record.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943600"/>
            <a:ext cx="11064240" cy="685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6108192"/>
            <a:ext cx="10588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91C1C"/>
                </a:solidFill>
                <a:latin typeface="Aptos"/>
              </a:rPr>
              <a:t>THE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6400800"/>
            <a:ext cx="10588752" cy="64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If you can't say what the rule would STILL catch after your change, you've broken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1FAE5"/>
                </a:solidFill>
                <a:latin typeface="Aptos"/>
              </a:rPr>
              <a:t>LAB 3.3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Tune a rule  (Scenario 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Aptos"/>
              </a:rPr>
              <a:t>Make a noisy rule trustworthy again — without losing coverage.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1.  Alerts → Metric charts → find the metric. Study the seasonal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9776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2.  Alerts → Alert rules → open the nominated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3.  Change ONE thing: threshold, window, min-sample or active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21024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4.  Test now — it must NOT fire against healthy live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41648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5.  Save with a comment: what you changed and 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462272"/>
            <a:ext cx="5577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Aptos"/>
              </a:rPr>
              <a:t>6.  Tell the room what it will still catch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10312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226771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256032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A safer rule you can justify, with coverage intact.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61188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3776472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Aptos"/>
              </a:rPr>
              <a:t>IF IT GOES WRONG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4069080"/>
            <a:ext cx="46908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0F172A"/>
                </a:solidFill>
                <a:latin typeface="Aptos"/>
              </a:rPr>
              <a:t>Changing two things at once means you won't know which one worked. One change at a 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MODULE 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What's underneath — and why you should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Four engineering decisions that explain the behaviour you'll see day to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85415"/>
            <a:ext cx="36576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Aptos"/>
              </a:rPr>
              <a:t>Prod-sync + watchdog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15768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Read-only, watermarked, batched. A cron watchdog measures lag first and only syncs when behind — so a healthy system adds zero load to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96596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2185415"/>
            <a:ext cx="36576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Aptos"/>
              </a:rPr>
              <a:t>Response caching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15768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Stale-while-revalidate: only the first viewer after a sync waits. A 30-day dashboard went from 4.6s to 8ms.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49039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68496"/>
            <a:ext cx="36576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Aptos"/>
              </a:rPr>
              <a:t>Everything is UTC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98848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Timestamps are stored as UTC in naive columns. A non-UTC process or DB session shifts every window — this bug once made the dashboard show zeros while the data was perfect.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749039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968496"/>
            <a:ext cx="36576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Aptos"/>
              </a:rPr>
              <a:t>Honest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4155"/>
                </a:solidFill>
                <a:latin typeface="Aptos"/>
              </a:rPr>
              <a:t>If the pipeline stalls, the console says so loudly. Wrong-but-plausible numbers are the most dangerous state a monitoring tool can be 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EAFE"/>
                </a:solidFill>
                <a:latin typeface="Aptos"/>
              </a:rPr>
              <a:t>QUIZ 3  ·  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Analytics, tuning &amp;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1.  An SLO says “at risk”. What does that mean, and what should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3852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2.  Where must reseller attribution come from — and why not plan_channels?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05456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3.  What do you do BEFORE changing an alert threshold?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72384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4.  What does “Test now”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3931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5.  An alert cries wolf every night at 03:00. What's the right fix?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0624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6.  Why does everything run in UTC?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77316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0F172A"/>
                </a:solidFill>
                <a:latin typeface="Aptos"/>
              </a:rPr>
              <a:t>7.  Yusr — where does your data go when you ask it a question?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ptos"/>
              </a:rPr>
              <a:t>Answer key in 04-QUIZZES.md  ·  discuss every answer — ask “why?”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8A47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F172A"/>
                </a:solidFill>
                <a:latin typeface="Aptos"/>
              </a:rPr>
              <a:t>It's yours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ptos"/>
              </a:rPr>
              <a:t>The console isn't finished and it isn't mine. Here's what happens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11064240" cy="10972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67128"/>
            <a:ext cx="36576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F172A"/>
                </a:solidFill>
                <a:latin typeface="Aptos"/>
              </a:rPr>
              <a:t>Your first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9191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Day 1: open the dashboard each morning.  Day 2: handle one real case end to end.  Day 3: acknowledge one real incident.  Day 4: build one panel.  Day 5: report one thing that's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6120"/>
            <a:ext cx="11064240" cy="10972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447288"/>
            <a:ext cx="36576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393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F172A"/>
                </a:solidFill>
                <a:latin typeface="Aptos"/>
              </a:rPr>
              <a:t>When something looks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5935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Say so. Reseller numbers were once inflated by a bad join; a staleness banner once cried wolf overnight. Both were found by someone saying “that looks wrong”.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26279"/>
            <a:ext cx="11064240" cy="10972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727447"/>
            <a:ext cx="365760" cy="22860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19471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F172A"/>
                </a:solidFill>
                <a:latin typeface="Aptos"/>
              </a:rPr>
              <a:t>Where to get help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3951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Aptos"/>
              </a:rPr>
              <a:t>Yusr (in-console) → the L1 cheat-sheet → your L2 → the console owner.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85216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6035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8A47"/>
                </a:solidFill>
                <a:latin typeface="Aptos"/>
              </a:rPr>
              <a:t>Agree now:  who opens the dashboard each morning  ·  where feedback goes  ·  when we review the rules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