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96596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TECHNICAL WORKSHOP  ·  20 MODULES  ·  4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331720"/>
            <a:ext cx="12191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Aptos"/>
              </a:rPr>
              <a:t>Salam Digital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337560"/>
            <a:ext cx="141732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584448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Aptos"/>
              </a:rPr>
              <a:t>Operate it · troubleshoot with it · tune it · trust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Aptos"/>
              </a:rPr>
              <a:t>Hands-on throughout  ·  live production data  ·  bring your laptop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480060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97433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08A47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53949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94A3B8"/>
                </a:solidFill>
                <a:latin typeface="Aptos"/>
              </a:rPr>
              <a:t>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80060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497433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08A47"/>
                </a:solidFill>
                <a:latin typeface="Aptos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3949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94A3B8"/>
                </a:solidFill>
                <a:latin typeface="Aptos"/>
              </a:rPr>
              <a:t>LABS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480060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97433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08A47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53949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94A3B8"/>
                </a:solidFill>
                <a:latin typeface="Aptos"/>
              </a:rPr>
              <a:t>LIVE POLLS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480060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497433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08A47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53949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94A3B8"/>
                </a:solidFill>
                <a:latin typeface="Aptos"/>
              </a:rPr>
              <a:t>SCENARIOS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480060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497433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08A47"/>
                </a:solidFill>
                <a:latin typeface="Aptos"/>
              </a:rPr>
              <a:t>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53949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94A3B8"/>
                </a:solidFill>
                <a:latin typeface="Aptos"/>
              </a:rPr>
              <a:t>ALERT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20 modules · 4 sessions · run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Sessions are containers, not calendars. Cover one or more modules per sitting — the modules are self-contained.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48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SESSION 1 —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788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  Why this exists — four blind 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41071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M2  Architecture &amp; the 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03250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M3  Access, roles &amp;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65429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M4  Dashboard anatomy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27608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M5  Order status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148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D8"/>
                </a:solidFill>
                <a:latin typeface="Aptos"/>
              </a:rPr>
              <a:t>SESSION 2 — Troubleshooting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788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M6  Troubleshoot &amp; the 10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41071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M7  Payment forensics — 3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403250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M8  The failover trap (INC0014859)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465429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M9  Timeline &amp; Subscriber 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527608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M10 BSS read-path faults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48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Aptos"/>
              </a:rPr>
              <a:t>SESSION 3 — Alerting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M11 Alerts, metrics &amp; the golden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1071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M12 Correlation &amp; suppression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3250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M13 Escalation &amp; guided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5429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M14 SLA &amp; error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7608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M15 Anomaly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2148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Aptos"/>
              </a:rPr>
              <a:t>SESSION 4 —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788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M16 Analytics &amp; building panels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341071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M17 Growth &amp; attribution traps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403250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M18 Rule tuning discipline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465429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M19 Yusr AI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527608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M20 Platform &amp; handover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Each module: 10 min demo → 15 min lab → 5 min debrief.  Labs and polls are interleaved.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Where everything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One team, one channel. Everything below is also pinned in Teams › Salam Digital Console — Ops › Training &amp; Enablement.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12264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JOIN THE LIVE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682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A3B8"/>
                </a:solidFill>
                <a:latin typeface="Aptos"/>
              </a:rPr>
              <a:t>— link to be added before session 1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79191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Aptos"/>
              </a:rPr>
              <a:t>Same link every session. Joining from the room? Mute your laptop.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65960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2112264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TEAMS CHANNEL — ASK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3682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A3B8"/>
                </a:solidFill>
                <a:latin typeface="Aptos"/>
              </a:rPr>
              <a:t>— link to be added before session 1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679191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Aptos"/>
              </a:rPr>
              <a:t>Questions during and after. Answered in-channel so everyone sees the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18688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364992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GROUP CHAT — DURING THE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2102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A3B8"/>
                </a:solidFill>
                <a:latin typeface="Aptos"/>
              </a:rPr>
              <a:t>— link to be added before session 1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93192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Aptos"/>
              </a:rPr>
              <a:t>Quick shouts, lab blockers, “I'm stuck on step 3”.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218688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3364992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RECORDINGS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362102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A3B8"/>
                </a:solidFill>
                <a:latin typeface="Aptos"/>
              </a:rPr>
              <a:t>— link to be added before session 1 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93192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Aptos"/>
              </a:rPr>
              <a:t>Every session recorded. Missed one? Watch it, then tell me in-channel.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71416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617720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FILES — DECK, LABS, CHEAT-SHEET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7375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A3B8"/>
                </a:solidFill>
                <a:latin typeface="Aptos"/>
              </a:rPr>
              <a:t>— link to be added before session 1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18464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Aptos"/>
              </a:rPr>
              <a:t>Lab guide, scenarios, the printable L1 cheat-sheet.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4471416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5" y="4599431"/>
            <a:ext cx="859536" cy="8595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28231" y="4617720"/>
            <a:ext cx="4050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CONSOLE ITSELF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4873752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onsolas"/>
              </a:rPr>
              <a:t>http://172.31.38.115/digital-console/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5184648"/>
            <a:ext cx="40507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Aptos"/>
              </a:rPr>
              <a:t>Bring your laptop. You'll be signed in during LAB 1.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42432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888736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ONE RULE FOR THE WHOLE PROGRAMME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1447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Ask in the channel, not in a DM. Every question one person has, four people have — and the channel is the record we keep.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What it is, where the data comes from, who sees what, and how to read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45643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58444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58444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Why this exists — the four blind spots that cost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35844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968496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096511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096511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Architecture &amp; the 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09651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15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80560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60857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6085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Access, roles &amp; PII  + LAB 1 (sign-in) + LAB 2 (permissions)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6085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40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92624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12064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2064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Dashboard anatomy  + LAB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12064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35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4688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3270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32703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Order status flow  + LAB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632703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25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01675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614476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614476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LIVE POLL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1447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Four blind spots that cost us real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Every one of these was real. Every one looked healthy on a dashboard at the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85415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F172A"/>
                </a:solidFill>
                <a:latin typeface="Aptos"/>
              </a:rPr>
              <a:t>A gateway died behind failover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148840"/>
            <a:ext cx="123444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1284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91C1C"/>
                </a:solidFill>
                <a:latin typeface="Aptos"/>
              </a:rPr>
              <a:t>34 min blind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87752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UPG stopped taking payments. Traffic auto-failed-over to HyperPay, so the blended success rate stayed green.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85415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F172A"/>
                </a:solidFill>
                <a:latin typeface="Aptos"/>
              </a:rPr>
              <a:t>Charged, never activated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13848" y="2148840"/>
            <a:ext cx="123444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13848" y="221284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91C1C"/>
                </a:solidFill>
                <a:latin typeface="Aptos"/>
              </a:rPr>
              <a:t>silently invisible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The gateway captured the money; the confirmation never arrived. Counted as neither success nor failure.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8620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F172A"/>
                </a:solidFill>
                <a:latin typeface="Aptos"/>
              </a:rPr>
              <a:t>Charged twice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4069080"/>
            <a:ext cx="123444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4133087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45309"/>
                </a:solidFill>
                <a:latin typeface="Aptos"/>
              </a:rPr>
              <a:t>refund + complaint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07992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One order, two captures at the gateway. Only provable by reconciling with the provider.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88620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10565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F172A"/>
                </a:solidFill>
                <a:latin typeface="Aptos"/>
              </a:rPr>
              <a:t>A provider that flaps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13848" y="4069080"/>
            <a:ext cx="123444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3848" y="4133087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45309"/>
                </a:solidFill>
                <a:latin typeface="Aptos"/>
              </a:rPr>
              <a:t>alert fatigue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07992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Semati fails ~55% on a NORMAL day. A flat threshold screams constantly or never fires.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70448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6016752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COMMON THREAD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291072"/>
            <a:ext cx="10588752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In every case the AGGREGATE looked fine. The failure was only visible when you split the number — by gateway, by state, by provider. That is the habit this workshop builds.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Architecture — where every number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Follow one payment from production to your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5000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1518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172.31.43.123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35000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salam_replica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1518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172.31.15.121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25312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35000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mvno_console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61518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rules · alerts ·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4504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235000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Console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261518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152 : 4600 · PM2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9192" y="2606040"/>
            <a:ext cx="512064" cy="0"/>
          </a:xfrm>
          <a:prstGeom prst="line">
            <a:avLst/>
          </a:prstGeom>
          <a:ln w="2540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7168" y="1874519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D4ED8"/>
                </a:solidFill>
                <a:latin typeface="Aptos"/>
              </a:rPr>
              <a:t>read-only · every 5 min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58383" y="2606040"/>
            <a:ext cx="512065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37576" y="2606040"/>
            <a:ext cx="51206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04504" y="3977639"/>
            <a:ext cx="20574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408736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4" y="435254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salam.sa/digital-console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33204" y="3118104"/>
            <a:ext cx="0" cy="804672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6928" y="3977639"/>
            <a:ext cx="7452360" cy="7315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133087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⚠  The prod connection is forced  default_transaction_read_only = on  — the console can NEVER write to production.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9834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" y="5166360"/>
            <a:ext cx="32004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34924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Aptos"/>
              </a:rPr>
              <a:t>Why a replica?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61441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Dashboards and alert scans are heavy repetitive queries. Running them on the DB that serves customers is the load you least want.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49834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7136" y="5166360"/>
            <a:ext cx="32004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7136" y="534924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Aptos"/>
              </a:rPr>
              <a:t>Why 5 minutes?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561441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A deliberate trade. For anything where seconds matter, the alerting path pages you — you don't watch a dashboard.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91855" y="49834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599" y="5166360"/>
            <a:ext cx="32004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9" y="534924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Aptos"/>
              </a:rPr>
              <a:t>What if it stalls?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561441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A banner says the figures are NOT live. Stale data outranks every other status on the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2 ·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The sync pipeline, and how it protects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Two independent mechanisms keep the data fresh without ever loading prod.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IN-APP SCHEDULER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33172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51002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every 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7520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prodSyncScheduler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33172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251002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watermark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77520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per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51002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batch pull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7520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10k rows + sleep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33172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51002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upsert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7520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idempotent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75303" y="2766060"/>
            <a:ext cx="347473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15583" y="2766060"/>
            <a:ext cx="347473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55864" y="2766060"/>
            <a:ext cx="347472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" y="379476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FA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0448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CRON WATCHDOG (BELT &amp; BRACES)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37360" y="41148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293107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measure 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55828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2 indexed reads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41148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39" y="4293107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&lt; 10 min?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55828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exit, do nothing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1148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293107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sync + 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55828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retry ×3, backoff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58200" y="41148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293107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self-heal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55828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windowed re-pull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75303" y="4549140"/>
            <a:ext cx="347473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15583" y="4549140"/>
            <a:ext cx="347473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055864" y="4549140"/>
            <a:ext cx="347472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520440" y="50749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8A47"/>
                </a:solidFill>
                <a:latin typeface="Aptos"/>
              </a:rPr>
              <a:t>healthy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0749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45309"/>
                </a:solidFill>
                <a:latin typeface="Aptos"/>
              </a:rPr>
              <a:t>behind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57784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724144"/>
            <a:ext cx="4919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WHY MEASURE FIRST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5998464"/>
            <a:ext cx="49194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On a healthy system the watchdog does NOTHING — it exits after two cheap reads. Prod sees no extra load.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557784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1383" y="572414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SELF-HEAL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1383" y="5998464"/>
            <a:ext cx="48737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 wedged cursor won't fix itself by re-running the same delta — so it forces an explicit windowed re-pull.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Access, roles &amp; PII — least privilege enforced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Your role decides which pages EXIST for you. Not a policy — the page simply doesn't render.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7315200" cy="3840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66544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66544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Troubleshoot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6654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066544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206654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Edit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206654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Unmask PII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066544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50592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Super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50592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45059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450592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245059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399" y="245059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450592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779776"/>
            <a:ext cx="7315200" cy="384048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834640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L3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834640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2834640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2834640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59" y="2834640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399" y="2834640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834640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218688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L2 Digital / BSS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218688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218688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59" y="321868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59" y="3218688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399" y="3218688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218688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547872"/>
            <a:ext cx="7315200" cy="384048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602736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L1 Digital / BSS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3602736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602736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59" y="360273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59" y="3602736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399" y="3602736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602736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3986784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Report Manager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3986784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398678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59" y="3986784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59" y="398678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399" y="398678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986784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4315968"/>
            <a:ext cx="7315200" cy="384048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370832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Errors Manager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4370832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3320" y="437083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4370832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59" y="437083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399" y="437083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370832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92440" y="201168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0183" y="215798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91C1C"/>
                </a:solidFill>
                <a:latin typeface="Aptos"/>
              </a:rPr>
              <a:t>THE PII RULE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0183" y="2432304"/>
            <a:ext cx="3063240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Only Super Admin and L3 Digital can unmask customer data — and every unmask is written to the audit log with your name on it.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92440" y="3886200"/>
            <a:ext cx="3538728" cy="14630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0183" y="403250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MULTI-ROLE USERS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0183" y="4306824"/>
            <a:ext cx="306324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Union of views, OR of capabilities, labelled by the highest-ranked role.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6634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Escalation ladder — P1: L1 Digital (0) → L2 Digital (+10) → L3 Digital (+25)   ·   stops the moment someone acknowledges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949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554126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TRY IT NOW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" y="5815584"/>
            <a:ext cx="1058875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Compare your visible tabs with the person next to you. Different? That's the model working. Ask the Report Manager to open Troubleshoot — the tab isn't there at 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1FAE5"/>
                </a:solidFill>
                <a:latin typeface="Aptos"/>
              </a:rPr>
              <a:t>LAB 1  ·  25 min  ·  you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Sign in &amp; discover your own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1.  Open https://salam.sa/digital-console/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11095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2.  Enter your @salam.sa email → Send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1343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3.  Enter the 6-digit code (check junk, or I'll read it 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157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4.  Look top-right: your name + role. Say your role aloud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1810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5.  Write down which top-nav tabs you can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6.  Compare with your neighbour — same tabs?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2277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7.  Open Troubleshoot (if you have it). Is the mobile number masked?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2511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8.  Try ⚙ Settings. Can you?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3444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138074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EXPECTED RESULT — SAY THIS SENTENCE OUT 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1655064"/>
            <a:ext cx="478231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“I am a ________.  I can see ________.  I cannot ________.</a:t>
            </a:r>
          </a:p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Customer numbers appear ________ to me.”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15468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330098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Aptos"/>
              </a:rPr>
              <a:t>IF YOU CAN'T GET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575304"/>
            <a:ext cx="478231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“No console account” → not created yet, tell me.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“Use a @salam.sa email” → personal address, by design.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Code invalid → expired after 10 min, request another.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7548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490118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D28D9"/>
                </a:solidFill>
                <a:latin typeface="Aptos"/>
              </a:rPr>
              <a:t>FACILITATOR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5175504"/>
            <a:ext cx="478231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L1 and L3 open the SAME row side by side. L1 sees 05••••••89. L3 clicks Unmask. Then open ⚙ → Audit log and watch the entry appear with the L3's name.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Dashboard anatomy — reading it correctly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One screen that answers: is today normal, and if not, where?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① NOC banner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Plain-English headline of the worst thing happening right now. Green / amber / 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42616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34056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② Journey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73405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8 tiles — Onboarding · Eligibility · Identity · Payments · Activation · Delivery · Change Plan · Ownership.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64992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③ KPI strip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4564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8 cards, each with a sparkline, a vs-previous delta and n= sample size. Coloured against the SLA TARGET, not 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87368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78808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④ Range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7880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Today · Yesterday · 7d · 30d, plus intra-day (last 1/3/6/12/24h, same-day KSA).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9744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1183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⑤ Order status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901183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19 nodes across 3 stages, clickable down to the orders behind each box.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32120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⑥ Staleness banner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6235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Appears when data is behind. Outranks everything — figures are NOT live.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92024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22326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Aptos"/>
              </a:rPr>
              <a:t>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25012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Aptos"/>
              </a:rPr>
              <a:t>d1-dashboard.png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1762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Aptos"/>
              </a:rPr>
              <a:t>Dashboard · full page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530352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544982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Aptos"/>
              </a:rPr>
              <a:t>BEFORE YOU QUOTE ANY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5724144"/>
            <a:ext cx="4782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Check for the staleness banner. If it's there, say so before repeating the figure to anyone.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Order status flow — where orders actually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Three stages, two lanes, 19 clickable nodes. Every box lists the exact orders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3246120" cy="33832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①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0428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BSS + GOV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246120" cy="33832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1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②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0428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1920240"/>
            <a:ext cx="3246120" cy="33832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084831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D28D9"/>
                </a:solidFill>
                <a:latin typeface="Aptos"/>
              </a:rPr>
              <a:t>③ ACTIVATION &amp;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30428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BSS + courier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83464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9923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2606040"/>
            <a:ext cx="11430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738628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Elig.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246120"/>
            <a:ext cx="1143000" cy="5029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378708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Elig. fail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157984" y="2857500"/>
            <a:ext cx="301752" cy="260604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57984" y="3118104"/>
            <a:ext cx="301752" cy="379475"/>
          </a:xfrm>
          <a:prstGeom prst="line">
            <a:avLst/>
          </a:prstGeom>
          <a:ln w="2032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54880" y="2834640"/>
            <a:ext cx="11430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999232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Total pay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377440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51002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Success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017520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15010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Pending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657600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79018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Fail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12463" y="2857500"/>
            <a:ext cx="987553" cy="260604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952744" y="2628900"/>
            <a:ext cx="256032" cy="489204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52744" y="3118104"/>
            <a:ext cx="256032" cy="150875"/>
          </a:xfrm>
          <a:prstGeom prst="line">
            <a:avLst/>
          </a:prstGeom>
          <a:ln w="2032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52744" y="3118104"/>
            <a:ext cx="256032" cy="790956"/>
          </a:xfrm>
          <a:prstGeom prst="line">
            <a:avLst/>
          </a:prstGeom>
          <a:ln w="2032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686800" y="2377440"/>
            <a:ext cx="11887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251002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eSIM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3108960"/>
            <a:ext cx="11887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32415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Physical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87000" y="2377440"/>
            <a:ext cx="1143000" cy="5029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2510028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Activated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87000" y="3108960"/>
            <a:ext cx="1143000" cy="5029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3241548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Not act.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3840480"/>
            <a:ext cx="11887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397306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Delivered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552944" y="2628900"/>
            <a:ext cx="1078992" cy="0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930384" y="2628900"/>
            <a:ext cx="301752" cy="0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930384" y="3360420"/>
            <a:ext cx="301752" cy="0"/>
          </a:xfrm>
          <a:prstGeom prst="line">
            <a:avLst/>
          </a:prstGeom>
          <a:ln w="2032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631936" y="3360420"/>
            <a:ext cx="1298448" cy="731520"/>
          </a:xfrm>
          <a:prstGeom prst="line">
            <a:avLst/>
          </a:prstGeom>
          <a:ln w="2032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66928" y="5486400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56692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WHAT TO LOOK FOR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" y="5925312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The biggest DROP between two adjacent boxes is where your customers are being lost today.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5486400"/>
            <a:ext cx="5257800" cy="10515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92824" y="563270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TWO LANES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92824" y="5907024"/>
            <a:ext cx="4782312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New SIM and MNP are shown separately — port-ins fail for different reasons than new 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1  ·  5 min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Where does the console read its data from — and can it write to production?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Production directly — and yes, it can refund 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50008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4780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05456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replica synced from prod — and no, it is read-only against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9815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22783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73551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255263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nightly CSV export — no writes possible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9624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97763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2336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005072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The BSS directly — writes allowed for admins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00200"/>
            <a:ext cx="3767328" cy="2377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82880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D8"/>
                </a:solidFill>
                <a:latin typeface="Aptos"/>
              </a:rPr>
              <a:t>HOW TO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1.  Kahoot / Slido — join with the room code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2.  Or: hold up A / B / C / D fingers on my count of three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No conferring. Wrong answers are the useful 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160520"/>
            <a:ext cx="3767328" cy="1005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3708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Everyone answers.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We reveal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1 · reveal  ·  discuss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Where does the console read its data from — and can it write to production?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Production directly — and yes, it can refund 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5856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38658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32303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14015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replica synced from prod — and no, it is read-only against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693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04495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9067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72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nightly CSV export — no writes possible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7530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703320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730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The BSS directly — writes allowed for admins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367528" cy="65836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773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536752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The console reads a replica synced every ~5 minutes. The production connection is forced default_transaction_read_only = on, so it CANNOT write — by construction, not by policy.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5367528" cy="12801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4718304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 THIS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4992624"/>
            <a:ext cx="489204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Heavy dashboard and alert queries never touch the database that serves your customers.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From a customer complaint to a named root cause — with the screens that get you there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45643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58444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58444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Troubleshoot &amp; the 10 categories  + 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35844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968496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096511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096511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Payment forensics — failed vs stuck vs abandoned  + LAB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09651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40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80560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60857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6085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The failover trap — INC0014859 dissected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6085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20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92624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12064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2064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Timeline &amp; Subscriber 360  + LAB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12064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25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4688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3270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32703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BSS read-path faults (OSB 1500)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632703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15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01675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614476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614476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LIVE POLL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1447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10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Troubleshoot — 10 categories, each with an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Live failures grouped by category and owning team. Where an L1 spends most of the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48255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Payment /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965960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048255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Payment stuck (unconfirmed)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40279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32888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Payment duplicate (suspected)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072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4448" y="2532888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615184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Change 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8072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099815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82111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Activation (BSS)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74135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3099815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182111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Semati / MSISDN provisioning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374135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666744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749039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Nafath / 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410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84448" y="3666744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3749039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Eligibility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9410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Sales Ops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233672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315968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Change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0799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84448" y="4233672"/>
            <a:ext cx="283464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4315968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50799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Digital Ops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965960"/>
            <a:ext cx="4956048" cy="2834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214884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SEARCH ACCEPTS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242316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•  mobile number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697479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•  order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297180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•  ICCID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24612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•  national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65760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CODE · MESSAGE DRILL-DOWN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931920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•  Semati — responseCode · message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4151376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•  Nafath — status · message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370831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•  Payment — gateway code · message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590288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•  Activation — status_code ×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809744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•  Delivery — reason · state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892040"/>
            <a:ext cx="5852160" cy="12344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038344"/>
            <a:ext cx="5376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BUILT-IN REFERENCE CARDS — NO SEPARATE WIKI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5312664"/>
            <a:ext cx="5376672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Payments (gateway map + customer wording) · BSS/Semati status codes · Nafath service types. Each card includes what to SAY to the customer.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75120" y="4892040"/>
            <a:ext cx="4956048" cy="1234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12864" y="5038344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EVERYTHING IS FILTERABLE &amp; EXPORTABLE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12864" y="5312664"/>
            <a:ext cx="4480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Team · category · time range · gateway chips · code chips. Any view exports to CSV or JSON.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7  ·  THE SINGLE MOST IMPORTANT IDEA IN THIS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Failed vs Stuck vs Abandoned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Three states that look almost identical and mean completely different things.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7744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6430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2948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hits pay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377440"/>
            <a:ext cx="173736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60146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Gateway called?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4832" y="2720340"/>
            <a:ext cx="466344" cy="0"/>
          </a:xfrm>
          <a:prstGeom prst="line">
            <a:avLst/>
          </a:prstGeom>
          <a:ln w="2032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37760" y="1508760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641347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ABANDONED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06523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pending · NO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487168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61975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8493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money taken, order 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465576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598163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91C1C"/>
                </a:solidFill>
                <a:latin typeface="Aptos"/>
              </a:rPr>
              <a:t>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86333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declined by bank/gw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443984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5765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Aptos"/>
              </a:rPr>
              <a:t>STUCK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84174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pending + commit &gt;30m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389120" y="1897379"/>
            <a:ext cx="493776" cy="827533"/>
          </a:xfrm>
          <a:prstGeom prst="line">
            <a:avLst/>
          </a:prstGeom>
          <a:ln w="1905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89120" y="2724912"/>
            <a:ext cx="493776" cy="150876"/>
          </a:xfrm>
          <a:prstGeom prst="line">
            <a:avLst/>
          </a:prstGeom>
          <a:ln w="1905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89120" y="2724912"/>
            <a:ext cx="493776" cy="1129284"/>
          </a:xfrm>
          <a:prstGeom prst="line">
            <a:avLst/>
          </a:prstGeom>
          <a:ln w="1905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89120" y="2724912"/>
            <a:ext cx="493776" cy="2107692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98079" y="1508760"/>
            <a:ext cx="4133087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1655063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Not an incident. Help them retry.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2487168"/>
            <a:ext cx="4133087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2633472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Nothing to do.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3465576"/>
            <a:ext cx="4133087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36118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Read the decline code → cheat-sheet wording. Customer can retry.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4443984"/>
            <a:ext cx="4133087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4590288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ESCALATE to L2 with payment_reference_id. Customer may be charged.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44068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58698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91C1C"/>
                </a:solidFill>
                <a:latin typeface="Aptos"/>
              </a:rPr>
              <a:t>THE ONE FIELD THAT DECIDES IT — PAYMENT_COMMIT_RESPONSE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861304"/>
            <a:ext cx="10588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Did the gateway ever answer?  YES → money may have moved → STUCK, escalate.   NO → the customer simply never finished → ABANDONED, not an incident.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Get this wrong and you refund people who never paid, or strand people who were charged.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7 · WHY THIS WAS INVISIBLE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The denominator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A single line of SQL logic hid thousands of charged-but-unactivated customers.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Aptos"/>
              </a:rPr>
              <a:t>THE OLD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87168"/>
            <a:ext cx="4892040" cy="868680"/>
          </a:xfrm>
          <a:prstGeom prst="roundRect">
            <a:avLst>
              <a:gd name="adj" fmla="val 6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33472"/>
            <a:ext cx="4489703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payment_failure_rate =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  failed / (success + failed)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pending / initiated were excluded from the denominator entirely.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2128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THE 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51460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 payment the gateway CAPTURED but our app never confirmed was counted as: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•  not a success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•  not a failure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…so it appeared in no rate, no chart, no alert.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434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48970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64024"/>
            <a:ext cx="1058875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Two new metrics (payment_stuck_initiated, payment_duplicate_suspect), three new rules, and two dedicated Troubleshoot tiles listing the payment_reference_ids so an agent can act on a specific case.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9496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54126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D28D9"/>
                </a:solidFill>
                <a:latin typeface="Aptos"/>
              </a:rPr>
              <a:t>THEN REFINED AGAIN — BECAUSE THE FIRST FIX OVER-COUNTED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815584"/>
            <a:ext cx="105887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The stuck definition originally counted every pending row, which swept in ordinary abandonment (473 “stuck” payments that weren't stuck at all). Requiring a real commit response separated the two. Lesson: a metric is a hypothesis — keep testing it against reality.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1FAE5"/>
                </a:solidFill>
                <a:latin typeface="Aptos"/>
              </a:rPr>
              <a:t>LAB 6  ·  30 min  ·  you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Payment forensics  ·  Scenario A +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PART 1 — find the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1.  Troubleshoot → search the number I give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2.  Did a payment exist? What status?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3.  If failed — what is the decline code and message?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4.  Expand the row → read the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2608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5.  Verdict: failed, stuck or abandoned? Justify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29000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PART 2 — the duplicate tile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0332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1.  Open “Payment duplicate (suspected)”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2.  Why does it say SUSPECTED and not confirmed?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3484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3.  What would you need to confirm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80060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4.  What can you promise the customer right now?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18872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133502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EXPECTED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1609344"/>
            <a:ext cx="478231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 verdict you can defend, plus the exact sentence you'd say to the customer — taken from the cheat-sheet.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9260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307238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Aptos"/>
              </a:rPr>
              <a:t>THE HONEST ANSWER ON DUPLICATES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3346704"/>
            <a:ext cx="478231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“Suspected” because the app database cannot see the gateway's second capture. Only reconciliation against Tap/UPG confirms it. Never promise a refund from this screen alone.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66344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480974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IF “NOT FOUND”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5084064"/>
            <a:ext cx="478231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Usually means no failures for that number — which is good news, say so. Or try the last 9 digits.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The failover trap — INC0014859 dissected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How a dead gateway hid behind a healthy-looking average for 34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14600"/>
            <a:ext cx="10149840" cy="201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460650"/>
            <a:ext cx="128016" cy="128016"/>
          </a:xfrm>
          <a:prstGeom prst="ellipse">
            <a:avLst/>
          </a:prstGeom>
          <a:solidFill>
            <a:srgbClr val="1D4E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194767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09:09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2185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last UPG success</a:t>
            </a:r>
          </a:p>
        </p:txBody>
      </p:sp>
      <p:sp>
        <p:nvSpPr>
          <p:cNvPr id="12" name="Oval 11"/>
          <p:cNvSpPr/>
          <p:nvPr/>
        </p:nvSpPr>
        <p:spPr>
          <a:xfrm>
            <a:off x="3783787" y="2460650"/>
            <a:ext cx="128016" cy="128016"/>
          </a:xfrm>
          <a:prstGeom prst="ellipse">
            <a:avLst/>
          </a:prstGeom>
          <a:solidFill>
            <a:srgbClr val="1D4E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3395" y="194767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09:10–09:43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1955" y="2185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UPG at zero · HyperPay absorbs</a:t>
            </a:r>
          </a:p>
        </p:txBody>
      </p:sp>
      <p:sp>
        <p:nvSpPr>
          <p:cNvPr id="15" name="Oval 14"/>
          <p:cNvSpPr/>
          <p:nvPr/>
        </p:nvSpPr>
        <p:spPr>
          <a:xfrm>
            <a:off x="7234732" y="2460650"/>
            <a:ext cx="128016" cy="128016"/>
          </a:xfrm>
          <a:prstGeom prst="ellipse">
            <a:avLst/>
          </a:prstGeom>
          <a:solidFill>
            <a:srgbClr val="1D4E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4340" y="194767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09:43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2900" y="2185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L1 notices — via a customer</a:t>
            </a:r>
          </a:p>
        </p:txBody>
      </p:sp>
      <p:sp>
        <p:nvSpPr>
          <p:cNvPr id="18" name="Oval 17"/>
          <p:cNvSpPr/>
          <p:nvPr/>
        </p:nvSpPr>
        <p:spPr>
          <a:xfrm>
            <a:off x="11091672" y="2460650"/>
            <a:ext cx="128016" cy="128016"/>
          </a:xfrm>
          <a:prstGeom prst="ellipse">
            <a:avLst/>
          </a:prstGeom>
          <a:solidFill>
            <a:srgbClr val="1D4E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194767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185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watchdog fires in ≤30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832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Aptos"/>
              </a:rPr>
              <a:t>WHAT THE DASHBOARD SHOWED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Payment success 84%  ✓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No alert firing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No complaints yet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…while UPG had taken ZERO payments.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8328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56616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8A47"/>
                </a:solidFill>
                <a:latin typeface="Aptos"/>
              </a:rPr>
              <a:t>WHY THE AVERAGE 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84048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Traffic auto-failed-over to HyperPay.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The successes were real — they just all came from a different gateway.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98348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1206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BLENDED VIEW:   UPG 0%  +  HyperPay 96%   →   reported 84%  ✓ “healthy”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7150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86130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FIX — AND THE HABIT WORTH MORE THAN THE 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6135624"/>
            <a:ext cx="1058875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Per-gateway zero-success watchdogs (UPG P1 · HyperPay P2 · Tap P2). The habit: whenever you see an average, ask “averaged over WHAT?” — then split it by that dimension.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The faults that live in another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BSS read-path SOAP faults (1500 / OSB-382000) — invisible to every write-path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5000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WRITE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1518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create subscriber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9456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35000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status 00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1518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activation 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24912" y="2606040"/>
            <a:ext cx="237744" cy="0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342900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8444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91C1C"/>
                </a:solidFill>
                <a:latin typeface="Aptos"/>
              </a:rPr>
              <a:t>READ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84962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list-invoices, get-sub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42900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358444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91C1C"/>
                </a:solidFill>
                <a:latin typeface="Aptos"/>
              </a:rPr>
              <a:t>1500 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4962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100–200 / min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24912" y="3840480"/>
            <a:ext cx="237744" cy="0"/>
          </a:xfrm>
          <a:prstGeom prst="line">
            <a:avLst/>
          </a:prstGeom>
          <a:ln w="2032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669280" y="2788920"/>
            <a:ext cx="2377440" cy="10058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3035807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Customer sees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300983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“plans not loading”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greyed balance transfer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175503" y="3291839"/>
            <a:ext cx="438913" cy="548641"/>
          </a:xfrm>
          <a:prstGeom prst="line">
            <a:avLst/>
          </a:prstGeom>
          <a:ln w="2032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0" y="2788920"/>
            <a:ext cx="294436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3035807"/>
            <a:ext cx="2944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logs.uil_logs  (MySQL)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300983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a SEPARATE database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not in our replica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01584" y="3291839"/>
            <a:ext cx="530352" cy="0"/>
          </a:xfrm>
          <a:prstGeom prst="line">
            <a:avLst/>
          </a:prstGeom>
          <a:ln w="20320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6928" y="470916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855464"/>
            <a:ext cx="4919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Aptos"/>
              </a:rPr>
              <a:t>WHY NOBODY SAW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129784"/>
            <a:ext cx="49194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Writes succeeded, so activation dashboards stayed green. The faults were logged in a database the console doesn't replicate.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7091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48554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WHAT WE DID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3" y="5129784"/>
            <a:ext cx="48737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Read logs.uil_logs directly: live fault totals, per-minute frequency, top failing APIs — plus a P1 watcher when it spikes.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Lesson: “the dashboard is green” only means the things we measure are green. Always ask what ISN'T instrumented.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2  ·  5 min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A payment is pending, 45 minutes old, WITH a gateway commit response. What is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Abandoned — the customer never finished. Help them retry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50008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4780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05456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Stuck — the gateway answered but we never confirmed. Escalate with the reference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9815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22783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73551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255263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duplicate charge — refund immediately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9624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97763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2336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005072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Normal — pending payments always take an hour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00200"/>
            <a:ext cx="3767328" cy="2377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82880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D8"/>
                </a:solidFill>
                <a:latin typeface="Aptos"/>
              </a:rPr>
              <a:t>HOW TO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1.  Kahoot / Slido — join with the room code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2.  Or: hold up A / B / C / D fingers on my count of three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No conferring. Wrong answers are the useful 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160520"/>
            <a:ext cx="3767328" cy="1005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3708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Everyone answers.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We reveal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2 · reveal  ·  discuss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A payment is pending, 45 minutes old, WITH a gateway commit response. What is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Abandoned — the customer never finished. Help them retry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5856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38658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32303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14015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Stuck — the gateway answered but we never confirmed. Escalate with the reference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693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04495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9067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72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duplicate charge — refund immediately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7530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703320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730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Normal — pending payments always take an hour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367528" cy="65836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773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536752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A commit response means the gateway ANSWERED — money may have moved. The app never finalised it, so the customer may be charged while their order shows unpaid. That is an escalation, with the payment_reference_id.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5367528" cy="12801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4718304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 THIS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4992624"/>
            <a:ext cx="489204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No commit response = abandoned = not an incident. One field separates a refund case from a retry.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SESSION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Alerting &amp;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How the console watches, why it stays quiet, and what to do when it isn't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45643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58444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58444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Alerts, metrics &amp; the golden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35844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968496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096511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096511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Correlation &amp; suppression — one page, not 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09651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15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80560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60857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6085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Escalation &amp; guided response  + LAB 8 (run an incident)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6085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40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92624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12064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2064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SLA targets &amp; error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12064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4688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3270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32703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Anomaly detection vs seasonal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632703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15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01675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614476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614476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LIVE POLL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1447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10 min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Alerts — 38 rules over 28 metrics, one golden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The console watches continuously so that nobody has to stare at a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8A47"/>
                </a:solidFill>
                <a:latin typeface="Aptos"/>
              </a:rPr>
              <a:t>“An alert fires on CHANGE FROM NORMAL — not on the normal baseline.”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05456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The steady state lives on the SLA page. The Alerts page is for things that JUST GOT WORSE.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6324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Aptos"/>
              </a:rPr>
              <a:t>NAIVE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47872"/>
            <a:ext cx="48920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Semati fails ~55% on a normal day.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Alert at &gt;10%  →  fires every single day, all day.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Alert at &gt;90%  →  never fires, even during an outage.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Both are useless.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2461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8A47"/>
                </a:solidFill>
                <a:latin typeface="Aptos"/>
              </a:rPr>
              <a:t>WHAT WE DO INSTEAD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547872"/>
            <a:ext cx="48920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Thresholds tuned ABOVE the observed baseline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+ a minimum sample gate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+ a window that matches the failure shape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+ flapping detection (ok→fail transitions)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+ a zero-success watchdog for hard outages.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3766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6327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how long the condition must 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52120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53766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Min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6327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stops a quiet hour firing on 3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52120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53766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6327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P1 pages, P2 notifies, P3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19" y="52120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3766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Runbook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563270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the steps, attached to the alert itself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Correlation — one page instead of 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A provider outage doesn't fire one alert. It fires everything downstream. So we group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3570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91C1C"/>
                </a:solidFill>
                <a:latin typeface="Aptos"/>
              </a:rPr>
              <a:t>Semati provider unreachable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0088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Aptos"/>
              </a:rPr>
              <a:t>P1  ·  ROOT CAUSE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03320"/>
            <a:ext cx="36118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776472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Aptos"/>
              </a:rPr>
              <a:t>Activation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4164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suppressed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68296" y="2999232"/>
            <a:ext cx="3666744" cy="658368"/>
          </a:xfrm>
          <a:prstGeom prst="line">
            <a:avLst/>
          </a:prstGeom>
          <a:ln w="13970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60" y="3703320"/>
            <a:ext cx="36118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776472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Aptos"/>
              </a:rPr>
              <a:t>Eligibility denials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4164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suppressed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2999232"/>
            <a:ext cx="246888" cy="658368"/>
          </a:xfrm>
          <a:prstGeom prst="line">
            <a:avLst/>
          </a:prstGeom>
          <a:ln w="13970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4192" y="3703320"/>
            <a:ext cx="36118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3776472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Aptos"/>
              </a:rPr>
              <a:t>MNP port-ins failing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04164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suppressed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2999232"/>
            <a:ext cx="4160520" cy="658368"/>
          </a:xfrm>
          <a:prstGeom prst="line">
            <a:avLst/>
          </a:prstGeom>
          <a:ln w="13970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4617720"/>
            <a:ext cx="36118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Aptos"/>
              </a:rPr>
              <a:t>Change plan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95604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suppressed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368296" y="2999232"/>
            <a:ext cx="3666744" cy="1572768"/>
          </a:xfrm>
          <a:prstGeom prst="line">
            <a:avLst/>
          </a:prstGeom>
          <a:ln w="13970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80560" y="4617720"/>
            <a:ext cx="36118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690872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Aptos"/>
              </a:rPr>
              <a:t>Onboarding drop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95604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suppressed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35040" y="2999232"/>
            <a:ext cx="246888" cy="1572768"/>
          </a:xfrm>
          <a:prstGeom prst="line">
            <a:avLst/>
          </a:prstGeom>
          <a:ln w="13970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94192" y="4617720"/>
            <a:ext cx="36118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690872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Aptos"/>
              </a:rPr>
              <a:t>SIM swap failures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95604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suppressed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35040" y="2999232"/>
            <a:ext cx="4160520" cy="1572768"/>
          </a:xfrm>
          <a:prstGeom prst="line">
            <a:avLst/>
          </a:prstGeom>
          <a:ln w="13970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" y="562356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769864"/>
            <a:ext cx="4919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91C1C"/>
                </a:solidFill>
                <a:latin typeface="Aptos"/>
              </a:rPr>
              <a:t>WITHOUT CORRELATION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6044184"/>
            <a:ext cx="49194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Ten pages at 03:00. People start ignoring alerts — and then miss the real one.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56235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1383" y="57698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WITH CORRELATION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1383" y="6044184"/>
            <a:ext cx="48737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One page naming the root cause, with the blast radius printed on it. Symptoms grouped underneath.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Escalation &amp; guided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The runbook travels with the alert. The ladder climbs until someone acknowledges.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Aptos"/>
              </a:rPr>
              <a:t>P1 LADDER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51760"/>
            <a:ext cx="4754880" cy="201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1" y="2597810"/>
            <a:ext cx="128016" cy="128016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79" y="28529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" y="30906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L1 Digital</a:t>
            </a:r>
          </a:p>
        </p:txBody>
      </p:sp>
      <p:sp>
        <p:nvSpPr>
          <p:cNvPr id="13" name="Oval 12"/>
          <p:cNvSpPr/>
          <p:nvPr/>
        </p:nvSpPr>
        <p:spPr>
          <a:xfrm>
            <a:off x="3172968" y="2597810"/>
            <a:ext cx="128016" cy="128016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28529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+10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30906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L2 Digital</a:t>
            </a:r>
          </a:p>
        </p:txBody>
      </p:sp>
      <p:sp>
        <p:nvSpPr>
          <p:cNvPr id="16" name="Oval 15"/>
          <p:cNvSpPr/>
          <p:nvPr/>
        </p:nvSpPr>
        <p:spPr>
          <a:xfrm>
            <a:off x="5788152" y="2597810"/>
            <a:ext cx="128016" cy="128016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8529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+25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906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L3 Digital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20440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P2 LADDER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206240"/>
            <a:ext cx="4754880" cy="201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271" y="4152290"/>
            <a:ext cx="128016" cy="128016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79" y="4407407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" y="46451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L1 BSS</a:t>
            </a:r>
          </a:p>
        </p:txBody>
      </p:sp>
      <p:sp>
        <p:nvSpPr>
          <p:cNvPr id="24" name="Oval 23"/>
          <p:cNvSpPr/>
          <p:nvPr/>
        </p:nvSpPr>
        <p:spPr>
          <a:xfrm>
            <a:off x="3172968" y="4152290"/>
            <a:ext cx="128016" cy="128016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4407407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+20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46451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L2 BSS</a:t>
            </a:r>
          </a:p>
        </p:txBody>
      </p:sp>
      <p:sp>
        <p:nvSpPr>
          <p:cNvPr id="27" name="Oval 26"/>
          <p:cNvSpPr/>
          <p:nvPr/>
        </p:nvSpPr>
        <p:spPr>
          <a:xfrm>
            <a:off x="5788152" y="4152290"/>
            <a:ext cx="128016" cy="128016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407407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+45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451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L2 Digital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2120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8A47"/>
                </a:solidFill>
                <a:latin typeface="Aptos"/>
              </a:rPr>
              <a:t>ACK STOPS THE LADDER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4681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Acknowledging is not paperwork. It's how you stop the next person's phone from ringing.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965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8A47"/>
                </a:solidFill>
                <a:latin typeface="Aptos"/>
              </a:rPr>
              <a:t>WHAT EVERY INCIDENT CARRIES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286000"/>
            <a:ext cx="5184648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23682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Runbook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368296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written per rule — no wiki hunt at 3am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2944368"/>
            <a:ext cx="5184648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3026663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Blast radius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026663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what else this blocks, printed on the incident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3602736"/>
            <a:ext cx="5184648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368503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Related tickets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68503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ServiceNow incidents customers already raised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4261104"/>
            <a:ext cx="5184648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43434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Metric + threshold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343400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the number that fired it, vs the line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4919472"/>
            <a:ext cx="5184648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56832" y="500176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5001768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ack · assign · snooze · resolve · comment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46520" y="5623560"/>
            <a:ext cx="5184648" cy="9601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5769864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IF A RUNBOOK STEP IS WRONG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84264" y="6044184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That's a bug in the RULE, not something to work around. L2+ can edit it — fix it while it's fresh.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1FAE5"/>
                </a:solidFill>
                <a:latin typeface="Aptos"/>
              </a:rPr>
              <a:t>LAB 8  ·  25 min · role-play  ·  you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Run an incident end to end  ·  Scenario 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34440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L1 — first responder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6362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Opens it, reads the runbook, acknowledges, states blast radius, hands 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47672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L2 — 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768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Checks correlation (root or symptom?), related tickets, decides resolve or 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60904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5234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9008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Asks the awkward question: “is this affecting customers right now, and how many?”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74136"/>
            <a:ext cx="5577840" cy="621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Everyone else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Observes, then critiques the handover against the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06240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9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62272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1. Open it — read headline + severity aloud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2. Read the runbook. Do step 1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3. Acknowledge — say why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4. State the blast radius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5. Hand over to L2 (see criteria →)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6. L2: check correlation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7. L2: check related tickets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8. Answer the manager with DATA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9. Resolve, or comment what we're waiting 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23444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138074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A GOOD HANDOVER NAMES THREE THINGS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1655064"/>
            <a:ext cx="478231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1. The RULE that fired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2. The NUMBER vs its threshold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3. What you ALREADY CHECKED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“Payments are broken” is not a handover.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383280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352958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CRITIQUE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803904"/>
            <a:ext cx="478231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☐ acked promptly   ☐ runbook actually read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☐ handover named rule + numbers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☐ blast radius quoted, not guessed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☐ correlation checked   ☐ decision recorded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5074920"/>
            <a:ext cx="5257800" cy="10515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5221224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Aptos"/>
              </a:rPr>
              <a:t>IF NOTHING IS 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5495544"/>
            <a:ext cx="4782312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Use Alerts → History and replay a past incident. The muscle memory is the same.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SLA targets &amp; error budget — the steady-state scoreboard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Alerts tell you what just broke. SLA tells you whether you're keeping your promises.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5029200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0824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20824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20824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6829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Payment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68296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68296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7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60904"/>
            <a:ext cx="5029200" cy="347472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Activation (BSS)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1576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1576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30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6324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Semati provisioning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063240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063240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30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55848"/>
            <a:ext cx="5029200" cy="347472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10712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Nafath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41071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1071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7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58183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Eligibility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758183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758183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30 days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50791"/>
            <a:ext cx="5029200" cy="347472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105655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Delivery 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105655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105655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30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5312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Change Plan 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45312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97%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45312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30 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965960"/>
            <a:ext cx="5687568" cy="14173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214884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D8"/>
                </a:solidFill>
                <a:latin typeface="Aptos"/>
              </a:rPr>
              <a:t>ERROR BUDGET — the useful part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2423160"/>
            <a:ext cx="5212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 95% target over 7 days allows 5% failures. If you've used 80% of that allowance by Wednesday, you're “at risk” — act BEFORE the breach, not after.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3611880"/>
            <a:ext cx="5687568" cy="56692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7673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MET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3776472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within target, budget healthy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4270248"/>
            <a:ext cx="5687568" cy="566928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4256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Aptos"/>
              </a:rPr>
              <a:t>AT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434840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still met, but budget nearly spent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4928616"/>
            <a:ext cx="5687568" cy="56692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08406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91C1C"/>
                </a:solidFill>
                <a:latin typeface="Aptos"/>
              </a:rPr>
              <a:t>BREACHED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09320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target missed for the window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586984"/>
            <a:ext cx="5687568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574243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Aptos"/>
              </a:rPr>
              <a:t>NO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75157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not enough volume to judge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892040"/>
            <a:ext cx="5029200" cy="12801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5038344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VENDOR HEALTH SITS HERE TOO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" y="5312664"/>
            <a:ext cx="4553712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Per-gateway and per-courier health over 24h / 7d / 30d — so “which partner is dragging us down” is a screen, not an argument.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Anomaly detection — comparing today to the right yesterday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Thresholds catch what you predicted. Anomaly detection catches what you didn't.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Aptos"/>
              </a:rPr>
              <a:t>THE PROBLEM WITH A FLAT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Traffic at 03:00 Friday looks nothing like 13:00 Sunday.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A single threshold across all hours either fires all night or misses a real daytime drop.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19456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8A47"/>
                </a:solidFill>
                <a:latin typeface="Aptos"/>
              </a:rPr>
              <a:t>SEASONAL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87168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168 buckets — one per hour of the week.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Each compared against its OWN median over 4 weeks, using a robust z-score (≥3.5σ).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“This Tuesday 14:00 vs every recent Tuesday 14:00.”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2628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6817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Example output:   P3  ▼ 21.6σ   semati volume 21 is 21.6σ below the seasonal norm 53 (expected 48–58)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949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54126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D8"/>
                </a:solidFill>
                <a:latin typeface="Aptos"/>
              </a:rPr>
              <a:t>WHY THE VOLUME FLOOR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15584"/>
            <a:ext cx="105887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Anomaly detection ignores journeys below a minimum hourly volume — otherwise every quiet night produces dramatic-looking percentage swings on tiny numbers.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3  ·  5 min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Semati fails ~55% on a completely normal day. When should an alert fire?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Whenever any failure occurs — every failure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50008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4780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05456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Above 10% — that's an industry standard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9815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22783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73551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255263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When failures rise meaningfully ABOVE that 55% baseline, with enough 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9624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97763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2336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005072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Never — 55% is too noisy to alert on at 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00200"/>
            <a:ext cx="3767328" cy="2377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82880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D8"/>
                </a:solidFill>
                <a:latin typeface="Aptos"/>
              </a:rPr>
              <a:t>HOW TO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1.  Kahoot / Slido — join with the room code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2.  Or: hold up A / B / C / D fingers on my count of three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No conferring. Wrong answers are the useful 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160520"/>
            <a:ext cx="3767328" cy="1005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3708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Everyone answers.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We reveal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3 · reveal  ·  discuss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Semati fails ~55% on a completely normal day. When should an alert fire?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Whenever any failure occurs — every failure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5856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38658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32303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14015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Above 10% — that's an industry standard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693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04495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9067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72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When failures rise meaningfully ABOVE that 55% baseline, with enough 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7530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703320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730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Never — 55% is too noisy to alert on at 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367528" cy="65836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773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8A47"/>
                </a:solidFill>
                <a:latin typeface="Aptos"/>
              </a:rPr>
              <a:t>✓  ANSWER: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536752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Alert on CHANGE FROM NORMAL. A rule set at 10% would fire every day forever; a rule set at 90% would sleep through a real outage. Tune above the observed baseline, and gate it with a minimum sample.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5367528" cy="12801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4718304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 THIS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4992624"/>
            <a:ext cx="489204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The steady 55% belongs on the SLA page. The Alerts page is only for what just got worse.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SESSION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Depth &amp;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Build your own views, tune the system safely, and take it 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45643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58444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58444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Analytics — 14 dashboards, 79 panels, or build your own  + 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35844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40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968496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096511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096511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Growth &amp; attribution traps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09651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80560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60857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6085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Rule tuning discipline  + LAB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6085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35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92624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12064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2064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Yusr — the on-premise AI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12064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4688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3270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M20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32703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Platform internals &amp; handover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632703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20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016752"/>
            <a:ext cx="10515600" cy="438912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614476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6144768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LIVE POLL 4 + certification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1447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ptos"/>
              </a:rPr>
              <a:t>15 min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Analytics — a BI workspace built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14 preset dashboards, 79 panels — and anyone can build their own without raising a ticket.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18587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83763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7 to choose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28600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418587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83763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count / rate / 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228600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418587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Visualisation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683763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7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228600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4" y="2418587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Bucket +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683763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hour/day × field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0656" y="2286000"/>
            <a:ext cx="1810512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0656" y="2418587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0656" y="2683763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personal / shared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42032" y="2674620"/>
            <a:ext cx="28346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55464" y="2674620"/>
            <a:ext cx="28346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68895" y="2674620"/>
            <a:ext cx="283465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82328" y="2674620"/>
            <a:ext cx="28346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4747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63931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7 DATASETS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895344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payments · onboarding · activation · nafath · delivery · change_plan · checkouts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747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63931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7 VISUALISATIONS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895344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line · bar · stat · table · pie · donut · funnel  (+ a stuck-orders panel)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2920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175504"/>
            <a:ext cx="4919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GOOD QUESTIONS TO 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449824"/>
            <a:ext cx="4919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“Payment success by gateway, hourly, 7d”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“Activation failures by status code, 24h”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“Orders by flow type, 30d”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502920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3" y="517550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Aptos"/>
              </a:rPr>
              <a:t>COMMON MISTAKES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383" y="544982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Grouping by a field with hundreds of values · a window too short to contain data · a rate where you wanted a count.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Attribution — how a number can be confidently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A true story from this console, and the habit that prevents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Aptos"/>
              </a:rPr>
              <a:t>✗  WRONG — counting via a CONFIG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94560"/>
            <a:ext cx="1371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957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1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19456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25856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plan_channels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23744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“may sell”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93392" y="2514600"/>
            <a:ext cx="237744" cy="0"/>
          </a:xfrm>
          <a:prstGeom prst="line">
            <a:avLst/>
          </a:prstGeom>
          <a:ln w="2032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3400" y="169164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764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tygo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931920" y="1883664"/>
            <a:ext cx="365760" cy="630936"/>
          </a:xfrm>
          <a:prstGeom prst="line">
            <a:avLst/>
          </a:prstGeom>
          <a:ln w="1270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216712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24028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soob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931920" y="2359152"/>
            <a:ext cx="365760" cy="155448"/>
          </a:xfrm>
          <a:prstGeom prst="line">
            <a:avLst/>
          </a:prstGeom>
          <a:ln w="1270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2642616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7157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posa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2514600"/>
            <a:ext cx="365760" cy="320040"/>
          </a:xfrm>
          <a:prstGeom prst="line">
            <a:avLst/>
          </a:prstGeom>
          <a:ln w="1270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43400" y="311810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19125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apollo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2514600"/>
            <a:ext cx="365760" cy="795528"/>
          </a:xfrm>
          <a:prstGeom prst="line">
            <a:avLst/>
          </a:prstGeom>
          <a:ln w="1270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43400" y="3593592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66674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172A"/>
                </a:solidFill>
                <a:latin typeface="Aptos"/>
              </a:rPr>
              <a:t>partner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31920" y="2514600"/>
            <a:ext cx="365760" cy="1271016"/>
          </a:xfrm>
          <a:prstGeom prst="line">
            <a:avLst/>
          </a:prstGeom>
          <a:ln w="1270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6928" y="3063240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2186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1 order counted 5 times → soob showed 311 orders. It hadn't launched.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74519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8A47"/>
                </a:solidFill>
                <a:latin typeface="Aptos"/>
              </a:rPr>
              <a:t>✓  RIGHT — counting the fact on the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194560"/>
            <a:ext cx="1371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3957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1 order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2194560"/>
            <a:ext cx="2103120" cy="6400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225856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F172A"/>
                </a:solidFill>
                <a:latin typeface="Aptos"/>
              </a:rPr>
              <a:t>external_service_name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52374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stamped at creation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2194560"/>
            <a:ext cx="1252728" cy="6400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2395728"/>
            <a:ext cx="12527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tygo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90104" y="2514600"/>
            <a:ext cx="256032" cy="0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158984" y="2514600"/>
            <a:ext cx="164592" cy="0"/>
          </a:xfrm>
          <a:prstGeom prst="line">
            <a:avLst/>
          </a:prstGeom>
          <a:ln w="20320">
            <a:solidFill>
              <a:srgbClr val="008A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263640" y="3063240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2186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1 order = 1 channel. Real numbers: tygo 26,107 · soob 65 (test orders).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9319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07822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RULE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352544"/>
            <a:ext cx="105887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Attribute from the fact recorded ON THE ROW (the order's own origin) — never from a configuration table. “Which channels MAY sell this plan” is not “which channel DID sell it”.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07492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522122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D28D9"/>
                </a:solidFill>
                <a:latin typeface="Aptos"/>
              </a:rPr>
              <a:t>THE HABIT THIS SHOULD BUILD IN YOU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5495544"/>
            <a:ext cx="10588752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When a number surprises you — a channel that isn't launched showing sales, a total that seems too round, a figure that doubled overnight — ask: WHAT exactly was counted, and JOINED to what?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This bug was found because someone said “that looks wrong”. Please be that person.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Tuning a rule without crying wolf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An alert nobody trusts is worse than no alert at all. Here is the discipline.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2167128"/>
            <a:ext cx="384048" cy="384048"/>
          </a:xfrm>
          <a:prstGeom prst="ellipse">
            <a:avLst/>
          </a:prstGeom>
          <a:solidFill>
            <a:srgbClr val="ECFDF3"/>
          </a:solidFill>
          <a:ln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2311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14884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Look at the chart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4231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Open the metric chart. What IS normal for this hour of the week? Read the seasonal band before touching anything.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167128"/>
            <a:ext cx="384048" cy="384048"/>
          </a:xfrm>
          <a:prstGeom prst="ellipse">
            <a:avLst/>
          </a:prstGeom>
          <a:solidFill>
            <a:srgbClr val="ECFDF3"/>
          </a:solidFill>
          <a:ln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2311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14884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Set above the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4231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Not above zero. The threshold sits above normal variation.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0040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" y="3401568"/>
            <a:ext cx="384048" cy="384048"/>
          </a:xfrm>
          <a:prstGeom prst="ellipse">
            <a:avLst/>
          </a:prstGeom>
          <a:solidFill>
            <a:srgbClr val="ECFDF3"/>
          </a:solidFill>
          <a:ln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46557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38328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Gate the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65760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min_sample stops a quiet 04:00 firing on three events.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20040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3401568"/>
            <a:ext cx="384048" cy="384048"/>
          </a:xfrm>
          <a:prstGeom prst="ellipse">
            <a:avLst/>
          </a:prstGeom>
          <a:solidFill>
            <a:srgbClr val="ECFDF3"/>
          </a:solidFill>
          <a:ln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46557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38328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Test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65760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Evaluates against live data without saving. On a healthy system it must NOT fire.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3484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6384" y="4636007"/>
            <a:ext cx="384048" cy="384048"/>
          </a:xfrm>
          <a:prstGeom prst="ellipse">
            <a:avLst/>
          </a:prstGeom>
          <a:solidFill>
            <a:srgbClr val="ECFDF3"/>
          </a:solidFill>
          <a:ln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0001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61772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Save, then watch 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89204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Trust it only after a full daily cycle has passed.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43484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5664" y="4636007"/>
            <a:ext cx="384048" cy="384048"/>
          </a:xfrm>
          <a:prstGeom prst="ellipse">
            <a:avLst/>
          </a:prstGeom>
          <a:solidFill>
            <a:srgbClr val="ECFDF3"/>
          </a:solidFill>
          <a:ln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470001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61772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If it cried wolf — raise the 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89204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Never delete. A deleted rule is a blind spot with no record.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8064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5274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91C1C"/>
                </a:solidFill>
                <a:latin typeface="Aptos"/>
              </a:rPr>
              <a:t>THE TEST BEFORE YOU SAVE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6227064"/>
            <a:ext cx="10588752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If you cannot say what the rule would STILL catch after your change, you have broken it — not tuned 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Yusr  يُسر  — an AI teammate that runs on our own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Ask in plain language, get one answer instead of five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414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Your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0662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“what happened to 05…?”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286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Intent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4 intents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6672" y="2286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PII masking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to YOUR 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0104" y="2286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Local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Ollama, on-prem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03536" y="2286000"/>
            <a:ext cx="16276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3536" y="2441448"/>
            <a:ext cx="1627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3536" y="2706624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4748B"/>
                </a:solidFill>
                <a:latin typeface="Aptos"/>
              </a:rPr>
              <a:t>+ deep links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16352" y="2697480"/>
            <a:ext cx="19202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29784" y="2697480"/>
            <a:ext cx="19202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43216" y="2697480"/>
            <a:ext cx="19202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56648" y="2697480"/>
            <a:ext cx="19202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52044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7033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WHAT IT'S GOOD 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9776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Summarising a subscriber's recent failures · listing open incidents · citing CST/ServiceNow tickets by number · pointing you to the right screen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520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033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Aptos"/>
              </a:rPr>
              <a:t>THE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776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A"/>
                </a:solidFill>
                <a:latin typeface="Aptos"/>
              </a:rPr>
              <a:t>VERIFY before you act on it with a customer. It's a fast assistant, not an authority. It degrades to rule-based answers if the model is down.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749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221224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PRIVACY BY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495544"/>
            <a:ext cx="105887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The model runs on our own network — data never leaves it. And the context is masked to the ASKER's permissions before it reaches the model: Yusr can only ever tell you what your role may already see.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MODULE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Platform internals — four decisions that explain the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The engineering that keeps the numbers honest and the pages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252728" cy="3291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420624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8A47"/>
                </a:solidFill>
                <a:latin typeface="Aptos"/>
              </a:rPr>
              <a:t>M20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85415"/>
            <a:ext cx="384048" cy="27432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865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Read-only sync + watchdog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15768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Watermarked, batched, throttled. The watchdog measures lag first and only syncs when behind — a healthy system adds zero prod 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96596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185415"/>
            <a:ext cx="384048" cy="274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865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Response 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15768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Stale-while-revalidate + single-flight: only the first viewer after a sync waits. A 30-day dashboard went 4.6s → 8ms.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40479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59935"/>
            <a:ext cx="384048" cy="274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61103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Everything in UTC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90288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Timestamps are stored as UTC in naive columns. A non-UTC process OR database session shifts every window — this bug once made the dashboard show zeros while the data was perfect.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40479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059935"/>
            <a:ext cx="384048" cy="274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61103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Honest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90288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Aptos"/>
              </a:rPr>
              <a:t>If the pipeline stalls, the console says so loudly. Wrong-but-plausible numbers are the most dangerous state a monitoring tool can be 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7607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92531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Consolas"/>
              </a:rPr>
              <a:t>Measured:   30-day dashboard 4.6s → 8ms cached   ·   timeline lookups 20–30s → indexed   ·   sync lag warning at 10 min, critical at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4  ·  5 min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Reseller channel numbers must be attributed from…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plan_channels — the table listing which channels may sell each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50008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4780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05456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The order's own recorded origin (external_service_name)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9815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22783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73551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255263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UTM parameters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9624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97763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2336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005072"/>
            <a:ext cx="6126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Whatever the commercial team reports manually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00200"/>
            <a:ext cx="3767328" cy="2377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82880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D8"/>
                </a:solidFill>
                <a:latin typeface="Aptos"/>
              </a:rPr>
              <a:t>HOW TO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1.  Kahoot / Slido — join with the room code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2.  Or: hold up A / B / C / D fingers on my count of three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No conferring. Wrong answers are the useful 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160520"/>
            <a:ext cx="3767328" cy="1005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3708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Everyone answers.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We reveal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LIVE POLL 4 · reveal  ·  discuss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Reseller channel numbers must be attributed from…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556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plan_channels — the table listing which channels may sell each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5856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38658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32303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14015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The order's own recorded origin (external_service_name)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693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044952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9067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72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UTM parameters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7530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703320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730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Whatever the commercial team reports manually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367528" cy="65836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773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536752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plan_channels is CONFIGURATION — “which channels MAY sell this plan”. A plan enabled on five channels made one order count five times, inflating an unlaunched channel to 311 orders (real: 65 test orders).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5367528" cy="128016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4718304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 THIS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4992624"/>
            <a:ext cx="489204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Attribute from the fact stamped on the row, never from a table describing possibilities.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Your 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Two grades, issued from the attendance register and the quiz scores. It is earned, not handed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440680" cy="3063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94560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CERTIFICATE OF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8716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You can operate the console on your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2907792"/>
            <a:ext cx="457200" cy="27432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272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127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All 4 sessions attended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112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511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Quiz score ≥ 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8953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895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Scenario A completed unaided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4370832"/>
            <a:ext cx="489204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26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Recognised for the L1/L2 console duty roster.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965960"/>
            <a:ext cx="5440680" cy="30632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194560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CERTIFICATE OF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48716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You were in the room for the material.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8" y="2907792"/>
            <a:ext cx="457200" cy="274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1272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D8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3127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At least 3 of 4 sessions attended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5112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D8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3511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Assessment not passed or not 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8953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D8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3895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Re-sit the quiz any time to upgrade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4808" y="4370832"/>
            <a:ext cx="489204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4526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Upgrade by re-sitting the quiz — no need to re-attend.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93792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35838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Signed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6327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Issued by Digital &amp; MVNO Operations and countersigned by the console owner.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5968" y="5193792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35838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Verifiable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56327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Every certificate carries a unique ID recorded in the issue register — a claim can be checked.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7" y="5193792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1" y="535838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Traceable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1" y="56327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34155"/>
                </a:solidFill>
                <a:latin typeface="Aptos"/>
              </a:rPr>
              <a:t>Grade, sessions and score are printed on the face. Nothing is implied.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It's yours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The console isn't finished, and it isn't mine.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384048" cy="27432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Aptos"/>
              </a:rPr>
              <a:t>Your first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42615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Day 1 open the dashboard each morning · Day 2 handle one real case end to end · Day 3 acknowledge one real incident · Day 4 build one panel · Day 5 report one thing that's wrong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72968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55848"/>
            <a:ext cx="384048" cy="27432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57015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Aptos"/>
              </a:rPr>
              <a:t>When a number looks wrong, say 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9624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Reseller figures were once inflated by a bad join. A staleness banner once cried wolf on quiet overnight tables. Both were found by someone saying “that looks wrong”.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79976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562856"/>
            <a:ext cx="384048" cy="27432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64024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Aptos"/>
              </a:rPr>
              <a:t>Where to get 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5663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Yusr (in-console)  →  the L1 cheat-sheet  →  your L2  →  the console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6235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77900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8A47"/>
                </a:solidFill>
                <a:latin typeface="Aptos"/>
              </a:rPr>
              <a:t>AGREE BEFORE YOU LEAVE THE 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53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Who opens the dashboard each morning  ·  where feedback goes  ·  when we review the alert rules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