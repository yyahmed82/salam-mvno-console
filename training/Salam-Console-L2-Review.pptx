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0" y="1783080"/>
            <a:ext cx="12191695" cy="228600"/>
          </a:xfrm>
          <a:prstGeom prst="rect">
            <a:avLst/>
          </a:prstGeom>
          <a:noFill/>
        </p:spPr>
        <p:txBody>
          <a:bodyPr wrap="square" lIns="0" rIns="0" tIns="0" bIns="0" anchor="t">
            <a:spAutoFit/>
          </a:bodyPr>
          <a:lstStyle/>
          <a:p>
            <a:pPr algn="ctr">
              <a:lnSpc>
                <a:spcPct val="115000"/>
              </a:lnSpc>
            </a:pPr>
            <a:r>
              <a:rPr sz="1100" b="1" i="0">
                <a:solidFill>
                  <a:srgbClr val="008A47"/>
                </a:solidFill>
                <a:latin typeface="Aptos"/>
              </a:rPr>
              <a:t>L2 REVIEW SERIES  ·  3 SESSIONS  ·  THIS WEEK</a:t>
            </a:r>
          </a:p>
        </p:txBody>
      </p:sp>
      <p:sp>
        <p:nvSpPr>
          <p:cNvPr id="3" name="TextBox 2"/>
          <p:cNvSpPr txBox="1"/>
          <p:nvPr/>
        </p:nvSpPr>
        <p:spPr>
          <a:xfrm>
            <a:off x="0" y="2148840"/>
            <a:ext cx="12191695" cy="868680"/>
          </a:xfrm>
          <a:prstGeom prst="rect">
            <a:avLst/>
          </a:prstGeom>
          <a:noFill/>
        </p:spPr>
        <p:txBody>
          <a:bodyPr wrap="square" lIns="0" rIns="0" tIns="0" bIns="0" anchor="t">
            <a:spAutoFit/>
          </a:bodyPr>
          <a:lstStyle/>
          <a:p>
            <a:pPr algn="ctr">
              <a:lnSpc>
                <a:spcPct val="115000"/>
              </a:lnSpc>
            </a:pPr>
            <a:r>
              <a:rPr sz="4200" b="1" i="0">
                <a:solidFill>
                  <a:srgbClr val="FFFFFF"/>
                </a:solidFill>
                <a:latin typeface="Aptos"/>
              </a:rPr>
              <a:t>Salam Digital Console</a:t>
            </a:r>
          </a:p>
        </p:txBody>
      </p:sp>
      <p:sp>
        <p:nvSpPr>
          <p:cNvPr id="4" name="Rectangle 3"/>
          <p:cNvSpPr/>
          <p:nvPr/>
        </p:nvSpPr>
        <p:spPr>
          <a:xfrm>
            <a:off x="5394960" y="3154680"/>
            <a:ext cx="141732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3401568"/>
            <a:ext cx="12191695" cy="411480"/>
          </a:xfrm>
          <a:prstGeom prst="rect">
            <a:avLst/>
          </a:prstGeom>
          <a:noFill/>
        </p:spPr>
        <p:txBody>
          <a:bodyPr wrap="square" lIns="0" rIns="0" tIns="0" bIns="0" anchor="t">
            <a:spAutoFit/>
          </a:bodyPr>
          <a:lstStyle/>
          <a:p>
            <a:pPr algn="ctr">
              <a:lnSpc>
                <a:spcPct val="115000"/>
              </a:lnSpc>
            </a:pPr>
            <a:r>
              <a:rPr sz="1700" b="0" i="0">
                <a:solidFill>
                  <a:srgbClr val="E2E8F0"/>
                </a:solidFill>
                <a:latin typeface="Aptos"/>
              </a:rPr>
              <a:t>You are not the audience. You are the reviewers.</a:t>
            </a:r>
          </a:p>
        </p:txBody>
      </p:sp>
      <p:sp>
        <p:nvSpPr>
          <p:cNvPr id="6" name="TextBox 5"/>
          <p:cNvSpPr txBox="1"/>
          <p:nvPr/>
        </p:nvSpPr>
        <p:spPr>
          <a:xfrm>
            <a:off x="0" y="3931920"/>
            <a:ext cx="12191695" cy="548640"/>
          </a:xfrm>
          <a:prstGeom prst="rect">
            <a:avLst/>
          </a:prstGeom>
          <a:noFill/>
        </p:spPr>
        <p:txBody>
          <a:bodyPr wrap="square" lIns="0" rIns="0" tIns="0" bIns="0" anchor="t">
            <a:spAutoFit/>
          </a:bodyPr>
          <a:lstStyle/>
          <a:p>
            <a:pPr algn="ctr">
              <a:lnSpc>
                <a:spcPct val="135000"/>
              </a:lnSpc>
            </a:pPr>
            <a:r>
              <a:rPr sz="1250" b="0" i="0">
                <a:solidFill>
                  <a:srgbClr val="94A3B8"/>
                </a:solidFill>
                <a:latin typeface="Aptos"/>
              </a:rPr>
              <a:t>Three sessions to decide whether the data is true, the alerts are right,</a:t>
            </a:r>
          </a:p>
          <a:p>
            <a:pPr algn="ctr">
              <a:lnSpc>
                <a:spcPct val="135000"/>
              </a:lnSpc>
            </a:pPr>
            <a:r>
              <a:rPr sz="1250" b="0" i="0">
                <a:solidFill>
                  <a:srgbClr val="94A3B8"/>
                </a:solidFill>
                <a:latin typeface="Aptos"/>
              </a:rPr>
              <a:t>and the console is worth opening during an incident.</a:t>
            </a:r>
          </a:p>
        </p:txBody>
      </p:sp>
      <p:sp>
        <p:nvSpPr>
          <p:cNvPr id="7" name="Rounded Rectangle 6"/>
          <p:cNvSpPr/>
          <p:nvPr/>
        </p:nvSpPr>
        <p:spPr>
          <a:xfrm>
            <a:off x="2404872" y="5029200"/>
            <a:ext cx="1783080" cy="960120"/>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04872" y="5202936"/>
            <a:ext cx="1783080" cy="365760"/>
          </a:xfrm>
          <a:prstGeom prst="rect">
            <a:avLst/>
          </a:prstGeom>
          <a:noFill/>
        </p:spPr>
        <p:txBody>
          <a:bodyPr wrap="square" lIns="0" rIns="0" tIns="0" bIns="0" anchor="t">
            <a:spAutoFit/>
          </a:bodyPr>
          <a:lstStyle/>
          <a:p>
            <a:pPr algn="ctr">
              <a:lnSpc>
                <a:spcPct val="115000"/>
              </a:lnSpc>
            </a:pPr>
            <a:r>
              <a:rPr sz="2000" b="1" i="0">
                <a:solidFill>
                  <a:srgbClr val="008A47"/>
                </a:solidFill>
                <a:latin typeface="Aptos"/>
              </a:rPr>
              <a:t>3</a:t>
            </a:r>
          </a:p>
        </p:txBody>
      </p:sp>
      <p:sp>
        <p:nvSpPr>
          <p:cNvPr id="9" name="TextBox 8"/>
          <p:cNvSpPr txBox="1"/>
          <p:nvPr/>
        </p:nvSpPr>
        <p:spPr>
          <a:xfrm>
            <a:off x="2404872" y="5623560"/>
            <a:ext cx="1783080" cy="201168"/>
          </a:xfrm>
          <a:prstGeom prst="rect">
            <a:avLst/>
          </a:prstGeom>
          <a:noFill/>
        </p:spPr>
        <p:txBody>
          <a:bodyPr wrap="square" lIns="0" rIns="0" tIns="0" bIns="0" anchor="t">
            <a:spAutoFit/>
          </a:bodyPr>
          <a:lstStyle/>
          <a:p>
            <a:pPr algn="ctr">
              <a:lnSpc>
                <a:spcPct val="115000"/>
              </a:lnSpc>
            </a:pPr>
            <a:r>
              <a:rPr sz="850" b="0" i="0">
                <a:solidFill>
                  <a:srgbClr val="94A3B8"/>
                </a:solidFill>
                <a:latin typeface="Aptos"/>
              </a:rPr>
              <a:t>SESSIONS</a:t>
            </a:r>
          </a:p>
        </p:txBody>
      </p:sp>
      <p:sp>
        <p:nvSpPr>
          <p:cNvPr id="10" name="Rounded Rectangle 9"/>
          <p:cNvSpPr/>
          <p:nvPr/>
        </p:nvSpPr>
        <p:spPr>
          <a:xfrm>
            <a:off x="4370831" y="5029200"/>
            <a:ext cx="1783080" cy="960120"/>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70831" y="5202936"/>
            <a:ext cx="1783080" cy="365760"/>
          </a:xfrm>
          <a:prstGeom prst="rect">
            <a:avLst/>
          </a:prstGeom>
          <a:noFill/>
        </p:spPr>
        <p:txBody>
          <a:bodyPr wrap="square" lIns="0" rIns="0" tIns="0" bIns="0" anchor="t">
            <a:spAutoFit/>
          </a:bodyPr>
          <a:lstStyle/>
          <a:p>
            <a:pPr algn="ctr">
              <a:lnSpc>
                <a:spcPct val="115000"/>
              </a:lnSpc>
            </a:pPr>
            <a:r>
              <a:rPr sz="2000" b="1" i="0">
                <a:solidFill>
                  <a:srgbClr val="008A47"/>
                </a:solidFill>
                <a:latin typeface="Aptos"/>
              </a:rPr>
              <a:t>43</a:t>
            </a:r>
          </a:p>
        </p:txBody>
      </p:sp>
      <p:sp>
        <p:nvSpPr>
          <p:cNvPr id="12" name="TextBox 11"/>
          <p:cNvSpPr txBox="1"/>
          <p:nvPr/>
        </p:nvSpPr>
        <p:spPr>
          <a:xfrm>
            <a:off x="4370831" y="5623560"/>
            <a:ext cx="1783080" cy="201168"/>
          </a:xfrm>
          <a:prstGeom prst="rect">
            <a:avLst/>
          </a:prstGeom>
          <a:noFill/>
        </p:spPr>
        <p:txBody>
          <a:bodyPr wrap="square" lIns="0" rIns="0" tIns="0" bIns="0" anchor="t">
            <a:spAutoFit/>
          </a:bodyPr>
          <a:lstStyle/>
          <a:p>
            <a:pPr algn="ctr">
              <a:lnSpc>
                <a:spcPct val="115000"/>
              </a:lnSpc>
            </a:pPr>
            <a:r>
              <a:rPr sz="850" b="0" i="0">
                <a:solidFill>
                  <a:srgbClr val="94A3B8"/>
                </a:solidFill>
                <a:latin typeface="Aptos"/>
              </a:rPr>
              <a:t>RULES TO REVIEW</a:t>
            </a:r>
          </a:p>
        </p:txBody>
      </p:sp>
      <p:sp>
        <p:nvSpPr>
          <p:cNvPr id="13" name="Rounded Rectangle 12"/>
          <p:cNvSpPr/>
          <p:nvPr/>
        </p:nvSpPr>
        <p:spPr>
          <a:xfrm>
            <a:off x="6336792" y="5029200"/>
            <a:ext cx="1783080" cy="960120"/>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5202936"/>
            <a:ext cx="1783080" cy="365760"/>
          </a:xfrm>
          <a:prstGeom prst="rect">
            <a:avLst/>
          </a:prstGeom>
          <a:noFill/>
        </p:spPr>
        <p:txBody>
          <a:bodyPr wrap="square" lIns="0" rIns="0" tIns="0" bIns="0" anchor="t">
            <a:spAutoFit/>
          </a:bodyPr>
          <a:lstStyle/>
          <a:p>
            <a:pPr algn="ctr">
              <a:lnSpc>
                <a:spcPct val="115000"/>
              </a:lnSpc>
            </a:pPr>
            <a:r>
              <a:rPr sz="2000" b="1" i="0">
                <a:solidFill>
                  <a:srgbClr val="008A47"/>
                </a:solidFill>
                <a:latin typeface="Aptos"/>
              </a:rPr>
              <a:t>33</a:t>
            </a:r>
          </a:p>
        </p:txBody>
      </p:sp>
      <p:sp>
        <p:nvSpPr>
          <p:cNvPr id="15" name="TextBox 14"/>
          <p:cNvSpPr txBox="1"/>
          <p:nvPr/>
        </p:nvSpPr>
        <p:spPr>
          <a:xfrm>
            <a:off x="6336792" y="5623560"/>
            <a:ext cx="1783080" cy="201168"/>
          </a:xfrm>
          <a:prstGeom prst="rect">
            <a:avLst/>
          </a:prstGeom>
          <a:noFill/>
        </p:spPr>
        <p:txBody>
          <a:bodyPr wrap="square" lIns="0" rIns="0" tIns="0" bIns="0" anchor="t">
            <a:spAutoFit/>
          </a:bodyPr>
          <a:lstStyle/>
          <a:p>
            <a:pPr algn="ctr">
              <a:lnSpc>
                <a:spcPct val="115000"/>
              </a:lnSpc>
            </a:pPr>
            <a:r>
              <a:rPr sz="850" b="0" i="0">
                <a:solidFill>
                  <a:srgbClr val="94A3B8"/>
                </a:solidFill>
                <a:latin typeface="Aptos"/>
              </a:rPr>
              <a:t>METRICS</a:t>
            </a:r>
          </a:p>
        </p:txBody>
      </p:sp>
      <p:sp>
        <p:nvSpPr>
          <p:cNvPr id="16" name="Rounded Rectangle 15"/>
          <p:cNvSpPr/>
          <p:nvPr/>
        </p:nvSpPr>
        <p:spPr>
          <a:xfrm>
            <a:off x="8302751" y="5029200"/>
            <a:ext cx="1783080" cy="960120"/>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1" y="5202936"/>
            <a:ext cx="1783080" cy="365760"/>
          </a:xfrm>
          <a:prstGeom prst="rect">
            <a:avLst/>
          </a:prstGeom>
          <a:noFill/>
        </p:spPr>
        <p:txBody>
          <a:bodyPr wrap="square" lIns="0" rIns="0" tIns="0" bIns="0" anchor="t">
            <a:spAutoFit/>
          </a:bodyPr>
          <a:lstStyle/>
          <a:p>
            <a:pPr algn="ctr">
              <a:lnSpc>
                <a:spcPct val="115000"/>
              </a:lnSpc>
            </a:pPr>
            <a:r>
              <a:rPr sz="2000" b="1" i="0">
                <a:solidFill>
                  <a:srgbClr val="008A47"/>
                </a:solidFill>
                <a:latin typeface="Aptos"/>
              </a:rPr>
              <a:t>5</a:t>
            </a:r>
          </a:p>
        </p:txBody>
      </p:sp>
      <p:sp>
        <p:nvSpPr>
          <p:cNvPr id="18" name="TextBox 17"/>
          <p:cNvSpPr txBox="1"/>
          <p:nvPr/>
        </p:nvSpPr>
        <p:spPr>
          <a:xfrm>
            <a:off x="8302751" y="5623560"/>
            <a:ext cx="1783080" cy="201168"/>
          </a:xfrm>
          <a:prstGeom prst="rect">
            <a:avLst/>
          </a:prstGeom>
          <a:noFill/>
        </p:spPr>
        <p:txBody>
          <a:bodyPr wrap="square" lIns="0" rIns="0" tIns="0" bIns="0" anchor="t">
            <a:spAutoFit/>
          </a:bodyPr>
          <a:lstStyle/>
          <a:p>
            <a:pPr algn="ctr">
              <a:lnSpc>
                <a:spcPct val="115000"/>
              </a:lnSpc>
            </a:pPr>
            <a:r>
              <a:rPr sz="850" b="0" i="0">
                <a:solidFill>
                  <a:srgbClr val="94A3B8"/>
                </a:solidFill>
                <a:latin typeface="Aptos"/>
              </a:rPr>
              <a:t>DAYS OF LIVE USE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7315200" cy="182880"/>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WHY YOU, WHY NOW</a:t>
            </a:r>
          </a:p>
        </p:txBody>
      </p:sp>
      <p:sp>
        <p:nvSpPr>
          <p:cNvPr id="3" name="TextBox 2"/>
          <p:cNvSpPr txBox="1"/>
          <p:nvPr/>
        </p:nvSpPr>
        <p:spPr>
          <a:xfrm>
            <a:off x="566928" y="621792"/>
            <a:ext cx="10058400" cy="411480"/>
          </a:xfrm>
          <a:prstGeom prst="rect">
            <a:avLst/>
          </a:prstGeom>
          <a:noFill/>
        </p:spPr>
        <p:txBody>
          <a:bodyPr wrap="square" lIns="0" rIns="0" tIns="0" bIns="0" anchor="t">
            <a:spAutoFit/>
          </a:bodyPr>
          <a:lstStyle/>
          <a:p>
            <a:pPr algn="l">
              <a:lnSpc>
                <a:spcPct val="115000"/>
              </a:lnSpc>
            </a:pPr>
            <a:r>
              <a:rPr sz="2400" b="1" i="0">
                <a:solidFill>
                  <a:srgbClr val="0F172A"/>
                </a:solidFill>
                <a:latin typeface="Aptos"/>
              </a:rPr>
              <a:t>L2 before L1 — deliberately</a:t>
            </a:r>
          </a:p>
        </p:txBody>
      </p:sp>
      <p:sp>
        <p:nvSpPr>
          <p:cNvPr id="4" name="Rectangle 3"/>
          <p:cNvSpPr/>
          <p:nvPr/>
        </p:nvSpPr>
        <p:spPr>
          <a:xfrm>
            <a:off x="566928" y="1133856"/>
            <a:ext cx="64008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16736"/>
            <a:ext cx="11064240" cy="457200"/>
          </a:xfrm>
          <a:prstGeom prst="rect">
            <a:avLst/>
          </a:prstGeom>
          <a:noFill/>
        </p:spPr>
        <p:txBody>
          <a:bodyPr wrap="square" lIns="0" rIns="0" tIns="0" bIns="0" anchor="t">
            <a:spAutoFit/>
          </a:bodyPr>
          <a:lstStyle/>
          <a:p>
            <a:pPr algn="l">
              <a:lnSpc>
                <a:spcPct val="115000"/>
              </a:lnSpc>
            </a:pPr>
            <a:r>
              <a:rPr sz="1200" b="0" i="0">
                <a:solidFill>
                  <a:srgbClr val="64748B"/>
                </a:solidFill>
                <a:latin typeface="Aptos"/>
              </a:rPr>
              <a:t>We could train L1 first and get more people using it sooner. That would be the wrong order.</a:t>
            </a:r>
          </a:p>
        </p:txBody>
      </p:sp>
      <p:sp>
        <p:nvSpPr>
          <p:cNvPr id="6" name="Rounded Rectangle 5"/>
          <p:cNvSpPr/>
          <p:nvPr/>
        </p:nvSpPr>
        <p:spPr>
          <a:xfrm>
            <a:off x="566928" y="1965960"/>
            <a:ext cx="11064240" cy="1280160"/>
          </a:xfrm>
          <a:prstGeom prst="roundRect">
            <a:avLst>
              <a:gd name="adj" fmla="val 6000"/>
            </a:avLst>
          </a:prstGeom>
          <a:solidFill>
            <a:srgbClr val="FEF2F2"/>
          </a:solidFill>
          <a:ln w="952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2148840"/>
            <a:ext cx="10515600" cy="256032"/>
          </a:xfrm>
          <a:prstGeom prst="rect">
            <a:avLst/>
          </a:prstGeom>
          <a:noFill/>
        </p:spPr>
        <p:txBody>
          <a:bodyPr wrap="square" lIns="0" rIns="0" tIns="0" bIns="0" anchor="t">
            <a:spAutoFit/>
          </a:bodyPr>
          <a:lstStyle/>
          <a:p>
            <a:pPr algn="l">
              <a:lnSpc>
                <a:spcPct val="115000"/>
              </a:lnSpc>
            </a:pPr>
            <a:r>
              <a:rPr sz="1400" b="1" i="0">
                <a:solidFill>
                  <a:srgbClr val="0F172A"/>
                </a:solidFill>
                <a:latin typeface="Aptos"/>
              </a:rPr>
              <a:t>L1 will trust what the console says</a:t>
            </a:r>
          </a:p>
        </p:txBody>
      </p:sp>
      <p:sp>
        <p:nvSpPr>
          <p:cNvPr id="8" name="TextBox 7"/>
          <p:cNvSpPr txBox="1"/>
          <p:nvPr/>
        </p:nvSpPr>
        <p:spPr>
          <a:xfrm>
            <a:off x="841248" y="2478024"/>
            <a:ext cx="10515600" cy="640080"/>
          </a:xfrm>
          <a:prstGeom prst="rect">
            <a:avLst/>
          </a:prstGeom>
          <a:noFill/>
        </p:spPr>
        <p:txBody>
          <a:bodyPr wrap="square" lIns="0" rIns="0" tIns="0" bIns="0" anchor="t">
            <a:spAutoFit/>
          </a:bodyPr>
          <a:lstStyle/>
          <a:p>
            <a:pPr algn="l">
              <a:lnSpc>
                <a:spcPct val="125000"/>
              </a:lnSpc>
            </a:pPr>
            <a:r>
              <a:rPr sz="1150" b="0" i="0">
                <a:solidFill>
                  <a:srgbClr val="334155"/>
                </a:solidFill>
                <a:latin typeface="Aptos"/>
              </a:rPr>
              <a:t>If a number is wrong, L1 has no way to know. They will quote it to a customer, or close a case on it. Whatever we ship to L1 has to be right BEFORE they see it — and you are the only people who can tell.</a:t>
            </a:r>
          </a:p>
        </p:txBody>
      </p:sp>
      <p:sp>
        <p:nvSpPr>
          <p:cNvPr id="9" name="Rounded Rectangle 8"/>
          <p:cNvSpPr/>
          <p:nvPr/>
        </p:nvSpPr>
        <p:spPr>
          <a:xfrm>
            <a:off x="566928" y="3383280"/>
            <a:ext cx="11064240" cy="1280160"/>
          </a:xfrm>
          <a:prstGeom prst="roundRect">
            <a:avLst>
              <a:gd name="adj" fmla="val 6000"/>
            </a:avLst>
          </a:prstGeom>
          <a:solidFill>
            <a:srgbClr val="ECFDF3"/>
          </a:solidFill>
          <a:ln w="9525">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3566160"/>
            <a:ext cx="10515600" cy="256032"/>
          </a:xfrm>
          <a:prstGeom prst="rect">
            <a:avLst/>
          </a:prstGeom>
          <a:noFill/>
        </p:spPr>
        <p:txBody>
          <a:bodyPr wrap="square" lIns="0" rIns="0" tIns="0" bIns="0" anchor="t">
            <a:spAutoFit/>
          </a:bodyPr>
          <a:lstStyle/>
          <a:p>
            <a:pPr algn="l">
              <a:lnSpc>
                <a:spcPct val="115000"/>
              </a:lnSpc>
            </a:pPr>
            <a:r>
              <a:rPr sz="1400" b="1" i="0">
                <a:solidFill>
                  <a:srgbClr val="0F172A"/>
                </a:solidFill>
                <a:latin typeface="Aptos"/>
              </a:rPr>
              <a:t>You already know what the truth looks like</a:t>
            </a:r>
          </a:p>
        </p:txBody>
      </p:sp>
      <p:sp>
        <p:nvSpPr>
          <p:cNvPr id="11" name="TextBox 10"/>
          <p:cNvSpPr txBox="1"/>
          <p:nvPr/>
        </p:nvSpPr>
        <p:spPr>
          <a:xfrm>
            <a:off x="841248" y="3895344"/>
            <a:ext cx="10515600" cy="640080"/>
          </a:xfrm>
          <a:prstGeom prst="rect">
            <a:avLst/>
          </a:prstGeom>
          <a:noFill/>
        </p:spPr>
        <p:txBody>
          <a:bodyPr wrap="square" lIns="0" rIns="0" tIns="0" bIns="0" anchor="t">
            <a:spAutoFit/>
          </a:bodyPr>
          <a:lstStyle/>
          <a:p>
            <a:pPr algn="l">
              <a:lnSpc>
                <a:spcPct val="125000"/>
              </a:lnSpc>
            </a:pPr>
            <a:r>
              <a:rPr sz="1150" b="0" i="0">
                <a:solidFill>
                  <a:srgbClr val="334155"/>
                </a:solidFill>
                <a:latin typeface="Aptos"/>
              </a:rPr>
              <a:t>You have watched Semati fail at 55% on a normal day. You know activation errors that mean nothing and ones that mean everything. That judgement is not in the code — it is in your heads, and I need it in the rules.</a:t>
            </a:r>
          </a:p>
        </p:txBody>
      </p:sp>
      <p:sp>
        <p:nvSpPr>
          <p:cNvPr id="12" name="Rounded Rectangle 11"/>
          <p:cNvSpPr/>
          <p:nvPr/>
        </p:nvSpPr>
        <p:spPr>
          <a:xfrm>
            <a:off x="566928" y="4800600"/>
            <a:ext cx="11064240" cy="1280160"/>
          </a:xfrm>
          <a:prstGeom prst="roundRect">
            <a:avLst>
              <a:gd name="adj" fmla="val 6000"/>
            </a:avLst>
          </a:prstGeom>
          <a:solidFill>
            <a:srgbClr val="EFF6FF"/>
          </a:solidFill>
          <a:ln w="952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4983480"/>
            <a:ext cx="10515600" cy="256032"/>
          </a:xfrm>
          <a:prstGeom prst="rect">
            <a:avLst/>
          </a:prstGeom>
          <a:noFill/>
        </p:spPr>
        <p:txBody>
          <a:bodyPr wrap="square" lIns="0" rIns="0" tIns="0" bIns="0" anchor="t">
            <a:spAutoFit/>
          </a:bodyPr>
          <a:lstStyle/>
          <a:p>
            <a:pPr algn="l">
              <a:lnSpc>
                <a:spcPct val="115000"/>
              </a:lnSpc>
            </a:pPr>
            <a:r>
              <a:rPr sz="1400" b="1" i="0">
                <a:solidFill>
                  <a:srgbClr val="0F172A"/>
                </a:solidFill>
                <a:latin typeface="Aptos"/>
              </a:rPr>
              <a:t>A week of real use beats any amount of demo</a:t>
            </a:r>
          </a:p>
        </p:txBody>
      </p:sp>
      <p:sp>
        <p:nvSpPr>
          <p:cNvPr id="14" name="TextBox 13"/>
          <p:cNvSpPr txBox="1"/>
          <p:nvPr/>
        </p:nvSpPr>
        <p:spPr>
          <a:xfrm>
            <a:off x="841248" y="5312664"/>
            <a:ext cx="10515600" cy="640080"/>
          </a:xfrm>
          <a:prstGeom prst="rect">
            <a:avLst/>
          </a:prstGeom>
          <a:noFill/>
        </p:spPr>
        <p:txBody>
          <a:bodyPr wrap="square" lIns="0" rIns="0" tIns="0" bIns="0" anchor="t">
            <a:spAutoFit/>
          </a:bodyPr>
          <a:lstStyle/>
          <a:p>
            <a:pPr algn="l">
              <a:lnSpc>
                <a:spcPct val="125000"/>
              </a:lnSpc>
            </a:pPr>
            <a:r>
              <a:rPr sz="1150" b="0" i="0">
                <a:solidFill>
                  <a:srgbClr val="334155"/>
                </a:solidFill>
                <a:latin typeface="Aptos"/>
              </a:rPr>
              <a:t>Between sessions you use it on real cases. Everything that looks wrong, feels noisy, or is missing gets logged. We review it together the next morning. That loop is the actual deliverable.</a:t>
            </a:r>
          </a:p>
        </p:txBody>
      </p:sp>
      <p:sp>
        <p:nvSpPr>
          <p:cNvPr id="15" name="Rounded Rectangle 14"/>
          <p:cNvSpPr/>
          <p:nvPr/>
        </p:nvSpPr>
        <p:spPr>
          <a:xfrm>
            <a:off x="566928" y="6309360"/>
            <a:ext cx="11064240" cy="457200"/>
          </a:xfrm>
          <a:prstGeom prst="roundRect">
            <a:avLst>
              <a:gd name="adj" fmla="val 6000"/>
            </a:avLst>
          </a:prstGeom>
          <a:solidFill>
            <a:srgbClr val="ECFDF3"/>
          </a:solidFill>
          <a:ln w="9525">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6309360"/>
            <a:ext cx="10515600" cy="457200"/>
          </a:xfrm>
          <a:prstGeom prst="rect">
            <a:avLst/>
          </a:prstGeom>
          <a:noFill/>
        </p:spPr>
        <p:txBody>
          <a:bodyPr wrap="square" lIns="0" rIns="0" tIns="0" bIns="0" anchor="ctr">
            <a:spAutoFit/>
          </a:bodyPr>
          <a:lstStyle/>
          <a:p>
            <a:pPr algn="l">
              <a:lnSpc>
                <a:spcPct val="115000"/>
              </a:lnSpc>
            </a:pPr>
            <a:r>
              <a:rPr sz="1200" b="0" i="0">
                <a:solidFill>
                  <a:srgbClr val="0F172A"/>
                </a:solidFill>
                <a:latin typeface="Aptos"/>
              </a:rPr>
              <a:t>L1 workshops start only once this review closes. If that means a delay, the delay is the right call.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7315200" cy="182880"/>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THE WEEK</a:t>
            </a:r>
          </a:p>
        </p:txBody>
      </p:sp>
      <p:sp>
        <p:nvSpPr>
          <p:cNvPr id="3" name="TextBox 2"/>
          <p:cNvSpPr txBox="1"/>
          <p:nvPr/>
        </p:nvSpPr>
        <p:spPr>
          <a:xfrm>
            <a:off x="566928" y="621792"/>
            <a:ext cx="10058400" cy="411480"/>
          </a:xfrm>
          <a:prstGeom prst="rect">
            <a:avLst/>
          </a:prstGeom>
          <a:noFill/>
        </p:spPr>
        <p:txBody>
          <a:bodyPr wrap="square" lIns="0" rIns="0" tIns="0" bIns="0" anchor="t">
            <a:spAutoFit/>
          </a:bodyPr>
          <a:lstStyle/>
          <a:p>
            <a:pPr algn="l">
              <a:lnSpc>
                <a:spcPct val="115000"/>
              </a:lnSpc>
            </a:pPr>
            <a:r>
              <a:rPr sz="2400" b="1" i="0">
                <a:solidFill>
                  <a:srgbClr val="0F172A"/>
                </a:solidFill>
                <a:latin typeface="Aptos"/>
              </a:rPr>
              <a:t>Three sessions, five days, one feedback loop</a:t>
            </a:r>
          </a:p>
        </p:txBody>
      </p:sp>
      <p:sp>
        <p:nvSpPr>
          <p:cNvPr id="4" name="Rectangle 3"/>
          <p:cNvSpPr/>
          <p:nvPr/>
        </p:nvSpPr>
        <p:spPr>
          <a:xfrm>
            <a:off x="566928" y="1133856"/>
            <a:ext cx="64008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16736"/>
            <a:ext cx="11064240" cy="457200"/>
          </a:xfrm>
          <a:prstGeom prst="rect">
            <a:avLst/>
          </a:prstGeom>
          <a:noFill/>
        </p:spPr>
        <p:txBody>
          <a:bodyPr wrap="square" lIns="0" rIns="0" tIns="0" bIns="0" anchor="t">
            <a:spAutoFit/>
          </a:bodyPr>
          <a:lstStyle/>
          <a:p>
            <a:pPr algn="l">
              <a:lnSpc>
                <a:spcPct val="115000"/>
              </a:lnSpc>
            </a:pPr>
            <a:r>
              <a:rPr sz="1200" b="0" i="0">
                <a:solidFill>
                  <a:srgbClr val="64748B"/>
                </a:solidFill>
                <a:latin typeface="Aptos"/>
              </a:rPr>
              <a:t>The work between the sessions matters more than the sessions.</a:t>
            </a:r>
          </a:p>
        </p:txBody>
      </p:sp>
      <p:sp>
        <p:nvSpPr>
          <p:cNvPr id="6" name="Rounded Rectangle 5"/>
          <p:cNvSpPr/>
          <p:nvPr/>
        </p:nvSpPr>
        <p:spPr>
          <a:xfrm>
            <a:off x="566928" y="1965960"/>
            <a:ext cx="3566160" cy="3383280"/>
          </a:xfrm>
          <a:prstGeom prst="roundRect">
            <a:avLst>
              <a:gd name="adj" fmla="val 6000"/>
            </a:avLst>
          </a:prstGeom>
          <a:solidFill>
            <a:srgbClr val="ECFDF3"/>
          </a:solidFill>
          <a:ln w="9525">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148840"/>
            <a:ext cx="3017520" cy="219456"/>
          </a:xfrm>
          <a:prstGeom prst="rect">
            <a:avLst/>
          </a:prstGeom>
          <a:noFill/>
        </p:spPr>
        <p:txBody>
          <a:bodyPr wrap="square" lIns="0" rIns="0" tIns="0" bIns="0" anchor="t">
            <a:spAutoFit/>
          </a:bodyPr>
          <a:lstStyle/>
          <a:p>
            <a:pPr algn="l">
              <a:lnSpc>
                <a:spcPct val="115000"/>
              </a:lnSpc>
            </a:pPr>
            <a:r>
              <a:rPr sz="1000" b="1" i="0">
                <a:solidFill>
                  <a:srgbClr val="008A47"/>
                </a:solidFill>
                <a:latin typeface="Aptos"/>
              </a:rPr>
              <a:t>SESSION 1</a:t>
            </a:r>
          </a:p>
        </p:txBody>
      </p:sp>
      <p:sp>
        <p:nvSpPr>
          <p:cNvPr id="8" name="TextBox 7"/>
          <p:cNvSpPr txBox="1"/>
          <p:nvPr/>
        </p:nvSpPr>
        <p:spPr>
          <a:xfrm>
            <a:off x="822960" y="2423160"/>
            <a:ext cx="3108960" cy="310896"/>
          </a:xfrm>
          <a:prstGeom prst="rect">
            <a:avLst/>
          </a:prstGeom>
          <a:noFill/>
        </p:spPr>
        <p:txBody>
          <a:bodyPr wrap="square" lIns="0" rIns="0" tIns="0" bIns="0" anchor="t">
            <a:spAutoFit/>
          </a:bodyPr>
          <a:lstStyle/>
          <a:p>
            <a:pPr algn="l">
              <a:lnSpc>
                <a:spcPct val="115000"/>
              </a:lnSpc>
            </a:pPr>
            <a:r>
              <a:rPr sz="1500" b="1" i="0">
                <a:solidFill>
                  <a:srgbClr val="0F172A"/>
                </a:solidFill>
                <a:latin typeface="Aptos"/>
              </a:rPr>
              <a:t>Is the data TRUE?</a:t>
            </a:r>
          </a:p>
        </p:txBody>
      </p:sp>
      <p:sp>
        <p:nvSpPr>
          <p:cNvPr id="9" name="Rectangle 8"/>
          <p:cNvSpPr/>
          <p:nvPr/>
        </p:nvSpPr>
        <p:spPr>
          <a:xfrm>
            <a:off x="822960" y="2852928"/>
            <a:ext cx="411480" cy="27432"/>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054096"/>
            <a:ext cx="3108960" cy="347472"/>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 Architecture &amp; lineage</a:t>
            </a:r>
          </a:p>
        </p:txBody>
      </p:sp>
      <p:sp>
        <p:nvSpPr>
          <p:cNvPr id="11" name="TextBox 10"/>
          <p:cNvSpPr txBox="1"/>
          <p:nvPr/>
        </p:nvSpPr>
        <p:spPr>
          <a:xfrm>
            <a:off x="822960" y="3438144"/>
            <a:ext cx="3108960" cy="347472"/>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 Sync, lag &amp; staleness</a:t>
            </a:r>
          </a:p>
        </p:txBody>
      </p:sp>
      <p:sp>
        <p:nvSpPr>
          <p:cNvPr id="12" name="TextBox 11"/>
          <p:cNvSpPr txBox="1"/>
          <p:nvPr/>
        </p:nvSpPr>
        <p:spPr>
          <a:xfrm>
            <a:off x="822960" y="3822191"/>
            <a:ext cx="3108960" cy="347472"/>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 Every definition on the dashboard</a:t>
            </a:r>
          </a:p>
        </p:txBody>
      </p:sp>
      <p:sp>
        <p:nvSpPr>
          <p:cNvPr id="13" name="TextBox 12"/>
          <p:cNvSpPr txBox="1"/>
          <p:nvPr/>
        </p:nvSpPr>
        <p:spPr>
          <a:xfrm>
            <a:off x="822960" y="4206240"/>
            <a:ext cx="3108960" cy="347472"/>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 Attribution traps</a:t>
            </a:r>
          </a:p>
        </p:txBody>
      </p:sp>
      <p:sp>
        <p:nvSpPr>
          <p:cNvPr id="14" name="TextBox 13"/>
          <p:cNvSpPr txBox="1"/>
          <p:nvPr/>
        </p:nvSpPr>
        <p:spPr>
          <a:xfrm>
            <a:off x="822960" y="4590288"/>
            <a:ext cx="3108960" cy="347472"/>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 What we can and cannot see</a:t>
            </a:r>
          </a:p>
        </p:txBody>
      </p:sp>
      <p:sp>
        <p:nvSpPr>
          <p:cNvPr id="15" name="Rounded Rectangle 14"/>
          <p:cNvSpPr/>
          <p:nvPr/>
        </p:nvSpPr>
        <p:spPr>
          <a:xfrm>
            <a:off x="822960" y="5029200"/>
            <a:ext cx="3054096" cy="182880"/>
          </a:xfrm>
          <a:prstGeom prst="roundRect">
            <a:avLst>
              <a:gd name="adj" fmla="val 6000"/>
            </a:avLst>
          </a:prstGeom>
          <a:solidFill>
            <a:srgbClr val="ECF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992624"/>
            <a:ext cx="3108960" cy="219456"/>
          </a:xfrm>
          <a:prstGeom prst="rect">
            <a:avLst/>
          </a:prstGeom>
          <a:noFill/>
        </p:spPr>
        <p:txBody>
          <a:bodyPr wrap="square" lIns="0" rIns="0" tIns="0" bIns="0" anchor="t">
            <a:spAutoFit/>
          </a:bodyPr>
          <a:lstStyle/>
          <a:p>
            <a:pPr algn="l">
              <a:lnSpc>
                <a:spcPct val="115000"/>
              </a:lnSpc>
            </a:pPr>
            <a:r>
              <a:rPr sz="1050" b="1" i="0">
                <a:solidFill>
                  <a:srgbClr val="008A47"/>
                </a:solidFill>
                <a:latin typeface="Aptos"/>
              </a:rPr>
              <a:t>→ Sign off 12 definitions</a:t>
            </a:r>
          </a:p>
        </p:txBody>
      </p:sp>
      <p:sp>
        <p:nvSpPr>
          <p:cNvPr id="17" name="Rounded Rectangle 16"/>
          <p:cNvSpPr/>
          <p:nvPr/>
        </p:nvSpPr>
        <p:spPr>
          <a:xfrm>
            <a:off x="4315968" y="1965960"/>
            <a:ext cx="3566160" cy="3383280"/>
          </a:xfrm>
          <a:prstGeom prst="roundRect">
            <a:avLst>
              <a:gd name="adj" fmla="val 6000"/>
            </a:avLst>
          </a:prstGeom>
          <a:solidFill>
            <a:srgbClr val="EFF6FF"/>
          </a:solidFill>
          <a:ln w="952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2148840"/>
            <a:ext cx="3017520" cy="219456"/>
          </a:xfrm>
          <a:prstGeom prst="rect">
            <a:avLst/>
          </a:prstGeom>
          <a:noFill/>
        </p:spPr>
        <p:txBody>
          <a:bodyPr wrap="square" lIns="0" rIns="0" tIns="0" bIns="0" anchor="t">
            <a:spAutoFit/>
          </a:bodyPr>
          <a:lstStyle/>
          <a:p>
            <a:pPr algn="l">
              <a:lnSpc>
                <a:spcPct val="115000"/>
              </a:lnSpc>
            </a:pPr>
            <a:r>
              <a:rPr sz="1000" b="1" i="0">
                <a:solidFill>
                  <a:srgbClr val="1D4ED8"/>
                </a:solidFill>
                <a:latin typeface="Aptos"/>
              </a:rPr>
              <a:t>SESSION 2</a:t>
            </a:r>
          </a:p>
        </p:txBody>
      </p:sp>
      <p:sp>
        <p:nvSpPr>
          <p:cNvPr id="19" name="TextBox 18"/>
          <p:cNvSpPr txBox="1"/>
          <p:nvPr/>
        </p:nvSpPr>
        <p:spPr>
          <a:xfrm>
            <a:off x="4572000" y="2423160"/>
            <a:ext cx="3108960" cy="310896"/>
          </a:xfrm>
          <a:prstGeom prst="rect">
            <a:avLst/>
          </a:prstGeom>
          <a:noFill/>
        </p:spPr>
        <p:txBody>
          <a:bodyPr wrap="square" lIns="0" rIns="0" tIns="0" bIns="0" anchor="t">
            <a:spAutoFit/>
          </a:bodyPr>
          <a:lstStyle/>
          <a:p>
            <a:pPr algn="l">
              <a:lnSpc>
                <a:spcPct val="115000"/>
              </a:lnSpc>
            </a:pPr>
            <a:r>
              <a:rPr sz="1500" b="1" i="0">
                <a:solidFill>
                  <a:srgbClr val="0F172A"/>
                </a:solidFill>
                <a:latin typeface="Aptos"/>
              </a:rPr>
              <a:t>Are the ALERTS right?</a:t>
            </a:r>
          </a:p>
        </p:txBody>
      </p:sp>
      <p:sp>
        <p:nvSpPr>
          <p:cNvPr id="20" name="Rectangle 19"/>
          <p:cNvSpPr/>
          <p:nvPr/>
        </p:nvSpPr>
        <p:spPr>
          <a:xfrm>
            <a:off x="4572000" y="2852928"/>
            <a:ext cx="411480" cy="2743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0" y="3054096"/>
            <a:ext cx="3108960" cy="347472"/>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 How a rule evaluates</a:t>
            </a:r>
          </a:p>
        </p:txBody>
      </p:sp>
      <p:sp>
        <p:nvSpPr>
          <p:cNvPr id="22" name="TextBox 21"/>
          <p:cNvSpPr txBox="1"/>
          <p:nvPr/>
        </p:nvSpPr>
        <p:spPr>
          <a:xfrm>
            <a:off x="4572000" y="3438144"/>
            <a:ext cx="3108960" cy="347472"/>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 All 43 rules by severity</a:t>
            </a:r>
          </a:p>
        </p:txBody>
      </p:sp>
      <p:sp>
        <p:nvSpPr>
          <p:cNvPr id="23" name="TextBox 22"/>
          <p:cNvSpPr txBox="1"/>
          <p:nvPr/>
        </p:nvSpPr>
        <p:spPr>
          <a:xfrm>
            <a:off x="4572000" y="3822191"/>
            <a:ext cx="3108960" cy="347472"/>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 Baselines vs absolute thresholds</a:t>
            </a:r>
          </a:p>
        </p:txBody>
      </p:sp>
      <p:sp>
        <p:nvSpPr>
          <p:cNvPr id="24" name="TextBox 23"/>
          <p:cNvSpPr txBox="1"/>
          <p:nvPr/>
        </p:nvSpPr>
        <p:spPr>
          <a:xfrm>
            <a:off x="4572000" y="4206240"/>
            <a:ext cx="3108960" cy="347472"/>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 INC0016809 — the miss</a:t>
            </a:r>
          </a:p>
        </p:txBody>
      </p:sp>
      <p:sp>
        <p:nvSpPr>
          <p:cNvPr id="25" name="TextBox 24"/>
          <p:cNvSpPr txBox="1"/>
          <p:nvPr/>
        </p:nvSpPr>
        <p:spPr>
          <a:xfrm>
            <a:off x="4572000" y="4590288"/>
            <a:ext cx="3108960" cy="347472"/>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 Correlation, escalation, SLA</a:t>
            </a:r>
          </a:p>
        </p:txBody>
      </p:sp>
      <p:sp>
        <p:nvSpPr>
          <p:cNvPr id="26" name="Rounded Rectangle 25"/>
          <p:cNvSpPr/>
          <p:nvPr/>
        </p:nvSpPr>
        <p:spPr>
          <a:xfrm>
            <a:off x="4572000" y="5029200"/>
            <a:ext cx="3054096" cy="182880"/>
          </a:xfrm>
          <a:prstGeom prst="roundRect">
            <a:avLst>
              <a:gd name="adj" fmla="val 6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0" y="4992624"/>
            <a:ext cx="3108960" cy="219456"/>
          </a:xfrm>
          <a:prstGeom prst="rect">
            <a:avLst/>
          </a:prstGeom>
          <a:noFill/>
        </p:spPr>
        <p:txBody>
          <a:bodyPr wrap="square" lIns="0" rIns="0" tIns="0" bIns="0" anchor="t">
            <a:spAutoFit/>
          </a:bodyPr>
          <a:lstStyle/>
          <a:p>
            <a:pPr algn="l">
              <a:lnSpc>
                <a:spcPct val="115000"/>
              </a:lnSpc>
            </a:pPr>
            <a:r>
              <a:rPr sz="1050" b="1" i="0">
                <a:solidFill>
                  <a:srgbClr val="1D4ED8"/>
                </a:solidFill>
                <a:latin typeface="Aptos"/>
              </a:rPr>
              <a:t>→ Sign off every threshold</a:t>
            </a:r>
          </a:p>
        </p:txBody>
      </p:sp>
      <p:sp>
        <p:nvSpPr>
          <p:cNvPr id="28" name="Rounded Rectangle 27"/>
          <p:cNvSpPr/>
          <p:nvPr/>
        </p:nvSpPr>
        <p:spPr>
          <a:xfrm>
            <a:off x="8065007" y="1965960"/>
            <a:ext cx="3566160" cy="3383280"/>
          </a:xfrm>
          <a:prstGeom prst="roundRect">
            <a:avLst>
              <a:gd name="adj" fmla="val 6000"/>
            </a:avLst>
          </a:prstGeom>
          <a:solidFill>
            <a:srgbClr val="F5F3FF"/>
          </a:solidFill>
          <a:ln w="9525">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39" y="2148840"/>
            <a:ext cx="3017520" cy="219456"/>
          </a:xfrm>
          <a:prstGeom prst="rect">
            <a:avLst/>
          </a:prstGeom>
          <a:noFill/>
        </p:spPr>
        <p:txBody>
          <a:bodyPr wrap="square" lIns="0" rIns="0" tIns="0" bIns="0" anchor="t">
            <a:spAutoFit/>
          </a:bodyPr>
          <a:lstStyle/>
          <a:p>
            <a:pPr algn="l">
              <a:lnSpc>
                <a:spcPct val="115000"/>
              </a:lnSpc>
            </a:pPr>
            <a:r>
              <a:rPr sz="1000" b="1" i="0">
                <a:solidFill>
                  <a:srgbClr val="6D28D9"/>
                </a:solidFill>
                <a:latin typeface="Aptos"/>
              </a:rPr>
              <a:t>SESSION 3</a:t>
            </a:r>
          </a:p>
        </p:txBody>
      </p:sp>
      <p:sp>
        <p:nvSpPr>
          <p:cNvPr id="30" name="TextBox 29"/>
          <p:cNvSpPr txBox="1"/>
          <p:nvPr/>
        </p:nvSpPr>
        <p:spPr>
          <a:xfrm>
            <a:off x="8321039" y="2423160"/>
            <a:ext cx="3108960" cy="310896"/>
          </a:xfrm>
          <a:prstGeom prst="rect">
            <a:avLst/>
          </a:prstGeom>
          <a:noFill/>
        </p:spPr>
        <p:txBody>
          <a:bodyPr wrap="square" lIns="0" rIns="0" tIns="0" bIns="0" anchor="t">
            <a:spAutoFit/>
          </a:bodyPr>
          <a:lstStyle/>
          <a:p>
            <a:pPr algn="l">
              <a:lnSpc>
                <a:spcPct val="115000"/>
              </a:lnSpc>
            </a:pPr>
            <a:r>
              <a:rPr sz="1500" b="1" i="0">
                <a:solidFill>
                  <a:srgbClr val="0F172A"/>
                </a:solidFill>
                <a:latin typeface="Aptos"/>
              </a:rPr>
              <a:t>Is it USEFUL?</a:t>
            </a:r>
          </a:p>
        </p:txBody>
      </p:sp>
      <p:sp>
        <p:nvSpPr>
          <p:cNvPr id="31" name="Rectangle 30"/>
          <p:cNvSpPr/>
          <p:nvPr/>
        </p:nvSpPr>
        <p:spPr>
          <a:xfrm>
            <a:off x="8321039" y="2852928"/>
            <a:ext cx="411480" cy="27432"/>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21039" y="3054096"/>
            <a:ext cx="3108960" cy="347472"/>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 Troubleshoot board</a:t>
            </a:r>
          </a:p>
        </p:txBody>
      </p:sp>
      <p:sp>
        <p:nvSpPr>
          <p:cNvPr id="33" name="TextBox 32"/>
          <p:cNvSpPr txBox="1"/>
          <p:nvPr/>
        </p:nvSpPr>
        <p:spPr>
          <a:xfrm>
            <a:off x="8321039" y="3438144"/>
            <a:ext cx="3108960" cy="347472"/>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 Timeline &amp; Subscriber 360</a:t>
            </a:r>
          </a:p>
        </p:txBody>
      </p:sp>
      <p:sp>
        <p:nvSpPr>
          <p:cNvPr id="34" name="TextBox 33"/>
          <p:cNvSpPr txBox="1"/>
          <p:nvPr/>
        </p:nvSpPr>
        <p:spPr>
          <a:xfrm>
            <a:off x="8321039" y="3822191"/>
            <a:ext cx="3108960" cy="347472"/>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 Three real incidents, replayed</a:t>
            </a:r>
          </a:p>
        </p:txBody>
      </p:sp>
      <p:sp>
        <p:nvSpPr>
          <p:cNvPr id="35" name="TextBox 34"/>
          <p:cNvSpPr txBox="1"/>
          <p:nvPr/>
        </p:nvSpPr>
        <p:spPr>
          <a:xfrm>
            <a:off x="8321039" y="4206240"/>
            <a:ext cx="3108960" cy="347472"/>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 Yusr assistant</a:t>
            </a:r>
          </a:p>
        </p:txBody>
      </p:sp>
      <p:sp>
        <p:nvSpPr>
          <p:cNvPr id="36" name="TextBox 35"/>
          <p:cNvSpPr txBox="1"/>
          <p:nvPr/>
        </p:nvSpPr>
        <p:spPr>
          <a:xfrm>
            <a:off x="8321039" y="4590288"/>
            <a:ext cx="3108960" cy="347472"/>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 Ownership &amp; cadence</a:t>
            </a:r>
          </a:p>
        </p:txBody>
      </p:sp>
      <p:sp>
        <p:nvSpPr>
          <p:cNvPr id="37" name="Rounded Rectangle 36"/>
          <p:cNvSpPr/>
          <p:nvPr/>
        </p:nvSpPr>
        <p:spPr>
          <a:xfrm>
            <a:off x="8321039" y="5029200"/>
            <a:ext cx="3054096" cy="182880"/>
          </a:xfrm>
          <a:prstGeom prst="roundRect">
            <a:avLst>
              <a:gd name="adj" fmla="val 6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21039" y="4992624"/>
            <a:ext cx="3108960" cy="219456"/>
          </a:xfrm>
          <a:prstGeom prst="rect">
            <a:avLst/>
          </a:prstGeom>
          <a:noFill/>
        </p:spPr>
        <p:txBody>
          <a:bodyPr wrap="square" lIns="0" rIns="0" tIns="0" bIns="0" anchor="t">
            <a:spAutoFit/>
          </a:bodyPr>
          <a:lstStyle/>
          <a:p>
            <a:pPr algn="l">
              <a:lnSpc>
                <a:spcPct val="115000"/>
              </a:lnSpc>
            </a:pPr>
            <a:r>
              <a:rPr sz="1050" b="1" i="0">
                <a:solidFill>
                  <a:srgbClr val="6D28D9"/>
                </a:solidFill>
                <a:latin typeface="Aptos"/>
              </a:rPr>
              <a:t>→ Verdict + ranked backlog</a:t>
            </a:r>
          </a:p>
        </p:txBody>
      </p:sp>
      <p:sp>
        <p:nvSpPr>
          <p:cNvPr id="39" name="Rounded Rectangle 38"/>
          <p:cNvSpPr/>
          <p:nvPr/>
        </p:nvSpPr>
        <p:spPr>
          <a:xfrm>
            <a:off x="566928" y="5532120"/>
            <a:ext cx="11064240" cy="1051560"/>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248" y="5705856"/>
            <a:ext cx="10607040" cy="237744"/>
          </a:xfrm>
          <a:prstGeom prst="rect">
            <a:avLst/>
          </a:prstGeom>
          <a:noFill/>
        </p:spPr>
        <p:txBody>
          <a:bodyPr wrap="square" lIns="0" rIns="0" tIns="0" bIns="0" anchor="t">
            <a:spAutoFit/>
          </a:bodyPr>
          <a:lstStyle/>
          <a:p>
            <a:pPr algn="l">
              <a:lnSpc>
                <a:spcPct val="115000"/>
              </a:lnSpc>
            </a:pPr>
            <a:r>
              <a:rPr sz="1000" b="1" i="0">
                <a:solidFill>
                  <a:srgbClr val="008A47"/>
                </a:solidFill>
                <a:latin typeface="Aptos"/>
              </a:rPr>
              <a:t>BETWEEN SESSIONS — the part that decides whether this works</a:t>
            </a:r>
          </a:p>
        </p:txBody>
      </p:sp>
      <p:sp>
        <p:nvSpPr>
          <p:cNvPr id="41" name="TextBox 40"/>
          <p:cNvSpPr txBox="1"/>
          <p:nvPr/>
        </p:nvSpPr>
        <p:spPr>
          <a:xfrm>
            <a:off x="841248" y="5998464"/>
            <a:ext cx="10607040" cy="502920"/>
          </a:xfrm>
          <a:prstGeom prst="rect">
            <a:avLst/>
          </a:prstGeom>
          <a:noFill/>
        </p:spPr>
        <p:txBody>
          <a:bodyPr wrap="square" lIns="0" rIns="0" tIns="0" bIns="0" anchor="t">
            <a:spAutoFit/>
          </a:bodyPr>
          <a:lstStyle/>
          <a:p>
            <a:pPr algn="l">
              <a:lnSpc>
                <a:spcPct val="125000"/>
              </a:lnSpc>
            </a:pPr>
            <a:r>
              <a:rPr sz="1100" b="0" i="0">
                <a:solidFill>
                  <a:srgbClr val="334155"/>
                </a:solidFill>
                <a:latin typeface="Aptos"/>
              </a:rPr>
              <a:t>Use the console on real cases · log anything wrong, noisy or missing in the review log · 15-minute stand-up each morning to triage what you logged. Nothing is too small — the reseller numbers were wrong for weeks because the join looked fine.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7315200" cy="182880"/>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THE LOOP</a:t>
            </a:r>
          </a:p>
        </p:txBody>
      </p:sp>
      <p:sp>
        <p:nvSpPr>
          <p:cNvPr id="3" name="TextBox 2"/>
          <p:cNvSpPr txBox="1"/>
          <p:nvPr/>
        </p:nvSpPr>
        <p:spPr>
          <a:xfrm>
            <a:off x="566928" y="621792"/>
            <a:ext cx="10058400" cy="411480"/>
          </a:xfrm>
          <a:prstGeom prst="rect">
            <a:avLst/>
          </a:prstGeom>
          <a:noFill/>
        </p:spPr>
        <p:txBody>
          <a:bodyPr wrap="square" lIns="0" rIns="0" tIns="0" bIns="0" anchor="t">
            <a:spAutoFit/>
          </a:bodyPr>
          <a:lstStyle/>
          <a:p>
            <a:pPr algn="l">
              <a:lnSpc>
                <a:spcPct val="115000"/>
              </a:lnSpc>
            </a:pPr>
            <a:r>
              <a:rPr sz="2400" b="1" i="0">
                <a:solidFill>
                  <a:srgbClr val="0F172A"/>
                </a:solidFill>
                <a:latin typeface="Aptos"/>
              </a:rPr>
              <a:t>How we exchange findings</a:t>
            </a:r>
          </a:p>
        </p:txBody>
      </p:sp>
      <p:sp>
        <p:nvSpPr>
          <p:cNvPr id="4" name="Rectangle 3"/>
          <p:cNvSpPr/>
          <p:nvPr/>
        </p:nvSpPr>
        <p:spPr>
          <a:xfrm>
            <a:off x="566928" y="1133856"/>
            <a:ext cx="64008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16736"/>
            <a:ext cx="11064240" cy="457200"/>
          </a:xfrm>
          <a:prstGeom prst="rect">
            <a:avLst/>
          </a:prstGeom>
          <a:noFill/>
        </p:spPr>
        <p:txBody>
          <a:bodyPr wrap="square" lIns="0" rIns="0" tIns="0" bIns="0" anchor="t">
            <a:spAutoFit/>
          </a:bodyPr>
          <a:lstStyle/>
          <a:p>
            <a:pPr algn="l">
              <a:lnSpc>
                <a:spcPct val="115000"/>
              </a:lnSpc>
            </a:pPr>
            <a:r>
              <a:rPr sz="1200" b="0" i="0">
                <a:solidFill>
                  <a:srgbClr val="64748B"/>
                </a:solidFill>
                <a:latin typeface="Aptos"/>
              </a:rPr>
              <a:t>One place for everything, so no finding is lost in a DM.</a:t>
            </a:r>
          </a:p>
        </p:txBody>
      </p:sp>
      <p:sp>
        <p:nvSpPr>
          <p:cNvPr id="6" name="Rounded Rectangle 5"/>
          <p:cNvSpPr/>
          <p:nvPr/>
        </p:nvSpPr>
        <p:spPr>
          <a:xfrm>
            <a:off x="566928" y="2148840"/>
            <a:ext cx="11064240" cy="1143000"/>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911095"/>
            <a:ext cx="11064240" cy="201168"/>
          </a:xfrm>
          <a:prstGeom prst="rect">
            <a:avLst/>
          </a:prstGeom>
          <a:noFill/>
        </p:spPr>
        <p:txBody>
          <a:bodyPr wrap="square" lIns="0" rIns="0" tIns="0" bIns="0" anchor="t">
            <a:spAutoFit/>
          </a:bodyPr>
          <a:lstStyle/>
          <a:p>
            <a:pPr algn="l">
              <a:lnSpc>
                <a:spcPct val="115000"/>
              </a:lnSpc>
            </a:pPr>
            <a:r>
              <a:rPr sz="900" b="1" i="0">
                <a:solidFill>
                  <a:srgbClr val="64748B"/>
                </a:solidFill>
                <a:latin typeface="Aptos"/>
              </a:rPr>
              <a:t>YOU, DURING THE DAY</a:t>
            </a:r>
          </a:p>
        </p:txBody>
      </p:sp>
      <p:sp>
        <p:nvSpPr>
          <p:cNvPr id="8" name="Rounded Rectangle 7"/>
          <p:cNvSpPr/>
          <p:nvPr/>
        </p:nvSpPr>
        <p:spPr>
          <a:xfrm>
            <a:off x="960120" y="2377440"/>
            <a:ext cx="2286000" cy="685800"/>
          </a:xfrm>
          <a:prstGeom prst="roundRect">
            <a:avLst>
              <a:gd name="adj" fmla="val 6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464308"/>
            <a:ext cx="2286000" cy="237744"/>
          </a:xfrm>
          <a:prstGeom prst="rect">
            <a:avLst/>
          </a:prstGeom>
          <a:noFill/>
        </p:spPr>
        <p:txBody>
          <a:bodyPr wrap="square" lIns="0" rIns="0" tIns="0" bIns="0" anchor="t">
            <a:spAutoFit/>
          </a:bodyPr>
          <a:lstStyle/>
          <a:p>
            <a:pPr algn="ctr">
              <a:lnSpc>
                <a:spcPct val="115000"/>
              </a:lnSpc>
            </a:pPr>
            <a:r>
              <a:rPr sz="1100" b="1" i="0">
                <a:solidFill>
                  <a:srgbClr val="0F172A"/>
                </a:solidFill>
                <a:latin typeface="Aptos"/>
              </a:rPr>
              <a:t>Use it on a real case</a:t>
            </a:r>
          </a:p>
        </p:txBody>
      </p:sp>
      <p:sp>
        <p:nvSpPr>
          <p:cNvPr id="10" name="TextBox 9"/>
          <p:cNvSpPr txBox="1"/>
          <p:nvPr/>
        </p:nvSpPr>
        <p:spPr>
          <a:xfrm>
            <a:off x="960120" y="2729484"/>
            <a:ext cx="2286000" cy="219456"/>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instead of the old way</a:t>
            </a:r>
          </a:p>
        </p:txBody>
      </p:sp>
      <p:sp>
        <p:nvSpPr>
          <p:cNvPr id="11" name="Rounded Rectangle 10"/>
          <p:cNvSpPr/>
          <p:nvPr/>
        </p:nvSpPr>
        <p:spPr>
          <a:xfrm>
            <a:off x="3931920" y="2377440"/>
            <a:ext cx="2286000" cy="685800"/>
          </a:xfrm>
          <a:prstGeom prst="roundRect">
            <a:avLst>
              <a:gd name="adj" fmla="val 6000"/>
            </a:avLst>
          </a:prstGeom>
          <a:solidFill>
            <a:srgbClr val="FFFFFF"/>
          </a:solidFill>
          <a:ln w="1397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31920" y="2464308"/>
            <a:ext cx="2286000" cy="237744"/>
          </a:xfrm>
          <a:prstGeom prst="rect">
            <a:avLst/>
          </a:prstGeom>
          <a:noFill/>
        </p:spPr>
        <p:txBody>
          <a:bodyPr wrap="square" lIns="0" rIns="0" tIns="0" bIns="0" anchor="t">
            <a:spAutoFit/>
          </a:bodyPr>
          <a:lstStyle/>
          <a:p>
            <a:pPr algn="ctr">
              <a:lnSpc>
                <a:spcPct val="115000"/>
              </a:lnSpc>
            </a:pPr>
            <a:r>
              <a:rPr sz="1100" b="1" i="0">
                <a:solidFill>
                  <a:srgbClr val="0F172A"/>
                </a:solidFill>
                <a:latin typeface="Aptos"/>
              </a:rPr>
              <a:t>Something looks off</a:t>
            </a:r>
          </a:p>
        </p:txBody>
      </p:sp>
      <p:sp>
        <p:nvSpPr>
          <p:cNvPr id="13" name="TextBox 12"/>
          <p:cNvSpPr txBox="1"/>
          <p:nvPr/>
        </p:nvSpPr>
        <p:spPr>
          <a:xfrm>
            <a:off x="3931920" y="2729484"/>
            <a:ext cx="2286000" cy="219456"/>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number · alert · gap</a:t>
            </a:r>
          </a:p>
        </p:txBody>
      </p:sp>
      <p:sp>
        <p:nvSpPr>
          <p:cNvPr id="14" name="Rounded Rectangle 13"/>
          <p:cNvSpPr/>
          <p:nvPr/>
        </p:nvSpPr>
        <p:spPr>
          <a:xfrm>
            <a:off x="6903720" y="2377440"/>
            <a:ext cx="2286000" cy="685800"/>
          </a:xfrm>
          <a:prstGeom prst="roundRect">
            <a:avLst>
              <a:gd name="adj" fmla="val 6000"/>
            </a:avLst>
          </a:prstGeom>
          <a:solidFill>
            <a:srgbClr val="FFFFFF"/>
          </a:solidFill>
          <a:ln w="1397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03720" y="2464308"/>
            <a:ext cx="2286000" cy="237744"/>
          </a:xfrm>
          <a:prstGeom prst="rect">
            <a:avLst/>
          </a:prstGeom>
          <a:noFill/>
        </p:spPr>
        <p:txBody>
          <a:bodyPr wrap="square" lIns="0" rIns="0" tIns="0" bIns="0" anchor="t">
            <a:spAutoFit/>
          </a:bodyPr>
          <a:lstStyle/>
          <a:p>
            <a:pPr algn="ctr">
              <a:lnSpc>
                <a:spcPct val="115000"/>
              </a:lnSpc>
            </a:pPr>
            <a:r>
              <a:rPr sz="1100" b="1" i="0">
                <a:solidFill>
                  <a:srgbClr val="0F172A"/>
                </a:solidFill>
                <a:latin typeface="Aptos"/>
              </a:rPr>
              <a:t>Log it</a:t>
            </a:r>
          </a:p>
        </p:txBody>
      </p:sp>
      <p:sp>
        <p:nvSpPr>
          <p:cNvPr id="16" name="TextBox 15"/>
          <p:cNvSpPr txBox="1"/>
          <p:nvPr/>
        </p:nvSpPr>
        <p:spPr>
          <a:xfrm>
            <a:off x="6903720" y="2729484"/>
            <a:ext cx="2286000" cy="219456"/>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review log, 30 seconds</a:t>
            </a:r>
          </a:p>
        </p:txBody>
      </p:sp>
      <p:sp>
        <p:nvSpPr>
          <p:cNvPr id="17" name="Rounded Rectangle 16"/>
          <p:cNvSpPr/>
          <p:nvPr/>
        </p:nvSpPr>
        <p:spPr>
          <a:xfrm>
            <a:off x="9418320" y="2377440"/>
            <a:ext cx="1920240" cy="685800"/>
          </a:xfrm>
          <a:prstGeom prst="roundRect">
            <a:avLst>
              <a:gd name="adj" fmla="val 6000"/>
            </a:avLst>
          </a:prstGeom>
          <a:solidFill>
            <a:srgbClr val="FFFFFF"/>
          </a:solidFill>
          <a:ln w="1397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0" y="2601468"/>
            <a:ext cx="1920240" cy="237744"/>
          </a:xfrm>
          <a:prstGeom prst="rect">
            <a:avLst/>
          </a:prstGeom>
          <a:noFill/>
        </p:spPr>
        <p:txBody>
          <a:bodyPr wrap="square" lIns="0" rIns="0" tIns="0" bIns="0" anchor="ctr">
            <a:spAutoFit/>
          </a:bodyPr>
          <a:lstStyle/>
          <a:p>
            <a:pPr algn="ctr">
              <a:lnSpc>
                <a:spcPct val="115000"/>
              </a:lnSpc>
            </a:pPr>
            <a:r>
              <a:rPr sz="1100" b="1" i="0">
                <a:solidFill>
                  <a:srgbClr val="0F172A"/>
                </a:solidFill>
                <a:latin typeface="Aptos"/>
              </a:rPr>
              <a:t>Keep working</a:t>
            </a:r>
          </a:p>
        </p:txBody>
      </p:sp>
      <p:cxnSp>
        <p:nvCxnSpPr>
          <p:cNvPr id="19" name="Connector 18"/>
          <p:cNvCxnSpPr/>
          <p:nvPr/>
        </p:nvCxnSpPr>
        <p:spPr>
          <a:xfrm>
            <a:off x="3300984" y="2720340"/>
            <a:ext cx="576072" cy="0"/>
          </a:xfrm>
          <a:prstGeom prst="line">
            <a:avLst/>
          </a:prstGeom>
          <a:ln w="2032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72783" y="2720340"/>
            <a:ext cx="576073" cy="0"/>
          </a:xfrm>
          <a:prstGeom prst="line">
            <a:avLst/>
          </a:prstGeom>
          <a:ln w="2032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244584" y="2720340"/>
            <a:ext cx="118872" cy="0"/>
          </a:xfrm>
          <a:prstGeom prst="line">
            <a:avLst/>
          </a:prstGeom>
          <a:ln w="2032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66928" y="3703320"/>
            <a:ext cx="11064240" cy="1143000"/>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465576"/>
            <a:ext cx="11064240" cy="201168"/>
          </a:xfrm>
          <a:prstGeom prst="rect">
            <a:avLst/>
          </a:prstGeom>
          <a:noFill/>
        </p:spPr>
        <p:txBody>
          <a:bodyPr wrap="square" lIns="0" rIns="0" tIns="0" bIns="0" anchor="t">
            <a:spAutoFit/>
          </a:bodyPr>
          <a:lstStyle/>
          <a:p>
            <a:pPr algn="l">
              <a:lnSpc>
                <a:spcPct val="115000"/>
              </a:lnSpc>
            </a:pPr>
            <a:r>
              <a:rPr sz="900" b="1" i="0">
                <a:solidFill>
                  <a:srgbClr val="64748B"/>
                </a:solidFill>
                <a:latin typeface="Aptos"/>
              </a:rPr>
              <a:t>US, NEXT MORNING</a:t>
            </a:r>
          </a:p>
        </p:txBody>
      </p:sp>
      <p:sp>
        <p:nvSpPr>
          <p:cNvPr id="24" name="Rounded Rectangle 23"/>
          <p:cNvSpPr/>
          <p:nvPr/>
        </p:nvSpPr>
        <p:spPr>
          <a:xfrm>
            <a:off x="960120" y="3931920"/>
            <a:ext cx="2286000" cy="685800"/>
          </a:xfrm>
          <a:prstGeom prst="roundRect">
            <a:avLst>
              <a:gd name="adj" fmla="val 6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4018787"/>
            <a:ext cx="2286000" cy="237744"/>
          </a:xfrm>
          <a:prstGeom prst="rect">
            <a:avLst/>
          </a:prstGeom>
          <a:noFill/>
        </p:spPr>
        <p:txBody>
          <a:bodyPr wrap="square" lIns="0" rIns="0" tIns="0" bIns="0" anchor="t">
            <a:spAutoFit/>
          </a:bodyPr>
          <a:lstStyle/>
          <a:p>
            <a:pPr algn="ctr">
              <a:lnSpc>
                <a:spcPct val="115000"/>
              </a:lnSpc>
            </a:pPr>
            <a:r>
              <a:rPr sz="1100" b="1" i="0">
                <a:solidFill>
                  <a:srgbClr val="0F172A"/>
                </a:solidFill>
                <a:latin typeface="Aptos"/>
              </a:rPr>
              <a:t>Triage together</a:t>
            </a:r>
          </a:p>
        </p:txBody>
      </p:sp>
      <p:sp>
        <p:nvSpPr>
          <p:cNvPr id="26" name="TextBox 25"/>
          <p:cNvSpPr txBox="1"/>
          <p:nvPr/>
        </p:nvSpPr>
        <p:spPr>
          <a:xfrm>
            <a:off x="960120" y="4283964"/>
            <a:ext cx="2286000" cy="219456"/>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real / not real</a:t>
            </a:r>
          </a:p>
        </p:txBody>
      </p:sp>
      <p:sp>
        <p:nvSpPr>
          <p:cNvPr id="27" name="Rounded Rectangle 26"/>
          <p:cNvSpPr/>
          <p:nvPr/>
        </p:nvSpPr>
        <p:spPr>
          <a:xfrm>
            <a:off x="3931920" y="3931920"/>
            <a:ext cx="2286000" cy="685800"/>
          </a:xfrm>
          <a:prstGeom prst="roundRect">
            <a:avLst>
              <a:gd name="adj" fmla="val 6000"/>
            </a:avLst>
          </a:prstGeom>
          <a:solidFill>
            <a:srgbClr val="FFFFFF"/>
          </a:solidFill>
          <a:ln w="1397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31920" y="4018787"/>
            <a:ext cx="2286000" cy="237744"/>
          </a:xfrm>
          <a:prstGeom prst="rect">
            <a:avLst/>
          </a:prstGeom>
          <a:noFill/>
        </p:spPr>
        <p:txBody>
          <a:bodyPr wrap="square" lIns="0" rIns="0" tIns="0" bIns="0" anchor="t">
            <a:spAutoFit/>
          </a:bodyPr>
          <a:lstStyle/>
          <a:p>
            <a:pPr algn="ctr">
              <a:lnSpc>
                <a:spcPct val="115000"/>
              </a:lnSpc>
            </a:pPr>
            <a:r>
              <a:rPr sz="1100" b="1" i="0">
                <a:solidFill>
                  <a:srgbClr val="0F172A"/>
                </a:solidFill>
                <a:latin typeface="Aptos"/>
              </a:rPr>
              <a:t>Classify</a:t>
            </a:r>
          </a:p>
        </p:txBody>
      </p:sp>
      <p:sp>
        <p:nvSpPr>
          <p:cNvPr id="29" name="TextBox 28"/>
          <p:cNvSpPr txBox="1"/>
          <p:nvPr/>
        </p:nvSpPr>
        <p:spPr>
          <a:xfrm>
            <a:off x="3931920" y="4283964"/>
            <a:ext cx="2286000" cy="219456"/>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data · rule · UX · gap</a:t>
            </a:r>
          </a:p>
        </p:txBody>
      </p:sp>
      <p:sp>
        <p:nvSpPr>
          <p:cNvPr id="30" name="Rounded Rectangle 29"/>
          <p:cNvSpPr/>
          <p:nvPr/>
        </p:nvSpPr>
        <p:spPr>
          <a:xfrm>
            <a:off x="6903720" y="3931920"/>
            <a:ext cx="2286000" cy="685800"/>
          </a:xfrm>
          <a:prstGeom prst="roundRect">
            <a:avLst>
              <a:gd name="adj" fmla="val 6000"/>
            </a:avLst>
          </a:prstGeom>
          <a:solidFill>
            <a:srgbClr val="FFFFFF"/>
          </a:solidFill>
          <a:ln w="1397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03720" y="4018787"/>
            <a:ext cx="2286000" cy="237744"/>
          </a:xfrm>
          <a:prstGeom prst="rect">
            <a:avLst/>
          </a:prstGeom>
          <a:noFill/>
        </p:spPr>
        <p:txBody>
          <a:bodyPr wrap="square" lIns="0" rIns="0" tIns="0" bIns="0" anchor="t">
            <a:spAutoFit/>
          </a:bodyPr>
          <a:lstStyle/>
          <a:p>
            <a:pPr algn="ctr">
              <a:lnSpc>
                <a:spcPct val="115000"/>
              </a:lnSpc>
            </a:pPr>
            <a:r>
              <a:rPr sz="1100" b="1" i="0">
                <a:solidFill>
                  <a:srgbClr val="0F172A"/>
                </a:solidFill>
                <a:latin typeface="Aptos"/>
              </a:rPr>
              <a:t>Fix or schedule</a:t>
            </a:r>
          </a:p>
        </p:txBody>
      </p:sp>
      <p:sp>
        <p:nvSpPr>
          <p:cNvPr id="32" name="TextBox 31"/>
          <p:cNvSpPr txBox="1"/>
          <p:nvPr/>
        </p:nvSpPr>
        <p:spPr>
          <a:xfrm>
            <a:off x="6903720" y="4283964"/>
            <a:ext cx="2286000" cy="219456"/>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same day if data is wrong</a:t>
            </a:r>
          </a:p>
        </p:txBody>
      </p:sp>
      <p:sp>
        <p:nvSpPr>
          <p:cNvPr id="33" name="Rounded Rectangle 32"/>
          <p:cNvSpPr/>
          <p:nvPr/>
        </p:nvSpPr>
        <p:spPr>
          <a:xfrm>
            <a:off x="9418320" y="3931920"/>
            <a:ext cx="1920240" cy="685800"/>
          </a:xfrm>
          <a:prstGeom prst="roundRect">
            <a:avLst>
              <a:gd name="adj" fmla="val 6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20" y="4018787"/>
            <a:ext cx="1920240" cy="237744"/>
          </a:xfrm>
          <a:prstGeom prst="rect">
            <a:avLst/>
          </a:prstGeom>
          <a:noFill/>
        </p:spPr>
        <p:txBody>
          <a:bodyPr wrap="square" lIns="0" rIns="0" tIns="0" bIns="0" anchor="t">
            <a:spAutoFit/>
          </a:bodyPr>
          <a:lstStyle/>
          <a:p>
            <a:pPr algn="ctr">
              <a:lnSpc>
                <a:spcPct val="115000"/>
              </a:lnSpc>
            </a:pPr>
            <a:r>
              <a:rPr sz="1100" b="1" i="0">
                <a:solidFill>
                  <a:srgbClr val="0F172A"/>
                </a:solidFill>
                <a:latin typeface="Aptos"/>
              </a:rPr>
              <a:t>Close the loop</a:t>
            </a:r>
          </a:p>
        </p:txBody>
      </p:sp>
      <p:sp>
        <p:nvSpPr>
          <p:cNvPr id="35" name="TextBox 34"/>
          <p:cNvSpPr txBox="1"/>
          <p:nvPr/>
        </p:nvSpPr>
        <p:spPr>
          <a:xfrm>
            <a:off x="9418320" y="4283964"/>
            <a:ext cx="1920240" cy="219456"/>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you see the fix</a:t>
            </a:r>
          </a:p>
        </p:txBody>
      </p:sp>
      <p:cxnSp>
        <p:nvCxnSpPr>
          <p:cNvPr id="36" name="Connector 35"/>
          <p:cNvCxnSpPr/>
          <p:nvPr/>
        </p:nvCxnSpPr>
        <p:spPr>
          <a:xfrm>
            <a:off x="3300984" y="4274820"/>
            <a:ext cx="576072" cy="0"/>
          </a:xfrm>
          <a:prstGeom prst="line">
            <a:avLst/>
          </a:prstGeom>
          <a:ln w="2032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272783" y="4274820"/>
            <a:ext cx="576073" cy="0"/>
          </a:xfrm>
          <a:prstGeom prst="line">
            <a:avLst/>
          </a:prstGeom>
          <a:ln w="2032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244584" y="4274820"/>
            <a:ext cx="118872" cy="0"/>
          </a:xfrm>
          <a:prstGeom prst="line">
            <a:avLst/>
          </a:prstGeom>
          <a:ln w="2032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66928" y="4983480"/>
            <a:ext cx="11064240" cy="310896"/>
          </a:xfrm>
          <a:prstGeom prst="roundRect">
            <a:avLst>
              <a:gd name="adj" fmla="val 6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5038344"/>
            <a:ext cx="1938527"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Finding type</a:t>
            </a:r>
          </a:p>
        </p:txBody>
      </p:sp>
      <p:sp>
        <p:nvSpPr>
          <p:cNvPr id="41" name="TextBox 40"/>
          <p:cNvSpPr txBox="1"/>
          <p:nvPr/>
        </p:nvSpPr>
        <p:spPr>
          <a:xfrm>
            <a:off x="2788920" y="5038344"/>
            <a:ext cx="376732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Example</a:t>
            </a:r>
          </a:p>
        </p:txBody>
      </p:sp>
      <p:sp>
        <p:nvSpPr>
          <p:cNvPr id="42" name="TextBox 41"/>
          <p:cNvSpPr txBox="1"/>
          <p:nvPr/>
        </p:nvSpPr>
        <p:spPr>
          <a:xfrm>
            <a:off x="6720840" y="5038344"/>
            <a:ext cx="1938527"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Who fixes</a:t>
            </a:r>
          </a:p>
        </p:txBody>
      </p:sp>
      <p:sp>
        <p:nvSpPr>
          <p:cNvPr id="43" name="TextBox 42"/>
          <p:cNvSpPr txBox="1"/>
          <p:nvPr/>
        </p:nvSpPr>
        <p:spPr>
          <a:xfrm>
            <a:off x="8823960" y="5038344"/>
            <a:ext cx="276148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Target</a:t>
            </a:r>
          </a:p>
        </p:txBody>
      </p:sp>
      <p:sp>
        <p:nvSpPr>
          <p:cNvPr id="44" name="TextBox 43"/>
          <p:cNvSpPr txBox="1"/>
          <p:nvPr/>
        </p:nvSpPr>
        <p:spPr>
          <a:xfrm>
            <a:off x="685800" y="5349240"/>
            <a:ext cx="1938527"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Data wrong</a:t>
            </a:r>
          </a:p>
        </p:txBody>
      </p:sp>
      <p:sp>
        <p:nvSpPr>
          <p:cNvPr id="45" name="TextBox 44"/>
          <p:cNvSpPr txBox="1"/>
          <p:nvPr/>
        </p:nvSpPr>
        <p:spPr>
          <a:xfrm>
            <a:off x="2788920" y="5349240"/>
            <a:ext cx="376732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a KPI disagrees with BSS / prod</a:t>
            </a:r>
          </a:p>
        </p:txBody>
      </p:sp>
      <p:sp>
        <p:nvSpPr>
          <p:cNvPr id="46" name="TextBox 45"/>
          <p:cNvSpPr txBox="1"/>
          <p:nvPr/>
        </p:nvSpPr>
        <p:spPr>
          <a:xfrm>
            <a:off x="6720840" y="5349240"/>
            <a:ext cx="1938527"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console owner</a:t>
            </a:r>
          </a:p>
        </p:txBody>
      </p:sp>
      <p:sp>
        <p:nvSpPr>
          <p:cNvPr id="47" name="TextBox 46"/>
          <p:cNvSpPr txBox="1"/>
          <p:nvPr/>
        </p:nvSpPr>
        <p:spPr>
          <a:xfrm>
            <a:off x="8823960" y="5349240"/>
            <a:ext cx="27614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same day — this is the worst kind</a:t>
            </a:r>
          </a:p>
        </p:txBody>
      </p:sp>
      <p:sp>
        <p:nvSpPr>
          <p:cNvPr id="48" name="Rounded Rectangle 47"/>
          <p:cNvSpPr/>
          <p:nvPr/>
        </p:nvSpPr>
        <p:spPr>
          <a:xfrm>
            <a:off x="566928" y="5605272"/>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85800" y="5660136"/>
            <a:ext cx="1938527"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Alert noisy</a:t>
            </a:r>
          </a:p>
        </p:txBody>
      </p:sp>
      <p:sp>
        <p:nvSpPr>
          <p:cNvPr id="50" name="TextBox 49"/>
          <p:cNvSpPr txBox="1"/>
          <p:nvPr/>
        </p:nvSpPr>
        <p:spPr>
          <a:xfrm>
            <a:off x="2788920" y="5660136"/>
            <a:ext cx="376732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fires nightly, never actionable</a:t>
            </a:r>
          </a:p>
        </p:txBody>
      </p:sp>
      <p:sp>
        <p:nvSpPr>
          <p:cNvPr id="51" name="TextBox 50"/>
          <p:cNvSpPr txBox="1"/>
          <p:nvPr/>
        </p:nvSpPr>
        <p:spPr>
          <a:xfrm>
            <a:off x="6720840" y="5660136"/>
            <a:ext cx="1938527"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L2 + owner, together</a:t>
            </a:r>
          </a:p>
        </p:txBody>
      </p:sp>
      <p:sp>
        <p:nvSpPr>
          <p:cNvPr id="52" name="TextBox 51"/>
          <p:cNvSpPr txBox="1"/>
          <p:nvPr/>
        </p:nvSpPr>
        <p:spPr>
          <a:xfrm>
            <a:off x="8823960" y="5660136"/>
            <a:ext cx="27614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next session</a:t>
            </a:r>
          </a:p>
        </p:txBody>
      </p:sp>
      <p:sp>
        <p:nvSpPr>
          <p:cNvPr id="53" name="TextBox 52"/>
          <p:cNvSpPr txBox="1"/>
          <p:nvPr/>
        </p:nvSpPr>
        <p:spPr>
          <a:xfrm>
            <a:off x="685800" y="5971032"/>
            <a:ext cx="1938527"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Alert missing</a:t>
            </a:r>
          </a:p>
        </p:txBody>
      </p:sp>
      <p:sp>
        <p:nvSpPr>
          <p:cNvPr id="54" name="TextBox 53"/>
          <p:cNvSpPr txBox="1"/>
          <p:nvPr/>
        </p:nvSpPr>
        <p:spPr>
          <a:xfrm>
            <a:off x="2788920" y="5971032"/>
            <a:ext cx="376732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an incident nothing caught</a:t>
            </a:r>
          </a:p>
        </p:txBody>
      </p:sp>
      <p:sp>
        <p:nvSpPr>
          <p:cNvPr id="55" name="TextBox 54"/>
          <p:cNvSpPr txBox="1"/>
          <p:nvPr/>
        </p:nvSpPr>
        <p:spPr>
          <a:xfrm>
            <a:off x="6720840" y="5971032"/>
            <a:ext cx="1938527"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console owner</a:t>
            </a:r>
          </a:p>
        </p:txBody>
      </p:sp>
      <p:sp>
        <p:nvSpPr>
          <p:cNvPr id="56" name="TextBox 55"/>
          <p:cNvSpPr txBox="1"/>
          <p:nvPr/>
        </p:nvSpPr>
        <p:spPr>
          <a:xfrm>
            <a:off x="8823960" y="5971032"/>
            <a:ext cx="27614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next session</a:t>
            </a:r>
          </a:p>
        </p:txBody>
      </p:sp>
      <p:sp>
        <p:nvSpPr>
          <p:cNvPr id="57" name="Rounded Rectangle 56"/>
          <p:cNvSpPr/>
          <p:nvPr/>
        </p:nvSpPr>
        <p:spPr>
          <a:xfrm>
            <a:off x="566928" y="6227064"/>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85800" y="6281928"/>
            <a:ext cx="1938527"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Hard to use</a:t>
            </a:r>
          </a:p>
        </p:txBody>
      </p:sp>
      <p:sp>
        <p:nvSpPr>
          <p:cNvPr id="59" name="TextBox 58"/>
          <p:cNvSpPr txBox="1"/>
          <p:nvPr/>
        </p:nvSpPr>
        <p:spPr>
          <a:xfrm>
            <a:off x="2788920" y="6281928"/>
            <a:ext cx="376732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took 6 clicks to answer one question</a:t>
            </a:r>
          </a:p>
        </p:txBody>
      </p:sp>
      <p:sp>
        <p:nvSpPr>
          <p:cNvPr id="60" name="TextBox 59"/>
          <p:cNvSpPr txBox="1"/>
          <p:nvPr/>
        </p:nvSpPr>
        <p:spPr>
          <a:xfrm>
            <a:off x="6720840" y="6281928"/>
            <a:ext cx="1938527"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console owner</a:t>
            </a:r>
          </a:p>
        </p:txBody>
      </p:sp>
      <p:sp>
        <p:nvSpPr>
          <p:cNvPr id="61" name="TextBox 60"/>
          <p:cNvSpPr txBox="1"/>
          <p:nvPr/>
        </p:nvSpPr>
        <p:spPr>
          <a:xfrm>
            <a:off x="8823960" y="6281928"/>
            <a:ext cx="27614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backlog, ranked in S3</a:t>
            </a:r>
          </a:p>
        </p:txBody>
      </p:sp>
      <p:sp>
        <p:nvSpPr>
          <p:cNvPr id="62" name="Rounded Rectangle 61"/>
          <p:cNvSpPr/>
          <p:nvPr/>
        </p:nvSpPr>
        <p:spPr>
          <a:xfrm>
            <a:off x="566928" y="6419088"/>
            <a:ext cx="11064240" cy="402336"/>
          </a:xfrm>
          <a:prstGeom prst="roundRect">
            <a:avLst>
              <a:gd name="adj" fmla="val 6000"/>
            </a:avLst>
          </a:prstGeom>
          <a:solidFill>
            <a:srgbClr val="ECFDF3"/>
          </a:solidFill>
          <a:ln w="9525">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1247" y="6419088"/>
            <a:ext cx="10515600" cy="402336"/>
          </a:xfrm>
          <a:prstGeom prst="rect">
            <a:avLst/>
          </a:prstGeom>
          <a:noFill/>
        </p:spPr>
        <p:txBody>
          <a:bodyPr wrap="square" lIns="0" rIns="0" tIns="0" bIns="0" anchor="ctr">
            <a:spAutoFit/>
          </a:bodyPr>
          <a:lstStyle/>
          <a:p>
            <a:pPr algn="l">
              <a:lnSpc>
                <a:spcPct val="115000"/>
              </a:lnSpc>
            </a:pPr>
            <a:r>
              <a:rPr sz="1150" b="0" i="0">
                <a:solidFill>
                  <a:srgbClr val="0F172A"/>
                </a:solidFill>
                <a:latin typeface="Aptos"/>
              </a:rPr>
              <a:t>Ask in the channel, not in a DM — the channel is the record.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566928" y="1371600"/>
            <a:ext cx="5486400" cy="320040"/>
          </a:xfrm>
          <a:prstGeom prst="rect">
            <a:avLst/>
          </a:prstGeom>
          <a:noFill/>
        </p:spPr>
        <p:txBody>
          <a:bodyPr wrap="square" lIns="0" rIns="0" tIns="0" bIns="0" anchor="t">
            <a:spAutoFit/>
          </a:bodyPr>
          <a:lstStyle/>
          <a:p>
            <a:pPr algn="l">
              <a:lnSpc>
                <a:spcPct val="115000"/>
              </a:lnSpc>
            </a:pPr>
            <a:r>
              <a:rPr sz="1200" b="1" i="0">
                <a:solidFill>
                  <a:srgbClr val="008A47"/>
                </a:solidFill>
                <a:latin typeface="Aptos"/>
              </a:rPr>
              <a:t>SESSION 1 · DAY 1</a:t>
            </a:r>
          </a:p>
        </p:txBody>
      </p:sp>
      <p:sp>
        <p:nvSpPr>
          <p:cNvPr id="3" name="TextBox 2"/>
          <p:cNvSpPr txBox="1"/>
          <p:nvPr/>
        </p:nvSpPr>
        <p:spPr>
          <a:xfrm>
            <a:off x="566928" y="1737360"/>
            <a:ext cx="10515600" cy="731520"/>
          </a:xfrm>
          <a:prstGeom prst="rect">
            <a:avLst/>
          </a:prstGeom>
          <a:noFill/>
        </p:spPr>
        <p:txBody>
          <a:bodyPr wrap="square" lIns="0" rIns="0" tIns="0" bIns="0" anchor="t">
            <a:spAutoFit/>
          </a:bodyPr>
          <a:lstStyle/>
          <a:p>
            <a:pPr algn="l">
              <a:lnSpc>
                <a:spcPct val="115000"/>
              </a:lnSpc>
            </a:pPr>
            <a:r>
              <a:rPr sz="3400" b="1" i="0">
                <a:solidFill>
                  <a:srgbClr val="FFFFFF"/>
                </a:solidFill>
                <a:latin typeface="Aptos"/>
              </a:rPr>
              <a:t>Is the data true?</a:t>
            </a:r>
          </a:p>
        </p:txBody>
      </p:sp>
      <p:sp>
        <p:nvSpPr>
          <p:cNvPr id="4" name="Rectangle 3"/>
          <p:cNvSpPr/>
          <p:nvPr/>
        </p:nvSpPr>
        <p:spPr>
          <a:xfrm>
            <a:off x="566928" y="2697480"/>
            <a:ext cx="100584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926080"/>
            <a:ext cx="9601200" cy="411480"/>
          </a:xfrm>
          <a:prstGeom prst="rect">
            <a:avLst/>
          </a:prstGeom>
          <a:noFill/>
        </p:spPr>
        <p:txBody>
          <a:bodyPr wrap="square" lIns="0" rIns="0" tIns="0" bIns="0" anchor="t">
            <a:spAutoFit/>
          </a:bodyPr>
          <a:lstStyle/>
          <a:p>
            <a:pPr algn="l">
              <a:lnSpc>
                <a:spcPct val="115000"/>
              </a:lnSpc>
            </a:pPr>
            <a:r>
              <a:rPr sz="1400" b="0" i="0">
                <a:solidFill>
                  <a:srgbClr val="E2E8F0"/>
                </a:solidFill>
                <a:latin typeface="Aptos"/>
              </a:rPr>
              <a:t>Every number on the dashboard, traced back to the row it came from</a:t>
            </a:r>
          </a:p>
        </p:txBody>
      </p:sp>
      <p:sp>
        <p:nvSpPr>
          <p:cNvPr id="6" name="Rounded Rectangle 5"/>
          <p:cNvSpPr/>
          <p:nvPr/>
        </p:nvSpPr>
        <p:spPr>
          <a:xfrm>
            <a:off x="566928" y="3456432"/>
            <a:ext cx="10515600" cy="438912"/>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3584448"/>
            <a:ext cx="822960" cy="219456"/>
          </a:xfrm>
          <a:prstGeom prst="rect">
            <a:avLst/>
          </a:prstGeom>
          <a:noFill/>
        </p:spPr>
        <p:txBody>
          <a:bodyPr wrap="square" lIns="0" rIns="0" tIns="0" bIns="0" anchor="t">
            <a:spAutoFit/>
          </a:bodyPr>
          <a:lstStyle/>
          <a:p>
            <a:pPr algn="l">
              <a:lnSpc>
                <a:spcPct val="115000"/>
              </a:lnSpc>
            </a:pPr>
            <a:r>
              <a:rPr sz="1050" b="1" i="0">
                <a:solidFill>
                  <a:srgbClr val="008A47"/>
                </a:solidFill>
                <a:latin typeface="Aptos"/>
              </a:rPr>
              <a:t>1.1</a:t>
            </a:r>
          </a:p>
        </p:txBody>
      </p:sp>
      <p:sp>
        <p:nvSpPr>
          <p:cNvPr id="8" name="TextBox 7"/>
          <p:cNvSpPr txBox="1"/>
          <p:nvPr/>
        </p:nvSpPr>
        <p:spPr>
          <a:xfrm>
            <a:off x="1691640" y="3584448"/>
            <a:ext cx="7680960" cy="219456"/>
          </a:xfrm>
          <a:prstGeom prst="rect">
            <a:avLst/>
          </a:prstGeom>
          <a:noFill/>
        </p:spPr>
        <p:txBody>
          <a:bodyPr wrap="square" lIns="0" rIns="0" tIns="0" bIns="0" anchor="t">
            <a:spAutoFit/>
          </a:bodyPr>
          <a:lstStyle/>
          <a:p>
            <a:pPr algn="l">
              <a:lnSpc>
                <a:spcPct val="115000"/>
              </a:lnSpc>
            </a:pPr>
            <a:r>
              <a:rPr sz="1150" b="0" i="0">
                <a:solidFill>
                  <a:srgbClr val="E2E8F0"/>
                </a:solidFill>
                <a:latin typeface="Aptos"/>
              </a:rPr>
              <a:t>Architecture &amp; data lineage — where each number comes from</a:t>
            </a:r>
          </a:p>
        </p:txBody>
      </p:sp>
      <p:sp>
        <p:nvSpPr>
          <p:cNvPr id="9" name="TextBox 8"/>
          <p:cNvSpPr txBox="1"/>
          <p:nvPr/>
        </p:nvSpPr>
        <p:spPr>
          <a:xfrm>
            <a:off x="9601200" y="3584448"/>
            <a:ext cx="1280160" cy="219456"/>
          </a:xfrm>
          <a:prstGeom prst="rect">
            <a:avLst/>
          </a:prstGeom>
          <a:noFill/>
        </p:spPr>
        <p:txBody>
          <a:bodyPr wrap="square" lIns="0" rIns="0" tIns="0" bIns="0" anchor="t">
            <a:spAutoFit/>
          </a:bodyPr>
          <a:lstStyle/>
          <a:p>
            <a:pPr algn="r">
              <a:lnSpc>
                <a:spcPct val="115000"/>
              </a:lnSpc>
            </a:pPr>
            <a:r>
              <a:rPr sz="1000" b="0" i="0">
                <a:solidFill>
                  <a:srgbClr val="94A3B8"/>
                </a:solidFill>
                <a:latin typeface="Aptos"/>
              </a:rPr>
              <a:t/>
            </a:r>
          </a:p>
        </p:txBody>
      </p:sp>
      <p:sp>
        <p:nvSpPr>
          <p:cNvPr id="10" name="Rounded Rectangle 9"/>
          <p:cNvSpPr/>
          <p:nvPr/>
        </p:nvSpPr>
        <p:spPr>
          <a:xfrm>
            <a:off x="566928" y="3968496"/>
            <a:ext cx="10515600" cy="438912"/>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4096511"/>
            <a:ext cx="822960" cy="219456"/>
          </a:xfrm>
          <a:prstGeom prst="rect">
            <a:avLst/>
          </a:prstGeom>
          <a:noFill/>
        </p:spPr>
        <p:txBody>
          <a:bodyPr wrap="square" lIns="0" rIns="0" tIns="0" bIns="0" anchor="t">
            <a:spAutoFit/>
          </a:bodyPr>
          <a:lstStyle/>
          <a:p>
            <a:pPr algn="l">
              <a:lnSpc>
                <a:spcPct val="115000"/>
              </a:lnSpc>
            </a:pPr>
            <a:r>
              <a:rPr sz="1050" b="1" i="0">
                <a:solidFill>
                  <a:srgbClr val="008A47"/>
                </a:solidFill>
                <a:latin typeface="Aptos"/>
              </a:rPr>
              <a:t>1.2</a:t>
            </a:r>
          </a:p>
        </p:txBody>
      </p:sp>
      <p:sp>
        <p:nvSpPr>
          <p:cNvPr id="12" name="TextBox 11"/>
          <p:cNvSpPr txBox="1"/>
          <p:nvPr/>
        </p:nvSpPr>
        <p:spPr>
          <a:xfrm>
            <a:off x="1691640" y="4096511"/>
            <a:ext cx="7680960" cy="219456"/>
          </a:xfrm>
          <a:prstGeom prst="rect">
            <a:avLst/>
          </a:prstGeom>
          <a:noFill/>
        </p:spPr>
        <p:txBody>
          <a:bodyPr wrap="square" lIns="0" rIns="0" tIns="0" bIns="0" anchor="t">
            <a:spAutoFit/>
          </a:bodyPr>
          <a:lstStyle/>
          <a:p>
            <a:pPr algn="l">
              <a:lnSpc>
                <a:spcPct val="115000"/>
              </a:lnSpc>
            </a:pPr>
            <a:r>
              <a:rPr sz="1150" b="0" i="0">
                <a:solidFill>
                  <a:srgbClr val="E2E8F0"/>
                </a:solidFill>
                <a:latin typeface="Aptos"/>
              </a:rPr>
              <a:t>Sync, lag, and how you know the data is stale</a:t>
            </a:r>
          </a:p>
        </p:txBody>
      </p:sp>
      <p:sp>
        <p:nvSpPr>
          <p:cNvPr id="13" name="TextBox 12"/>
          <p:cNvSpPr txBox="1"/>
          <p:nvPr/>
        </p:nvSpPr>
        <p:spPr>
          <a:xfrm>
            <a:off x="9601200" y="4096511"/>
            <a:ext cx="1280160" cy="219456"/>
          </a:xfrm>
          <a:prstGeom prst="rect">
            <a:avLst/>
          </a:prstGeom>
          <a:noFill/>
        </p:spPr>
        <p:txBody>
          <a:bodyPr wrap="square" lIns="0" rIns="0" tIns="0" bIns="0" anchor="t">
            <a:spAutoFit/>
          </a:bodyPr>
          <a:lstStyle/>
          <a:p>
            <a:pPr algn="r">
              <a:lnSpc>
                <a:spcPct val="115000"/>
              </a:lnSpc>
            </a:pPr>
            <a:r>
              <a:rPr sz="1000" b="0" i="0">
                <a:solidFill>
                  <a:srgbClr val="94A3B8"/>
                </a:solidFill>
                <a:latin typeface="Aptos"/>
              </a:rPr>
              <a:t/>
            </a:r>
          </a:p>
        </p:txBody>
      </p:sp>
      <p:sp>
        <p:nvSpPr>
          <p:cNvPr id="14" name="Rounded Rectangle 13"/>
          <p:cNvSpPr/>
          <p:nvPr/>
        </p:nvSpPr>
        <p:spPr>
          <a:xfrm>
            <a:off x="566928" y="4480560"/>
            <a:ext cx="10515600" cy="438912"/>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4608576"/>
            <a:ext cx="822960" cy="219456"/>
          </a:xfrm>
          <a:prstGeom prst="rect">
            <a:avLst/>
          </a:prstGeom>
          <a:noFill/>
        </p:spPr>
        <p:txBody>
          <a:bodyPr wrap="square" lIns="0" rIns="0" tIns="0" bIns="0" anchor="t">
            <a:spAutoFit/>
          </a:bodyPr>
          <a:lstStyle/>
          <a:p>
            <a:pPr algn="l">
              <a:lnSpc>
                <a:spcPct val="115000"/>
              </a:lnSpc>
            </a:pPr>
            <a:r>
              <a:rPr sz="1050" b="1" i="0">
                <a:solidFill>
                  <a:srgbClr val="008A47"/>
                </a:solidFill>
                <a:latin typeface="Aptos"/>
              </a:rPr>
              <a:t>1.3</a:t>
            </a:r>
          </a:p>
        </p:txBody>
      </p:sp>
      <p:sp>
        <p:nvSpPr>
          <p:cNvPr id="16" name="TextBox 15"/>
          <p:cNvSpPr txBox="1"/>
          <p:nvPr/>
        </p:nvSpPr>
        <p:spPr>
          <a:xfrm>
            <a:off x="1691640" y="4608576"/>
            <a:ext cx="7680960" cy="219456"/>
          </a:xfrm>
          <a:prstGeom prst="rect">
            <a:avLst/>
          </a:prstGeom>
          <a:noFill/>
        </p:spPr>
        <p:txBody>
          <a:bodyPr wrap="square" lIns="0" rIns="0" tIns="0" bIns="0" anchor="t">
            <a:spAutoFit/>
          </a:bodyPr>
          <a:lstStyle/>
          <a:p>
            <a:pPr algn="l">
              <a:lnSpc>
                <a:spcPct val="115000"/>
              </a:lnSpc>
            </a:pPr>
            <a:r>
              <a:rPr sz="1150" b="0" i="0">
                <a:solidFill>
                  <a:srgbClr val="E2E8F0"/>
                </a:solidFill>
                <a:latin typeface="Aptos"/>
              </a:rPr>
              <a:t>Definitions review — the order flow, one box at a time</a:t>
            </a:r>
          </a:p>
        </p:txBody>
      </p:sp>
      <p:sp>
        <p:nvSpPr>
          <p:cNvPr id="17" name="TextBox 16"/>
          <p:cNvSpPr txBox="1"/>
          <p:nvPr/>
        </p:nvSpPr>
        <p:spPr>
          <a:xfrm>
            <a:off x="9601200" y="4608576"/>
            <a:ext cx="1280160" cy="219456"/>
          </a:xfrm>
          <a:prstGeom prst="rect">
            <a:avLst/>
          </a:prstGeom>
          <a:noFill/>
        </p:spPr>
        <p:txBody>
          <a:bodyPr wrap="square" lIns="0" rIns="0" tIns="0" bIns="0" anchor="t">
            <a:spAutoFit/>
          </a:bodyPr>
          <a:lstStyle/>
          <a:p>
            <a:pPr algn="r">
              <a:lnSpc>
                <a:spcPct val="115000"/>
              </a:lnSpc>
            </a:pPr>
            <a:r>
              <a:rPr sz="1000" b="0" i="0">
                <a:solidFill>
                  <a:srgbClr val="94A3B8"/>
                </a:solidFill>
                <a:latin typeface="Aptos"/>
              </a:rPr>
              <a:t/>
            </a:r>
          </a:p>
        </p:txBody>
      </p:sp>
      <p:sp>
        <p:nvSpPr>
          <p:cNvPr id="18" name="Rounded Rectangle 17"/>
          <p:cNvSpPr/>
          <p:nvPr/>
        </p:nvSpPr>
        <p:spPr>
          <a:xfrm>
            <a:off x="566928" y="4992624"/>
            <a:ext cx="10515600" cy="438912"/>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5120640"/>
            <a:ext cx="822960" cy="219456"/>
          </a:xfrm>
          <a:prstGeom prst="rect">
            <a:avLst/>
          </a:prstGeom>
          <a:noFill/>
        </p:spPr>
        <p:txBody>
          <a:bodyPr wrap="square" lIns="0" rIns="0" tIns="0" bIns="0" anchor="t">
            <a:spAutoFit/>
          </a:bodyPr>
          <a:lstStyle/>
          <a:p>
            <a:pPr algn="l">
              <a:lnSpc>
                <a:spcPct val="115000"/>
              </a:lnSpc>
            </a:pPr>
            <a:r>
              <a:rPr sz="1050" b="1" i="0">
                <a:solidFill>
                  <a:srgbClr val="008A47"/>
                </a:solidFill>
                <a:latin typeface="Aptos"/>
              </a:rPr>
              <a:t>1.4</a:t>
            </a:r>
          </a:p>
        </p:txBody>
      </p:sp>
      <p:sp>
        <p:nvSpPr>
          <p:cNvPr id="20" name="TextBox 19"/>
          <p:cNvSpPr txBox="1"/>
          <p:nvPr/>
        </p:nvSpPr>
        <p:spPr>
          <a:xfrm>
            <a:off x="1691640" y="5120640"/>
            <a:ext cx="7680960" cy="219456"/>
          </a:xfrm>
          <a:prstGeom prst="rect">
            <a:avLst/>
          </a:prstGeom>
          <a:noFill/>
        </p:spPr>
        <p:txBody>
          <a:bodyPr wrap="square" lIns="0" rIns="0" tIns="0" bIns="0" anchor="t">
            <a:spAutoFit/>
          </a:bodyPr>
          <a:lstStyle/>
          <a:p>
            <a:pPr algn="l">
              <a:lnSpc>
                <a:spcPct val="115000"/>
              </a:lnSpc>
            </a:pPr>
            <a:r>
              <a:rPr sz="1150" b="0" i="0">
                <a:solidFill>
                  <a:srgbClr val="E2E8F0"/>
                </a:solidFill>
                <a:latin typeface="Aptos"/>
              </a:rPr>
              <a:t>Attribution: the trap that made an unlaunched channel look live</a:t>
            </a:r>
          </a:p>
        </p:txBody>
      </p:sp>
      <p:sp>
        <p:nvSpPr>
          <p:cNvPr id="21" name="TextBox 20"/>
          <p:cNvSpPr txBox="1"/>
          <p:nvPr/>
        </p:nvSpPr>
        <p:spPr>
          <a:xfrm>
            <a:off x="9601200" y="5120640"/>
            <a:ext cx="1280160" cy="219456"/>
          </a:xfrm>
          <a:prstGeom prst="rect">
            <a:avLst/>
          </a:prstGeom>
          <a:noFill/>
        </p:spPr>
        <p:txBody>
          <a:bodyPr wrap="square" lIns="0" rIns="0" tIns="0" bIns="0" anchor="t">
            <a:spAutoFit/>
          </a:bodyPr>
          <a:lstStyle/>
          <a:p>
            <a:pPr algn="r">
              <a:lnSpc>
                <a:spcPct val="115000"/>
              </a:lnSpc>
            </a:pPr>
            <a:r>
              <a:rPr sz="1000" b="0" i="0">
                <a:solidFill>
                  <a:srgbClr val="94A3B8"/>
                </a:solidFill>
                <a:latin typeface="Aptos"/>
              </a:rPr>
              <a:t/>
            </a:r>
          </a:p>
        </p:txBody>
      </p:sp>
      <p:sp>
        <p:nvSpPr>
          <p:cNvPr id="22" name="Rounded Rectangle 21"/>
          <p:cNvSpPr/>
          <p:nvPr/>
        </p:nvSpPr>
        <p:spPr>
          <a:xfrm>
            <a:off x="566928" y="5504688"/>
            <a:ext cx="10515600" cy="438912"/>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5632703"/>
            <a:ext cx="822960" cy="219456"/>
          </a:xfrm>
          <a:prstGeom prst="rect">
            <a:avLst/>
          </a:prstGeom>
          <a:noFill/>
        </p:spPr>
        <p:txBody>
          <a:bodyPr wrap="square" lIns="0" rIns="0" tIns="0" bIns="0" anchor="t">
            <a:spAutoFit/>
          </a:bodyPr>
          <a:lstStyle/>
          <a:p>
            <a:pPr algn="l">
              <a:lnSpc>
                <a:spcPct val="115000"/>
              </a:lnSpc>
            </a:pPr>
            <a:r>
              <a:rPr sz="1050" b="1" i="0">
                <a:solidFill>
                  <a:srgbClr val="008A47"/>
                </a:solidFill>
                <a:latin typeface="Aptos"/>
              </a:rPr>
              <a:t>1.5</a:t>
            </a:r>
          </a:p>
        </p:txBody>
      </p:sp>
      <p:sp>
        <p:nvSpPr>
          <p:cNvPr id="24" name="TextBox 23"/>
          <p:cNvSpPr txBox="1"/>
          <p:nvPr/>
        </p:nvSpPr>
        <p:spPr>
          <a:xfrm>
            <a:off x="1691640" y="5632703"/>
            <a:ext cx="7680960" cy="219456"/>
          </a:xfrm>
          <a:prstGeom prst="rect">
            <a:avLst/>
          </a:prstGeom>
          <a:noFill/>
        </p:spPr>
        <p:txBody>
          <a:bodyPr wrap="square" lIns="0" rIns="0" tIns="0" bIns="0" anchor="t">
            <a:spAutoFit/>
          </a:bodyPr>
          <a:lstStyle/>
          <a:p>
            <a:pPr algn="l">
              <a:lnSpc>
                <a:spcPct val="115000"/>
              </a:lnSpc>
            </a:pPr>
            <a:r>
              <a:rPr sz="1150" b="0" i="0">
                <a:solidFill>
                  <a:srgbClr val="E2E8F0"/>
                </a:solidFill>
                <a:latin typeface="Aptos"/>
              </a:rPr>
              <a:t>Coverage — what the console can and cannot see</a:t>
            </a:r>
          </a:p>
        </p:txBody>
      </p:sp>
      <p:sp>
        <p:nvSpPr>
          <p:cNvPr id="25" name="TextBox 24"/>
          <p:cNvSpPr txBox="1"/>
          <p:nvPr/>
        </p:nvSpPr>
        <p:spPr>
          <a:xfrm>
            <a:off x="9601200" y="5632703"/>
            <a:ext cx="1280160" cy="219456"/>
          </a:xfrm>
          <a:prstGeom prst="rect">
            <a:avLst/>
          </a:prstGeom>
          <a:noFill/>
        </p:spPr>
        <p:txBody>
          <a:bodyPr wrap="square" lIns="0" rIns="0" tIns="0" bIns="0" anchor="t">
            <a:spAutoFit/>
          </a:bodyPr>
          <a:lstStyle/>
          <a:p>
            <a:pPr algn="r">
              <a:lnSpc>
                <a:spcPct val="115000"/>
              </a:lnSpc>
            </a:pPr>
            <a:r>
              <a:rPr sz="1000" b="0" i="0">
                <a:solidFill>
                  <a:srgbClr val="94A3B8"/>
                </a:solidFill>
                <a:latin typeface="Aptos"/>
              </a:rPr>
              <a:t/>
            </a:r>
          </a:p>
        </p:txBody>
      </p:sp>
      <p:sp>
        <p:nvSpPr>
          <p:cNvPr id="26" name="Rounded Rectangle 25"/>
          <p:cNvSpPr/>
          <p:nvPr/>
        </p:nvSpPr>
        <p:spPr>
          <a:xfrm>
            <a:off x="566928" y="6016752"/>
            <a:ext cx="10515600" cy="438912"/>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6144768"/>
            <a:ext cx="822960" cy="219456"/>
          </a:xfrm>
          <a:prstGeom prst="rect">
            <a:avLst/>
          </a:prstGeom>
          <a:noFill/>
        </p:spPr>
        <p:txBody>
          <a:bodyPr wrap="square" lIns="0" rIns="0" tIns="0" bIns="0" anchor="t">
            <a:spAutoFit/>
          </a:bodyPr>
          <a:lstStyle/>
          <a:p>
            <a:pPr algn="l">
              <a:lnSpc>
                <a:spcPct val="115000"/>
              </a:lnSpc>
            </a:pPr>
            <a:r>
              <a:rPr sz="1050" b="1" i="0">
                <a:solidFill>
                  <a:srgbClr val="008A47"/>
                </a:solidFill>
                <a:latin typeface="Aptos"/>
              </a:rPr>
              <a:t/>
            </a:r>
          </a:p>
        </p:txBody>
      </p:sp>
      <p:sp>
        <p:nvSpPr>
          <p:cNvPr id="28" name="TextBox 27"/>
          <p:cNvSpPr txBox="1"/>
          <p:nvPr/>
        </p:nvSpPr>
        <p:spPr>
          <a:xfrm>
            <a:off x="1691640" y="6144768"/>
            <a:ext cx="7680960" cy="219456"/>
          </a:xfrm>
          <a:prstGeom prst="rect">
            <a:avLst/>
          </a:prstGeom>
          <a:noFill/>
        </p:spPr>
        <p:txBody>
          <a:bodyPr wrap="square" lIns="0" rIns="0" tIns="0" bIns="0" anchor="t">
            <a:spAutoFit/>
          </a:bodyPr>
          <a:lstStyle/>
          <a:p>
            <a:pPr algn="l">
              <a:lnSpc>
                <a:spcPct val="115000"/>
              </a:lnSpc>
            </a:pPr>
            <a:r>
              <a:rPr sz="1150" b="0" i="0">
                <a:solidFill>
                  <a:srgbClr val="E2E8F0"/>
                </a:solidFill>
                <a:latin typeface="Aptos"/>
              </a:rPr>
              <a:t>REVIEW BLOCK — sign off 12 definitions</a:t>
            </a:r>
          </a:p>
        </p:txBody>
      </p:sp>
      <p:sp>
        <p:nvSpPr>
          <p:cNvPr id="29" name="TextBox 28"/>
          <p:cNvSpPr txBox="1"/>
          <p:nvPr/>
        </p:nvSpPr>
        <p:spPr>
          <a:xfrm>
            <a:off x="9601200" y="6144768"/>
            <a:ext cx="1280160" cy="219456"/>
          </a:xfrm>
          <a:prstGeom prst="rect">
            <a:avLst/>
          </a:prstGeom>
          <a:noFill/>
        </p:spPr>
        <p:txBody>
          <a:bodyPr wrap="square" lIns="0" rIns="0" tIns="0" bIns="0" anchor="t">
            <a:spAutoFit/>
          </a:bodyPr>
          <a:lstStyle/>
          <a:p>
            <a:pPr algn="r">
              <a:lnSpc>
                <a:spcPct val="115000"/>
              </a:lnSpc>
            </a:pPr>
            <a:r>
              <a:rPr sz="1000" b="0" i="0">
                <a:solidFill>
                  <a:srgbClr val="94A3B8"/>
                </a:solidFill>
                <a:latin typeface="Aptos"/>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7315200" cy="182880"/>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1.1 · ARCHITECTURE</a:t>
            </a:r>
          </a:p>
        </p:txBody>
      </p:sp>
      <p:sp>
        <p:nvSpPr>
          <p:cNvPr id="3" name="TextBox 2"/>
          <p:cNvSpPr txBox="1"/>
          <p:nvPr/>
        </p:nvSpPr>
        <p:spPr>
          <a:xfrm>
            <a:off x="566928" y="621792"/>
            <a:ext cx="10058400" cy="411480"/>
          </a:xfrm>
          <a:prstGeom prst="rect">
            <a:avLst/>
          </a:prstGeom>
          <a:noFill/>
        </p:spPr>
        <p:txBody>
          <a:bodyPr wrap="square" lIns="0" rIns="0" tIns="0" bIns="0" anchor="t">
            <a:spAutoFit/>
          </a:bodyPr>
          <a:lstStyle/>
          <a:p>
            <a:pPr algn="l">
              <a:lnSpc>
                <a:spcPct val="115000"/>
              </a:lnSpc>
            </a:pPr>
            <a:r>
              <a:rPr sz="2400" b="1" i="0">
                <a:solidFill>
                  <a:srgbClr val="0F172A"/>
                </a:solidFill>
                <a:latin typeface="Aptos"/>
              </a:rPr>
              <a:t>Where every number comes from</a:t>
            </a:r>
          </a:p>
        </p:txBody>
      </p:sp>
      <p:sp>
        <p:nvSpPr>
          <p:cNvPr id="4" name="Rectangle 3"/>
          <p:cNvSpPr/>
          <p:nvPr/>
        </p:nvSpPr>
        <p:spPr>
          <a:xfrm>
            <a:off x="566928" y="1133856"/>
            <a:ext cx="64008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16736"/>
            <a:ext cx="11064240" cy="457200"/>
          </a:xfrm>
          <a:prstGeom prst="rect">
            <a:avLst/>
          </a:prstGeom>
          <a:noFill/>
        </p:spPr>
        <p:txBody>
          <a:bodyPr wrap="square" lIns="0" rIns="0" tIns="0" bIns="0" anchor="t">
            <a:spAutoFit/>
          </a:bodyPr>
          <a:lstStyle/>
          <a:p>
            <a:pPr algn="l">
              <a:lnSpc>
                <a:spcPct val="115000"/>
              </a:lnSpc>
            </a:pPr>
            <a:r>
              <a:rPr sz="1200" b="0" i="0">
                <a:solidFill>
                  <a:srgbClr val="64748B"/>
                </a:solidFill>
                <a:latin typeface="Aptos"/>
              </a:rPr>
              <a:t>Four hops. If you do not trust a number, we walk it back along this line together.</a:t>
            </a:r>
          </a:p>
        </p:txBody>
      </p:sp>
      <p:sp>
        <p:nvSpPr>
          <p:cNvPr id="6" name="Rounded Rectangle 5"/>
          <p:cNvSpPr/>
          <p:nvPr/>
        </p:nvSpPr>
        <p:spPr>
          <a:xfrm>
            <a:off x="566928" y="2286000"/>
            <a:ext cx="2103120" cy="868680"/>
          </a:xfrm>
          <a:prstGeom prst="roundRect">
            <a:avLst>
              <a:gd name="adj" fmla="val 6000"/>
            </a:avLst>
          </a:prstGeom>
          <a:solidFill>
            <a:srgbClr val="FFFFFF"/>
          </a:solidFill>
          <a:ln w="1397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464308"/>
            <a:ext cx="2103120" cy="237744"/>
          </a:xfrm>
          <a:prstGeom prst="rect">
            <a:avLst/>
          </a:prstGeom>
          <a:noFill/>
        </p:spPr>
        <p:txBody>
          <a:bodyPr wrap="square" lIns="0" rIns="0" tIns="0" bIns="0" anchor="t">
            <a:spAutoFit/>
          </a:bodyPr>
          <a:lstStyle/>
          <a:p>
            <a:pPr algn="ctr">
              <a:lnSpc>
                <a:spcPct val="115000"/>
              </a:lnSpc>
            </a:pPr>
            <a:r>
              <a:rPr sz="1100" b="1" i="0">
                <a:solidFill>
                  <a:srgbClr val="0F172A"/>
                </a:solidFill>
                <a:latin typeface="Aptos"/>
              </a:rPr>
              <a:t>Production</a:t>
            </a:r>
          </a:p>
        </p:txBody>
      </p:sp>
      <p:sp>
        <p:nvSpPr>
          <p:cNvPr id="8" name="TextBox 7"/>
          <p:cNvSpPr txBox="1"/>
          <p:nvPr/>
        </p:nvSpPr>
        <p:spPr>
          <a:xfrm>
            <a:off x="566928" y="2729484"/>
            <a:ext cx="2103120" cy="219456"/>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selfcare Postgres</a:t>
            </a:r>
          </a:p>
        </p:txBody>
      </p:sp>
      <p:sp>
        <p:nvSpPr>
          <p:cNvPr id="9" name="Rounded Rectangle 8"/>
          <p:cNvSpPr/>
          <p:nvPr/>
        </p:nvSpPr>
        <p:spPr>
          <a:xfrm>
            <a:off x="3063240" y="2286000"/>
            <a:ext cx="2103120" cy="868680"/>
          </a:xfrm>
          <a:prstGeom prst="roundRect">
            <a:avLst>
              <a:gd name="adj" fmla="val 6000"/>
            </a:avLst>
          </a:prstGeom>
          <a:solidFill>
            <a:srgbClr val="FFFFFF"/>
          </a:solidFill>
          <a:ln w="1397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63240" y="2464308"/>
            <a:ext cx="2103120" cy="237744"/>
          </a:xfrm>
          <a:prstGeom prst="rect">
            <a:avLst/>
          </a:prstGeom>
          <a:noFill/>
        </p:spPr>
        <p:txBody>
          <a:bodyPr wrap="square" lIns="0" rIns="0" tIns="0" bIns="0" anchor="t">
            <a:spAutoFit/>
          </a:bodyPr>
          <a:lstStyle/>
          <a:p>
            <a:pPr algn="ctr">
              <a:lnSpc>
                <a:spcPct val="115000"/>
              </a:lnSpc>
            </a:pPr>
            <a:r>
              <a:rPr sz="1100" b="1" i="0">
                <a:solidFill>
                  <a:srgbClr val="0F172A"/>
                </a:solidFill>
                <a:latin typeface="Aptos"/>
              </a:rPr>
              <a:t>Replica</a:t>
            </a:r>
          </a:p>
        </p:txBody>
      </p:sp>
      <p:sp>
        <p:nvSpPr>
          <p:cNvPr id="11" name="TextBox 10"/>
          <p:cNvSpPr txBox="1"/>
          <p:nvPr/>
        </p:nvSpPr>
        <p:spPr>
          <a:xfrm>
            <a:off x="3063240" y="2729484"/>
            <a:ext cx="2103120" cy="219456"/>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prod-sync, ~5 min</a:t>
            </a:r>
          </a:p>
        </p:txBody>
      </p:sp>
      <p:sp>
        <p:nvSpPr>
          <p:cNvPr id="12" name="Rounded Rectangle 11"/>
          <p:cNvSpPr/>
          <p:nvPr/>
        </p:nvSpPr>
        <p:spPr>
          <a:xfrm>
            <a:off x="5559552" y="2286000"/>
            <a:ext cx="2103120" cy="868680"/>
          </a:xfrm>
          <a:prstGeom prst="roundRect">
            <a:avLst>
              <a:gd name="adj" fmla="val 6000"/>
            </a:avLst>
          </a:prstGeom>
          <a:solidFill>
            <a:srgbClr val="FFFFFF"/>
          </a:solidFill>
          <a:ln w="1397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59552" y="2464308"/>
            <a:ext cx="2103120" cy="237744"/>
          </a:xfrm>
          <a:prstGeom prst="rect">
            <a:avLst/>
          </a:prstGeom>
          <a:noFill/>
        </p:spPr>
        <p:txBody>
          <a:bodyPr wrap="square" lIns="0" rIns="0" tIns="0" bIns="0" anchor="t">
            <a:spAutoFit/>
          </a:bodyPr>
          <a:lstStyle/>
          <a:p>
            <a:pPr algn="ctr">
              <a:lnSpc>
                <a:spcPct val="115000"/>
              </a:lnSpc>
            </a:pPr>
            <a:r>
              <a:rPr sz="1100" b="1" i="0">
                <a:solidFill>
                  <a:srgbClr val="0F172A"/>
                </a:solidFill>
                <a:latin typeface="Aptos"/>
              </a:rPr>
              <a:t>Metrics</a:t>
            </a:r>
          </a:p>
        </p:txBody>
      </p:sp>
      <p:sp>
        <p:nvSpPr>
          <p:cNvPr id="14" name="TextBox 13"/>
          <p:cNvSpPr txBox="1"/>
          <p:nvPr/>
        </p:nvSpPr>
        <p:spPr>
          <a:xfrm>
            <a:off x="5559552" y="2729484"/>
            <a:ext cx="2103120" cy="219456"/>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33 registered</a:t>
            </a:r>
          </a:p>
        </p:txBody>
      </p:sp>
      <p:sp>
        <p:nvSpPr>
          <p:cNvPr id="15" name="Rounded Rectangle 14"/>
          <p:cNvSpPr/>
          <p:nvPr/>
        </p:nvSpPr>
        <p:spPr>
          <a:xfrm>
            <a:off x="8055864" y="2286000"/>
            <a:ext cx="2103120" cy="868680"/>
          </a:xfrm>
          <a:prstGeom prst="roundRect">
            <a:avLst>
              <a:gd name="adj" fmla="val 6000"/>
            </a:avLst>
          </a:prstGeom>
          <a:solidFill>
            <a:srgbClr val="FFFFFF"/>
          </a:solidFill>
          <a:ln w="1397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2464308"/>
            <a:ext cx="2103120" cy="237744"/>
          </a:xfrm>
          <a:prstGeom prst="rect">
            <a:avLst/>
          </a:prstGeom>
          <a:noFill/>
        </p:spPr>
        <p:txBody>
          <a:bodyPr wrap="square" lIns="0" rIns="0" tIns="0" bIns="0" anchor="t">
            <a:spAutoFit/>
          </a:bodyPr>
          <a:lstStyle/>
          <a:p>
            <a:pPr algn="ctr">
              <a:lnSpc>
                <a:spcPct val="115000"/>
              </a:lnSpc>
            </a:pPr>
            <a:r>
              <a:rPr sz="1100" b="1" i="0">
                <a:solidFill>
                  <a:srgbClr val="0F172A"/>
                </a:solidFill>
                <a:latin typeface="Aptos"/>
              </a:rPr>
              <a:t>Rules</a:t>
            </a:r>
          </a:p>
        </p:txBody>
      </p:sp>
      <p:sp>
        <p:nvSpPr>
          <p:cNvPr id="17" name="TextBox 16"/>
          <p:cNvSpPr txBox="1"/>
          <p:nvPr/>
        </p:nvSpPr>
        <p:spPr>
          <a:xfrm>
            <a:off x="8055864" y="2729484"/>
            <a:ext cx="2103120" cy="219456"/>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43 evaluated</a:t>
            </a:r>
          </a:p>
        </p:txBody>
      </p:sp>
      <p:sp>
        <p:nvSpPr>
          <p:cNvPr id="18" name="Rounded Rectangle 17"/>
          <p:cNvSpPr/>
          <p:nvPr/>
        </p:nvSpPr>
        <p:spPr>
          <a:xfrm>
            <a:off x="10058400" y="3931920"/>
            <a:ext cx="1572768" cy="868680"/>
          </a:xfrm>
          <a:prstGeom prst="roundRect">
            <a:avLst>
              <a:gd name="adj" fmla="val 6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0" y="4247388"/>
            <a:ext cx="1572768" cy="237744"/>
          </a:xfrm>
          <a:prstGeom prst="rect">
            <a:avLst/>
          </a:prstGeom>
          <a:noFill/>
        </p:spPr>
        <p:txBody>
          <a:bodyPr wrap="square" lIns="0" rIns="0" tIns="0" bIns="0" anchor="ctr">
            <a:spAutoFit/>
          </a:bodyPr>
          <a:lstStyle/>
          <a:p>
            <a:pPr algn="ctr">
              <a:lnSpc>
                <a:spcPct val="115000"/>
              </a:lnSpc>
            </a:pPr>
            <a:r>
              <a:rPr sz="1100" b="1" i="0">
                <a:solidFill>
                  <a:srgbClr val="0F172A"/>
                </a:solidFill>
                <a:latin typeface="Aptos"/>
              </a:rPr>
              <a:t>You</a:t>
            </a:r>
          </a:p>
        </p:txBody>
      </p:sp>
      <p:cxnSp>
        <p:nvCxnSpPr>
          <p:cNvPr id="20" name="Connector 19"/>
          <p:cNvCxnSpPr/>
          <p:nvPr/>
        </p:nvCxnSpPr>
        <p:spPr>
          <a:xfrm>
            <a:off x="2724912" y="2720340"/>
            <a:ext cx="283464" cy="0"/>
          </a:xfrm>
          <a:prstGeom prst="line">
            <a:avLst/>
          </a:prstGeom>
          <a:ln w="2032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221224" y="2720340"/>
            <a:ext cx="283464" cy="0"/>
          </a:xfrm>
          <a:prstGeom prst="line">
            <a:avLst/>
          </a:prstGeom>
          <a:ln w="2032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717536" y="2720340"/>
            <a:ext cx="283464" cy="0"/>
          </a:xfrm>
          <a:prstGeom prst="line">
            <a:avLst/>
          </a:prstGeom>
          <a:ln w="2032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107424" y="3154680"/>
            <a:ext cx="1408176" cy="758952"/>
          </a:xfrm>
          <a:prstGeom prst="line">
            <a:avLst/>
          </a:prstGeom>
          <a:ln w="2032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66928" y="3931920"/>
            <a:ext cx="9052560" cy="868680"/>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069080"/>
            <a:ext cx="8595360" cy="219456"/>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READ-ONLY BY CONSTRUCTION</a:t>
            </a:r>
          </a:p>
        </p:txBody>
      </p:sp>
      <p:sp>
        <p:nvSpPr>
          <p:cNvPr id="26" name="TextBox 25"/>
          <p:cNvSpPr txBox="1"/>
          <p:nvPr/>
        </p:nvSpPr>
        <p:spPr>
          <a:xfrm>
            <a:off x="822960" y="4325112"/>
            <a:ext cx="8595360" cy="384048"/>
          </a:xfrm>
          <a:prstGeom prst="rect">
            <a:avLst/>
          </a:prstGeom>
          <a:noFill/>
        </p:spPr>
        <p:txBody>
          <a:bodyPr wrap="square" lIns="0" rIns="0" tIns="0" bIns="0" anchor="t">
            <a:spAutoFit/>
          </a:bodyPr>
          <a:lstStyle/>
          <a:p>
            <a:pPr algn="l">
              <a:lnSpc>
                <a:spcPct val="120000"/>
              </a:lnSpc>
            </a:pPr>
            <a:r>
              <a:rPr sz="1100" b="0" i="0">
                <a:solidFill>
                  <a:srgbClr val="334155"/>
                </a:solidFill>
                <a:latin typeface="Aptos"/>
              </a:rPr>
              <a:t>The console has no write path to production. It cannot refund, activate, cancel or edit anything. Worst case it is WRONG — never destructive.</a:t>
            </a:r>
          </a:p>
        </p:txBody>
      </p:sp>
      <p:sp>
        <p:nvSpPr>
          <p:cNvPr id="27" name="Rounded Rectangle 26"/>
          <p:cNvSpPr/>
          <p:nvPr/>
        </p:nvSpPr>
        <p:spPr>
          <a:xfrm>
            <a:off x="566928" y="5074920"/>
            <a:ext cx="11064240" cy="310896"/>
          </a:xfrm>
          <a:prstGeom prst="roundRect">
            <a:avLst>
              <a:gd name="adj" fmla="val 6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129783"/>
            <a:ext cx="257860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Hop</a:t>
            </a:r>
          </a:p>
        </p:txBody>
      </p:sp>
      <p:sp>
        <p:nvSpPr>
          <p:cNvPr id="29" name="TextBox 28"/>
          <p:cNvSpPr txBox="1"/>
          <p:nvPr/>
        </p:nvSpPr>
        <p:spPr>
          <a:xfrm>
            <a:off x="3429000" y="5129783"/>
            <a:ext cx="459028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What can go wrong</a:t>
            </a:r>
          </a:p>
        </p:txBody>
      </p:sp>
      <p:sp>
        <p:nvSpPr>
          <p:cNvPr id="30" name="TextBox 29"/>
          <p:cNvSpPr txBox="1"/>
          <p:nvPr/>
        </p:nvSpPr>
        <p:spPr>
          <a:xfrm>
            <a:off x="8183880" y="5129783"/>
            <a:ext cx="340156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How you would notice</a:t>
            </a:r>
          </a:p>
        </p:txBody>
      </p:sp>
      <p:sp>
        <p:nvSpPr>
          <p:cNvPr id="31" name="TextBox 30"/>
          <p:cNvSpPr txBox="1"/>
          <p:nvPr/>
        </p:nvSpPr>
        <p:spPr>
          <a:xfrm>
            <a:off x="685800" y="5440679"/>
            <a:ext cx="25786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prod → replica</a:t>
            </a:r>
          </a:p>
        </p:txBody>
      </p:sp>
      <p:sp>
        <p:nvSpPr>
          <p:cNvPr id="32" name="TextBox 31"/>
          <p:cNvSpPr txBox="1"/>
          <p:nvPr/>
        </p:nvSpPr>
        <p:spPr>
          <a:xfrm>
            <a:off x="3429000" y="5440679"/>
            <a:ext cx="45902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sync stalls, table wedged</a:t>
            </a:r>
          </a:p>
        </p:txBody>
      </p:sp>
      <p:sp>
        <p:nvSpPr>
          <p:cNvPr id="33" name="TextBox 32"/>
          <p:cNvSpPr txBox="1"/>
          <p:nvPr/>
        </p:nvSpPr>
        <p:spPr>
          <a:xfrm>
            <a:off x="8183880" y="5440679"/>
            <a:ext cx="34015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staleness banner + freshness check</a:t>
            </a:r>
          </a:p>
        </p:txBody>
      </p:sp>
      <p:sp>
        <p:nvSpPr>
          <p:cNvPr id="34" name="Rounded Rectangle 33"/>
          <p:cNvSpPr/>
          <p:nvPr/>
        </p:nvSpPr>
        <p:spPr>
          <a:xfrm>
            <a:off x="566928" y="5696712"/>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5751575"/>
            <a:ext cx="25786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replica → metric</a:t>
            </a:r>
          </a:p>
        </p:txBody>
      </p:sp>
      <p:sp>
        <p:nvSpPr>
          <p:cNvPr id="36" name="TextBox 35"/>
          <p:cNvSpPr txBox="1"/>
          <p:nvPr/>
        </p:nvSpPr>
        <p:spPr>
          <a:xfrm>
            <a:off x="3429000" y="5751575"/>
            <a:ext cx="45902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SQL says something other than you assume</a:t>
            </a:r>
          </a:p>
        </p:txBody>
      </p:sp>
      <p:sp>
        <p:nvSpPr>
          <p:cNvPr id="37" name="TextBox 36"/>
          <p:cNvSpPr txBox="1"/>
          <p:nvPr/>
        </p:nvSpPr>
        <p:spPr>
          <a:xfrm>
            <a:off x="8183880" y="5751575"/>
            <a:ext cx="34015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the definitions review, today</a:t>
            </a:r>
          </a:p>
        </p:txBody>
      </p:sp>
      <p:sp>
        <p:nvSpPr>
          <p:cNvPr id="38" name="TextBox 37"/>
          <p:cNvSpPr txBox="1"/>
          <p:nvPr/>
        </p:nvSpPr>
        <p:spPr>
          <a:xfrm>
            <a:off x="685800" y="6062472"/>
            <a:ext cx="25786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metric → rule</a:t>
            </a:r>
          </a:p>
        </p:txBody>
      </p:sp>
      <p:sp>
        <p:nvSpPr>
          <p:cNvPr id="39" name="TextBox 38"/>
          <p:cNvSpPr txBox="1"/>
          <p:nvPr/>
        </p:nvSpPr>
        <p:spPr>
          <a:xfrm>
            <a:off x="3429000" y="6062472"/>
            <a:ext cx="45902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threshold wrong for the baseline</a:t>
            </a:r>
          </a:p>
        </p:txBody>
      </p:sp>
      <p:sp>
        <p:nvSpPr>
          <p:cNvPr id="40" name="TextBox 39"/>
          <p:cNvSpPr txBox="1"/>
          <p:nvPr/>
        </p:nvSpPr>
        <p:spPr>
          <a:xfrm>
            <a:off x="8183880" y="6062472"/>
            <a:ext cx="34015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session 2</a:t>
            </a:r>
          </a:p>
        </p:txBody>
      </p:sp>
      <p:sp>
        <p:nvSpPr>
          <p:cNvPr id="41" name="Rounded Rectangle 40"/>
          <p:cNvSpPr/>
          <p:nvPr/>
        </p:nvSpPr>
        <p:spPr>
          <a:xfrm>
            <a:off x="566928" y="6318504"/>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6373368"/>
            <a:ext cx="25786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rule → you</a:t>
            </a:r>
          </a:p>
        </p:txBody>
      </p:sp>
      <p:sp>
        <p:nvSpPr>
          <p:cNvPr id="43" name="TextBox 42"/>
          <p:cNvSpPr txBox="1"/>
          <p:nvPr/>
        </p:nvSpPr>
        <p:spPr>
          <a:xfrm>
            <a:off x="3429000" y="6373368"/>
            <a:ext cx="45902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fires but nobody acts</a:t>
            </a:r>
          </a:p>
        </p:txBody>
      </p:sp>
      <p:sp>
        <p:nvSpPr>
          <p:cNvPr id="44" name="TextBox 43"/>
          <p:cNvSpPr txBox="1"/>
          <p:nvPr/>
        </p:nvSpPr>
        <p:spPr>
          <a:xfrm>
            <a:off x="8183880" y="6373368"/>
            <a:ext cx="34015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session 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7315200" cy="182880"/>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1.2 · FRESHNESS</a:t>
            </a:r>
          </a:p>
        </p:txBody>
      </p:sp>
      <p:sp>
        <p:nvSpPr>
          <p:cNvPr id="3" name="TextBox 2"/>
          <p:cNvSpPr txBox="1"/>
          <p:nvPr/>
        </p:nvSpPr>
        <p:spPr>
          <a:xfrm>
            <a:off x="566928" y="621792"/>
            <a:ext cx="10058400" cy="411480"/>
          </a:xfrm>
          <a:prstGeom prst="rect">
            <a:avLst/>
          </a:prstGeom>
          <a:noFill/>
        </p:spPr>
        <p:txBody>
          <a:bodyPr wrap="square" lIns="0" rIns="0" tIns="0" bIns="0" anchor="t">
            <a:spAutoFit/>
          </a:bodyPr>
          <a:lstStyle/>
          <a:p>
            <a:pPr algn="l">
              <a:lnSpc>
                <a:spcPct val="115000"/>
              </a:lnSpc>
            </a:pPr>
            <a:r>
              <a:rPr sz="2400" b="1" i="0">
                <a:solidFill>
                  <a:srgbClr val="0F172A"/>
                </a:solidFill>
                <a:latin typeface="Aptos"/>
              </a:rPr>
              <a:t>How you know the data is stale</a:t>
            </a:r>
          </a:p>
        </p:txBody>
      </p:sp>
      <p:sp>
        <p:nvSpPr>
          <p:cNvPr id="4" name="Rectangle 3"/>
          <p:cNvSpPr/>
          <p:nvPr/>
        </p:nvSpPr>
        <p:spPr>
          <a:xfrm>
            <a:off x="566928" y="1133856"/>
            <a:ext cx="64008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16736"/>
            <a:ext cx="11064240" cy="457200"/>
          </a:xfrm>
          <a:prstGeom prst="rect">
            <a:avLst/>
          </a:prstGeom>
          <a:noFill/>
        </p:spPr>
        <p:txBody>
          <a:bodyPr wrap="square" lIns="0" rIns="0" tIns="0" bIns="0" anchor="t">
            <a:spAutoFit/>
          </a:bodyPr>
          <a:lstStyle/>
          <a:p>
            <a:pPr algn="l">
              <a:lnSpc>
                <a:spcPct val="115000"/>
              </a:lnSpc>
            </a:pPr>
            <a:r>
              <a:rPr sz="1200" b="0" i="0">
                <a:solidFill>
                  <a:srgbClr val="64748B"/>
                </a:solidFill>
                <a:latin typeface="Aptos"/>
              </a:rPr>
              <a:t>A wrong number is bad. A stale number that looks live is worse.</a:t>
            </a:r>
          </a:p>
        </p:txBody>
      </p:sp>
      <p:sp>
        <p:nvSpPr>
          <p:cNvPr id="6" name="Rectangle 5"/>
          <p:cNvSpPr/>
          <p:nvPr/>
        </p:nvSpPr>
        <p:spPr>
          <a:xfrm>
            <a:off x="1097280" y="2651760"/>
            <a:ext cx="10058400" cy="201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3271" y="2597810"/>
            <a:ext cx="128016" cy="128016"/>
          </a:xfrm>
          <a:prstGeom prst="ellipse">
            <a:avLst/>
          </a:prstGeom>
          <a:solidFill>
            <a:srgbClr val="1D4ED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79" y="2084831"/>
            <a:ext cx="1828800" cy="219456"/>
          </a:xfrm>
          <a:prstGeom prst="rect">
            <a:avLst/>
          </a:prstGeom>
          <a:noFill/>
        </p:spPr>
        <p:txBody>
          <a:bodyPr wrap="square" lIns="0" rIns="0" tIns="0" bIns="0" anchor="t">
            <a:spAutoFit/>
          </a:bodyPr>
          <a:lstStyle/>
          <a:p>
            <a:pPr algn="ctr">
              <a:lnSpc>
                <a:spcPct val="115000"/>
              </a:lnSpc>
            </a:pPr>
            <a:r>
              <a:rPr sz="1000" b="1" i="0">
                <a:solidFill>
                  <a:srgbClr val="0F172A"/>
                </a:solidFill>
                <a:latin typeface="Aptos"/>
              </a:rPr>
              <a:t>prod write</a:t>
            </a:r>
          </a:p>
        </p:txBody>
      </p:sp>
      <p:sp>
        <p:nvSpPr>
          <p:cNvPr id="9" name="TextBox 8"/>
          <p:cNvSpPr txBox="1"/>
          <p:nvPr/>
        </p:nvSpPr>
        <p:spPr>
          <a:xfrm>
            <a:off x="91439" y="2322576"/>
            <a:ext cx="2011680" cy="201168"/>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customer acts</a:t>
            </a:r>
          </a:p>
        </p:txBody>
      </p:sp>
      <p:sp>
        <p:nvSpPr>
          <p:cNvPr id="10" name="Oval 9"/>
          <p:cNvSpPr/>
          <p:nvPr/>
        </p:nvSpPr>
        <p:spPr>
          <a:xfrm>
            <a:off x="4050791" y="2597810"/>
            <a:ext cx="128016" cy="128016"/>
          </a:xfrm>
          <a:prstGeom prst="ellipse">
            <a:avLst/>
          </a:prstGeom>
          <a:solidFill>
            <a:srgbClr val="1D4ED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0" y="2084831"/>
            <a:ext cx="1828800" cy="219456"/>
          </a:xfrm>
          <a:prstGeom prst="rect">
            <a:avLst/>
          </a:prstGeom>
          <a:noFill/>
        </p:spPr>
        <p:txBody>
          <a:bodyPr wrap="square" lIns="0" rIns="0" tIns="0" bIns="0" anchor="t">
            <a:spAutoFit/>
          </a:bodyPr>
          <a:lstStyle/>
          <a:p>
            <a:pPr algn="ctr">
              <a:lnSpc>
                <a:spcPct val="115000"/>
              </a:lnSpc>
            </a:pPr>
            <a:r>
              <a:rPr sz="1000" b="1" i="0">
                <a:solidFill>
                  <a:srgbClr val="0F172A"/>
                </a:solidFill>
                <a:latin typeface="Aptos"/>
              </a:rPr>
              <a:t>prod-sync</a:t>
            </a:r>
          </a:p>
        </p:txBody>
      </p:sp>
      <p:sp>
        <p:nvSpPr>
          <p:cNvPr id="12" name="TextBox 11"/>
          <p:cNvSpPr txBox="1"/>
          <p:nvPr/>
        </p:nvSpPr>
        <p:spPr>
          <a:xfrm>
            <a:off x="3108960" y="2322576"/>
            <a:ext cx="2011680" cy="201168"/>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every 5 min</a:t>
            </a:r>
          </a:p>
        </p:txBody>
      </p:sp>
      <p:sp>
        <p:nvSpPr>
          <p:cNvPr id="13" name="Oval 12"/>
          <p:cNvSpPr/>
          <p:nvPr/>
        </p:nvSpPr>
        <p:spPr>
          <a:xfrm>
            <a:off x="6867144" y="2597810"/>
            <a:ext cx="128016" cy="128016"/>
          </a:xfrm>
          <a:prstGeom prst="ellipse">
            <a:avLst/>
          </a:prstGeom>
          <a:solidFill>
            <a:srgbClr val="1D4ED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16752" y="2084831"/>
            <a:ext cx="1828800" cy="219456"/>
          </a:xfrm>
          <a:prstGeom prst="rect">
            <a:avLst/>
          </a:prstGeom>
          <a:noFill/>
        </p:spPr>
        <p:txBody>
          <a:bodyPr wrap="square" lIns="0" rIns="0" tIns="0" bIns="0" anchor="t">
            <a:spAutoFit/>
          </a:bodyPr>
          <a:lstStyle/>
          <a:p>
            <a:pPr algn="ctr">
              <a:lnSpc>
                <a:spcPct val="115000"/>
              </a:lnSpc>
            </a:pPr>
            <a:r>
              <a:rPr sz="1000" b="1" i="0">
                <a:solidFill>
                  <a:srgbClr val="0F172A"/>
                </a:solidFill>
                <a:latin typeface="Aptos"/>
              </a:rPr>
              <a:t>replica</a:t>
            </a:r>
          </a:p>
        </p:txBody>
      </p:sp>
      <p:sp>
        <p:nvSpPr>
          <p:cNvPr id="15" name="TextBox 14"/>
          <p:cNvSpPr txBox="1"/>
          <p:nvPr/>
        </p:nvSpPr>
        <p:spPr>
          <a:xfrm>
            <a:off x="5925312" y="2322576"/>
            <a:ext cx="2011680" cy="201168"/>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watermark advances</a:t>
            </a:r>
          </a:p>
        </p:txBody>
      </p:sp>
      <p:sp>
        <p:nvSpPr>
          <p:cNvPr id="16" name="Oval 15"/>
          <p:cNvSpPr/>
          <p:nvPr/>
        </p:nvSpPr>
        <p:spPr>
          <a:xfrm>
            <a:off x="9582911" y="2597810"/>
            <a:ext cx="128016" cy="128016"/>
          </a:xfrm>
          <a:prstGeom prst="ellipse">
            <a:avLst/>
          </a:prstGeom>
          <a:solidFill>
            <a:srgbClr val="1D4ED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32519" y="2084831"/>
            <a:ext cx="1828800" cy="219456"/>
          </a:xfrm>
          <a:prstGeom prst="rect">
            <a:avLst/>
          </a:prstGeom>
          <a:noFill/>
        </p:spPr>
        <p:txBody>
          <a:bodyPr wrap="square" lIns="0" rIns="0" tIns="0" bIns="0" anchor="t">
            <a:spAutoFit/>
          </a:bodyPr>
          <a:lstStyle/>
          <a:p>
            <a:pPr algn="ctr">
              <a:lnSpc>
                <a:spcPct val="115000"/>
              </a:lnSpc>
            </a:pPr>
            <a:r>
              <a:rPr sz="1000" b="1" i="0">
                <a:solidFill>
                  <a:srgbClr val="0F172A"/>
                </a:solidFill>
                <a:latin typeface="Aptos"/>
              </a:rPr>
              <a:t>console</a:t>
            </a:r>
          </a:p>
        </p:txBody>
      </p:sp>
      <p:sp>
        <p:nvSpPr>
          <p:cNvPr id="18" name="TextBox 17"/>
          <p:cNvSpPr txBox="1"/>
          <p:nvPr/>
        </p:nvSpPr>
        <p:spPr>
          <a:xfrm>
            <a:off x="8641080" y="2322576"/>
            <a:ext cx="2011680" cy="201168"/>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cached ≤120s</a:t>
            </a:r>
          </a:p>
        </p:txBody>
      </p:sp>
      <p:sp>
        <p:nvSpPr>
          <p:cNvPr id="19" name="Rounded Rectangle 18"/>
          <p:cNvSpPr/>
          <p:nvPr/>
        </p:nvSpPr>
        <p:spPr>
          <a:xfrm>
            <a:off x="566928" y="3520440"/>
            <a:ext cx="3566160" cy="1188720"/>
          </a:xfrm>
          <a:prstGeom prst="roundRect">
            <a:avLst>
              <a:gd name="adj" fmla="val 6000"/>
            </a:avLst>
          </a:prstGeom>
          <a:solidFill>
            <a:srgbClr val="ECFDF3"/>
          </a:solidFill>
          <a:ln w="9525">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3666744"/>
            <a:ext cx="3090672" cy="219456"/>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NORMAL</a:t>
            </a:r>
          </a:p>
        </p:txBody>
      </p:sp>
      <p:sp>
        <p:nvSpPr>
          <p:cNvPr id="21" name="TextBox 20"/>
          <p:cNvSpPr txBox="1"/>
          <p:nvPr/>
        </p:nvSpPr>
        <p:spPr>
          <a:xfrm>
            <a:off x="804672" y="3941064"/>
            <a:ext cx="3090672" cy="621792"/>
          </a:xfrm>
          <a:prstGeom prst="rect">
            <a:avLst/>
          </a:prstGeom>
          <a:noFill/>
        </p:spPr>
        <p:txBody>
          <a:bodyPr wrap="square" lIns="0" rIns="0" tIns="0" bIns="0" anchor="t">
            <a:spAutoFit/>
          </a:bodyPr>
          <a:lstStyle/>
          <a:p>
            <a:pPr algn="l">
              <a:lnSpc>
                <a:spcPct val="122000"/>
              </a:lnSpc>
            </a:pPr>
            <a:r>
              <a:rPr sz="1050" b="0" i="0">
                <a:solidFill>
                  <a:srgbClr val="0F172A"/>
                </a:solidFill>
                <a:latin typeface="Aptos"/>
              </a:rPr>
              <a:t>newest row under ~10 minutes old. The header shows 'updated Ns ago'.</a:t>
            </a:r>
          </a:p>
        </p:txBody>
      </p:sp>
      <p:sp>
        <p:nvSpPr>
          <p:cNvPr id="22" name="Rounded Rectangle 21"/>
          <p:cNvSpPr/>
          <p:nvPr/>
        </p:nvSpPr>
        <p:spPr>
          <a:xfrm>
            <a:off x="4315968" y="3520440"/>
            <a:ext cx="3566160" cy="1188720"/>
          </a:xfrm>
          <a:prstGeom prst="roundRect">
            <a:avLst>
              <a:gd name="adj" fmla="val 6000"/>
            </a:avLst>
          </a:prstGeom>
          <a:solidFill>
            <a:srgbClr val="FFFBEB"/>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53712" y="3666744"/>
            <a:ext cx="3090672" cy="219456"/>
          </a:xfrm>
          <a:prstGeom prst="rect">
            <a:avLst/>
          </a:prstGeom>
          <a:noFill/>
        </p:spPr>
        <p:txBody>
          <a:bodyPr wrap="square" lIns="0" rIns="0" tIns="0" bIns="0" anchor="t">
            <a:spAutoFit/>
          </a:bodyPr>
          <a:lstStyle/>
          <a:p>
            <a:pPr algn="l">
              <a:lnSpc>
                <a:spcPct val="115000"/>
              </a:lnSpc>
            </a:pPr>
            <a:r>
              <a:rPr sz="950" b="1" i="0">
                <a:solidFill>
                  <a:srgbClr val="B45309"/>
                </a:solidFill>
                <a:latin typeface="Aptos"/>
              </a:rPr>
              <a:t>DEGRADED</a:t>
            </a:r>
          </a:p>
        </p:txBody>
      </p:sp>
      <p:sp>
        <p:nvSpPr>
          <p:cNvPr id="24" name="TextBox 23"/>
          <p:cNvSpPr txBox="1"/>
          <p:nvPr/>
        </p:nvSpPr>
        <p:spPr>
          <a:xfrm>
            <a:off x="4553712" y="3941064"/>
            <a:ext cx="3090672" cy="621792"/>
          </a:xfrm>
          <a:prstGeom prst="rect">
            <a:avLst/>
          </a:prstGeom>
          <a:noFill/>
        </p:spPr>
        <p:txBody>
          <a:bodyPr wrap="square" lIns="0" rIns="0" tIns="0" bIns="0" anchor="t">
            <a:spAutoFit/>
          </a:bodyPr>
          <a:lstStyle/>
          <a:p>
            <a:pPr algn="l">
              <a:lnSpc>
                <a:spcPct val="122000"/>
              </a:lnSpc>
            </a:pPr>
            <a:r>
              <a:rPr sz="1050" b="0" i="0">
                <a:solidFill>
                  <a:srgbClr val="0F172A"/>
                </a:solidFill>
                <a:latin typeface="Aptos"/>
              </a:rPr>
              <a:t>10–45 min. Amber banner. Numbers are directionally right, not live — say so on a bridge.</a:t>
            </a:r>
          </a:p>
        </p:txBody>
      </p:sp>
      <p:sp>
        <p:nvSpPr>
          <p:cNvPr id="25" name="Rounded Rectangle 24"/>
          <p:cNvSpPr/>
          <p:nvPr/>
        </p:nvSpPr>
        <p:spPr>
          <a:xfrm>
            <a:off x="8065007" y="3520440"/>
            <a:ext cx="3566160" cy="1188720"/>
          </a:xfrm>
          <a:prstGeom prst="roundRect">
            <a:avLst>
              <a:gd name="adj" fmla="val 6000"/>
            </a:avLst>
          </a:prstGeom>
          <a:solidFill>
            <a:srgbClr val="FEF2F2"/>
          </a:solidFill>
          <a:ln w="952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02751" y="3666744"/>
            <a:ext cx="3090672" cy="219456"/>
          </a:xfrm>
          <a:prstGeom prst="rect">
            <a:avLst/>
          </a:prstGeom>
          <a:noFill/>
        </p:spPr>
        <p:txBody>
          <a:bodyPr wrap="square" lIns="0" rIns="0" tIns="0" bIns="0" anchor="t">
            <a:spAutoFit/>
          </a:bodyPr>
          <a:lstStyle/>
          <a:p>
            <a:pPr algn="l">
              <a:lnSpc>
                <a:spcPct val="115000"/>
              </a:lnSpc>
            </a:pPr>
            <a:r>
              <a:rPr sz="950" b="1" i="0">
                <a:solidFill>
                  <a:srgbClr val="B91C1C"/>
                </a:solidFill>
                <a:latin typeface="Aptos"/>
              </a:rPr>
              <a:t>STALE</a:t>
            </a:r>
          </a:p>
        </p:txBody>
      </p:sp>
      <p:sp>
        <p:nvSpPr>
          <p:cNvPr id="27" name="TextBox 26"/>
          <p:cNvSpPr txBox="1"/>
          <p:nvPr/>
        </p:nvSpPr>
        <p:spPr>
          <a:xfrm>
            <a:off x="8302751" y="3941064"/>
            <a:ext cx="3090672" cy="621792"/>
          </a:xfrm>
          <a:prstGeom prst="rect">
            <a:avLst/>
          </a:prstGeom>
          <a:noFill/>
        </p:spPr>
        <p:txBody>
          <a:bodyPr wrap="square" lIns="0" rIns="0" tIns="0" bIns="0" anchor="t">
            <a:spAutoFit/>
          </a:bodyPr>
          <a:lstStyle/>
          <a:p>
            <a:pPr algn="l">
              <a:lnSpc>
                <a:spcPct val="122000"/>
              </a:lnSpc>
            </a:pPr>
            <a:r>
              <a:rPr sz="1050" b="0" i="0">
                <a:solidFill>
                  <a:srgbClr val="0F172A"/>
                </a:solidFill>
                <a:latin typeface="Aptos"/>
              </a:rPr>
              <a:t>over 45 min. Red banner. Treat every figure as NOT current, and do not quote it.</a:t>
            </a:r>
          </a:p>
        </p:txBody>
      </p:sp>
      <p:sp>
        <p:nvSpPr>
          <p:cNvPr id="28" name="Rounded Rectangle 27"/>
          <p:cNvSpPr/>
          <p:nvPr/>
        </p:nvSpPr>
        <p:spPr>
          <a:xfrm>
            <a:off x="566928" y="4937760"/>
            <a:ext cx="11064240" cy="868680"/>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084064"/>
            <a:ext cx="10607040" cy="219456"/>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THE WATCHDOG — why you should not have to think about this</a:t>
            </a:r>
          </a:p>
        </p:txBody>
      </p:sp>
      <p:sp>
        <p:nvSpPr>
          <p:cNvPr id="30" name="TextBox 29"/>
          <p:cNvSpPr txBox="1"/>
          <p:nvPr/>
        </p:nvSpPr>
        <p:spPr>
          <a:xfrm>
            <a:off x="822960" y="5358384"/>
            <a:ext cx="10607040" cy="384048"/>
          </a:xfrm>
          <a:prstGeom prst="rect">
            <a:avLst/>
          </a:prstGeom>
          <a:noFill/>
        </p:spPr>
        <p:txBody>
          <a:bodyPr wrap="square" lIns="0" rIns="0" tIns="0" bIns="0" anchor="t">
            <a:spAutoFit/>
          </a:bodyPr>
          <a:lstStyle/>
          <a:p>
            <a:pPr algn="l">
              <a:lnSpc>
                <a:spcPct val="120000"/>
              </a:lnSpc>
            </a:pPr>
            <a:r>
              <a:rPr sz="1100" b="0" i="0">
                <a:solidFill>
                  <a:srgbClr val="334155"/>
                </a:solidFill>
                <a:latin typeface="Aptos"/>
              </a:rPr>
              <a:t>A cron job measures real lag every 5 min and only syncs when the replica is actually behind — retries with backoff, and re-pulls an explicit window if a watermark wedges. Healthy system = zero extra load on prod.</a:t>
            </a:r>
          </a:p>
        </p:txBody>
      </p:sp>
      <p:sp>
        <p:nvSpPr>
          <p:cNvPr id="31" name="Rounded Rectangle 30"/>
          <p:cNvSpPr/>
          <p:nvPr/>
        </p:nvSpPr>
        <p:spPr>
          <a:xfrm>
            <a:off x="566928" y="5943600"/>
            <a:ext cx="11064240" cy="822960"/>
          </a:xfrm>
          <a:prstGeom prst="roundRect">
            <a:avLst>
              <a:gd name="adj" fmla="val 6000"/>
            </a:avLst>
          </a:prstGeom>
          <a:solidFill>
            <a:srgbClr val="FFFBEB"/>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6062472"/>
            <a:ext cx="5387644" cy="201168"/>
          </a:xfrm>
          <a:prstGeom prst="rect">
            <a:avLst/>
          </a:prstGeom>
          <a:noFill/>
        </p:spPr>
        <p:txBody>
          <a:bodyPr wrap="square" lIns="0" rIns="0" tIns="0" bIns="0" anchor="t">
            <a:spAutoFit/>
          </a:bodyPr>
          <a:lstStyle/>
          <a:p>
            <a:pPr algn="l">
              <a:lnSpc>
                <a:spcPct val="115000"/>
              </a:lnSpc>
            </a:pPr>
            <a:r>
              <a:rPr sz="900" b="1" i="0">
                <a:solidFill>
                  <a:srgbClr val="B45309"/>
                </a:solidFill>
                <a:latin typeface="Aptos"/>
              </a:rPr>
              <a:t>REVIEW</a:t>
            </a:r>
          </a:p>
        </p:txBody>
      </p:sp>
      <p:sp>
        <p:nvSpPr>
          <p:cNvPr id="33" name="TextBox 32"/>
          <p:cNvSpPr txBox="1"/>
          <p:nvPr/>
        </p:nvSpPr>
        <p:spPr>
          <a:xfrm>
            <a:off x="822960" y="6272784"/>
            <a:ext cx="5387644" cy="384048"/>
          </a:xfrm>
          <a:prstGeom prst="rect">
            <a:avLst/>
          </a:prstGeom>
          <a:noFill/>
        </p:spPr>
        <p:txBody>
          <a:bodyPr wrap="square" lIns="0" rIns="0" tIns="0" bIns="0" anchor="t">
            <a:spAutoFit/>
          </a:bodyPr>
          <a:lstStyle/>
          <a:p>
            <a:pPr algn="l">
              <a:lnSpc>
                <a:spcPct val="115000"/>
              </a:lnSpc>
            </a:pPr>
            <a:r>
              <a:rPr sz="1250" b="1" i="0">
                <a:solidFill>
                  <a:srgbClr val="0F172A"/>
                </a:solidFill>
                <a:latin typeface="Aptos"/>
              </a:rPr>
              <a:t>Is a 10-minute lag acceptable for how you work?</a:t>
            </a:r>
          </a:p>
        </p:txBody>
      </p:sp>
      <p:sp>
        <p:nvSpPr>
          <p:cNvPr id="34" name="Rounded Rectangle 33"/>
          <p:cNvSpPr/>
          <p:nvPr/>
        </p:nvSpPr>
        <p:spPr>
          <a:xfrm>
            <a:off x="6320332" y="6153912"/>
            <a:ext cx="1599590" cy="402336"/>
          </a:xfrm>
          <a:prstGeom prst="roundRect">
            <a:avLst>
              <a:gd name="adj" fmla="val 6000"/>
            </a:avLst>
          </a:prstGeom>
          <a:solidFill>
            <a:srgbClr val="FFFFFF"/>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5196" y="6153912"/>
            <a:ext cx="1489862" cy="402336"/>
          </a:xfrm>
          <a:prstGeom prst="rect">
            <a:avLst/>
          </a:prstGeom>
          <a:noFill/>
        </p:spPr>
        <p:txBody>
          <a:bodyPr wrap="square" lIns="0" rIns="0" tIns="0" bIns="0" anchor="ctr">
            <a:spAutoFit/>
          </a:bodyPr>
          <a:lstStyle/>
          <a:p>
            <a:pPr algn="ctr">
              <a:lnSpc>
                <a:spcPct val="115000"/>
              </a:lnSpc>
            </a:pPr>
            <a:r>
              <a:rPr sz="1000" b="1" i="0">
                <a:solidFill>
                  <a:srgbClr val="B45309"/>
                </a:solidFill>
                <a:latin typeface="Aptos"/>
              </a:rPr>
              <a:t>Yes — 10/45 is right</a:t>
            </a:r>
          </a:p>
        </p:txBody>
      </p:sp>
      <p:sp>
        <p:nvSpPr>
          <p:cNvPr id="36" name="Rounded Rectangle 35"/>
          <p:cNvSpPr/>
          <p:nvPr/>
        </p:nvSpPr>
        <p:spPr>
          <a:xfrm>
            <a:off x="8047939" y="6153912"/>
            <a:ext cx="1599590" cy="402336"/>
          </a:xfrm>
          <a:prstGeom prst="roundRect">
            <a:avLst>
              <a:gd name="adj" fmla="val 6000"/>
            </a:avLst>
          </a:prstGeom>
          <a:solidFill>
            <a:srgbClr val="FFFFFF"/>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02803" y="6153912"/>
            <a:ext cx="1489862" cy="402336"/>
          </a:xfrm>
          <a:prstGeom prst="rect">
            <a:avLst/>
          </a:prstGeom>
          <a:noFill/>
        </p:spPr>
        <p:txBody>
          <a:bodyPr wrap="square" lIns="0" rIns="0" tIns="0" bIns="0" anchor="ctr">
            <a:spAutoFit/>
          </a:bodyPr>
          <a:lstStyle/>
          <a:p>
            <a:pPr algn="ctr">
              <a:lnSpc>
                <a:spcPct val="115000"/>
              </a:lnSpc>
            </a:pPr>
            <a:r>
              <a:rPr sz="1000" b="1" i="0">
                <a:solidFill>
                  <a:srgbClr val="B45309"/>
                </a:solidFill>
                <a:latin typeface="Aptos"/>
              </a:rPr>
              <a:t>No — tighten</a:t>
            </a:r>
          </a:p>
        </p:txBody>
      </p:sp>
      <p:sp>
        <p:nvSpPr>
          <p:cNvPr id="38" name="Rounded Rectangle 37"/>
          <p:cNvSpPr/>
          <p:nvPr/>
        </p:nvSpPr>
        <p:spPr>
          <a:xfrm>
            <a:off x="9775545" y="6153912"/>
            <a:ext cx="1599590" cy="402336"/>
          </a:xfrm>
          <a:prstGeom prst="roundRect">
            <a:avLst>
              <a:gd name="adj" fmla="val 6000"/>
            </a:avLst>
          </a:prstGeom>
          <a:solidFill>
            <a:srgbClr val="FFFFFF"/>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830409" y="6153912"/>
            <a:ext cx="1489862" cy="402336"/>
          </a:xfrm>
          <a:prstGeom prst="rect">
            <a:avLst/>
          </a:prstGeom>
          <a:noFill/>
        </p:spPr>
        <p:txBody>
          <a:bodyPr wrap="square" lIns="0" rIns="0" tIns="0" bIns="0" anchor="ctr">
            <a:spAutoFit/>
          </a:bodyPr>
          <a:lstStyle/>
          <a:p>
            <a:pPr algn="ctr">
              <a:lnSpc>
                <a:spcPct val="115000"/>
              </a:lnSpc>
            </a:pPr>
            <a:r>
              <a:rPr sz="1000" b="1" i="0">
                <a:solidFill>
                  <a:srgbClr val="B45309"/>
                </a:solidFill>
                <a:latin typeface="Aptos"/>
              </a:rPr>
              <a:t>Depends on the page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7315200" cy="182880"/>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1.3 · DEFINITIONS</a:t>
            </a:r>
          </a:p>
        </p:txBody>
      </p:sp>
      <p:sp>
        <p:nvSpPr>
          <p:cNvPr id="3" name="TextBox 2"/>
          <p:cNvSpPr txBox="1"/>
          <p:nvPr/>
        </p:nvSpPr>
        <p:spPr>
          <a:xfrm>
            <a:off x="566928" y="621792"/>
            <a:ext cx="10058400" cy="411480"/>
          </a:xfrm>
          <a:prstGeom prst="rect">
            <a:avLst/>
          </a:prstGeom>
          <a:noFill/>
        </p:spPr>
        <p:txBody>
          <a:bodyPr wrap="square" lIns="0" rIns="0" tIns="0" bIns="0" anchor="t">
            <a:spAutoFit/>
          </a:bodyPr>
          <a:lstStyle/>
          <a:p>
            <a:pPr algn="l">
              <a:lnSpc>
                <a:spcPct val="115000"/>
              </a:lnSpc>
            </a:pPr>
            <a:r>
              <a:rPr sz="2400" b="1" i="0">
                <a:solidFill>
                  <a:srgbClr val="0F172A"/>
                </a:solidFill>
                <a:latin typeface="Aptos"/>
              </a:rPr>
              <a:t>The order flow, one box at a time</a:t>
            </a:r>
          </a:p>
        </p:txBody>
      </p:sp>
      <p:sp>
        <p:nvSpPr>
          <p:cNvPr id="4" name="Rectangle 3"/>
          <p:cNvSpPr/>
          <p:nvPr/>
        </p:nvSpPr>
        <p:spPr>
          <a:xfrm>
            <a:off x="566928" y="1133856"/>
            <a:ext cx="64008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16736"/>
            <a:ext cx="11064240" cy="457200"/>
          </a:xfrm>
          <a:prstGeom prst="rect">
            <a:avLst/>
          </a:prstGeom>
          <a:noFill/>
        </p:spPr>
        <p:txBody>
          <a:bodyPr wrap="square" lIns="0" rIns="0" tIns="0" bIns="0" anchor="t">
            <a:spAutoFit/>
          </a:bodyPr>
          <a:lstStyle/>
          <a:p>
            <a:pPr algn="l">
              <a:lnSpc>
                <a:spcPct val="115000"/>
              </a:lnSpc>
            </a:pPr>
            <a:r>
              <a:rPr sz="1200" b="0" i="0">
                <a:solidFill>
                  <a:srgbClr val="64748B"/>
                </a:solidFill>
                <a:latin typeface="Aptos"/>
              </a:rPr>
              <a:t>This is the slowest part of the week and the most valuable. Every box is a definition you can veto.</a:t>
            </a:r>
          </a:p>
        </p:txBody>
      </p:sp>
      <p:sp>
        <p:nvSpPr>
          <p:cNvPr id="6" name="Rounded Rectangle 5"/>
          <p:cNvSpPr/>
          <p:nvPr/>
        </p:nvSpPr>
        <p:spPr>
          <a:xfrm>
            <a:off x="566928" y="2103120"/>
            <a:ext cx="11064240" cy="1051560"/>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865376"/>
            <a:ext cx="11064240" cy="201168"/>
          </a:xfrm>
          <a:prstGeom prst="rect">
            <a:avLst/>
          </a:prstGeom>
          <a:noFill/>
        </p:spPr>
        <p:txBody>
          <a:bodyPr wrap="square" lIns="0" rIns="0" tIns="0" bIns="0" anchor="t">
            <a:spAutoFit/>
          </a:bodyPr>
          <a:lstStyle/>
          <a:p>
            <a:pPr algn="l">
              <a:lnSpc>
                <a:spcPct val="115000"/>
              </a:lnSpc>
            </a:pPr>
            <a:r>
              <a:rPr sz="900" b="1" i="0">
                <a:solidFill>
                  <a:srgbClr val="64748B"/>
                </a:solidFill>
                <a:latin typeface="Aptos"/>
              </a:rPr>
              <a:t>THE LANE YOU ALREADY KNOW</a:t>
            </a:r>
          </a:p>
        </p:txBody>
      </p:sp>
      <p:sp>
        <p:nvSpPr>
          <p:cNvPr id="8" name="Rounded Rectangle 7"/>
          <p:cNvSpPr/>
          <p:nvPr/>
        </p:nvSpPr>
        <p:spPr>
          <a:xfrm>
            <a:off x="914400" y="2331720"/>
            <a:ext cx="1600200" cy="640080"/>
          </a:xfrm>
          <a:prstGeom prst="roundRect">
            <a:avLst>
              <a:gd name="adj" fmla="val 6000"/>
            </a:avLst>
          </a:prstGeom>
          <a:solidFill>
            <a:srgbClr val="FFFFFF"/>
          </a:solidFill>
          <a:ln w="1397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32888"/>
            <a:ext cx="1600200" cy="237744"/>
          </a:xfrm>
          <a:prstGeom prst="rect">
            <a:avLst/>
          </a:prstGeom>
          <a:noFill/>
        </p:spPr>
        <p:txBody>
          <a:bodyPr wrap="square" lIns="0" rIns="0" tIns="0" bIns="0" anchor="ctr">
            <a:spAutoFit/>
          </a:bodyPr>
          <a:lstStyle/>
          <a:p>
            <a:pPr algn="ctr">
              <a:lnSpc>
                <a:spcPct val="115000"/>
              </a:lnSpc>
            </a:pPr>
            <a:r>
              <a:rPr sz="1100" b="1" i="0">
                <a:solidFill>
                  <a:srgbClr val="0F172A"/>
                </a:solidFill>
                <a:latin typeface="Aptos"/>
              </a:rPr>
              <a:t>Orders</a:t>
            </a:r>
          </a:p>
        </p:txBody>
      </p:sp>
      <p:sp>
        <p:nvSpPr>
          <p:cNvPr id="10" name="Rounded Rectangle 9"/>
          <p:cNvSpPr/>
          <p:nvPr/>
        </p:nvSpPr>
        <p:spPr>
          <a:xfrm>
            <a:off x="2788920" y="2331720"/>
            <a:ext cx="1600200" cy="640080"/>
          </a:xfrm>
          <a:prstGeom prst="roundRect">
            <a:avLst>
              <a:gd name="adj" fmla="val 6000"/>
            </a:avLst>
          </a:prstGeom>
          <a:solidFill>
            <a:srgbClr val="FFFFFF"/>
          </a:solidFill>
          <a:ln w="1397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88920" y="2532888"/>
            <a:ext cx="1600200" cy="237744"/>
          </a:xfrm>
          <a:prstGeom prst="rect">
            <a:avLst/>
          </a:prstGeom>
          <a:noFill/>
        </p:spPr>
        <p:txBody>
          <a:bodyPr wrap="square" lIns="0" rIns="0" tIns="0" bIns="0" anchor="ctr">
            <a:spAutoFit/>
          </a:bodyPr>
          <a:lstStyle/>
          <a:p>
            <a:pPr algn="ctr">
              <a:lnSpc>
                <a:spcPct val="115000"/>
              </a:lnSpc>
            </a:pPr>
            <a:r>
              <a:rPr sz="1100" b="1" i="0">
                <a:solidFill>
                  <a:srgbClr val="0F172A"/>
                </a:solidFill>
                <a:latin typeface="Aptos"/>
              </a:rPr>
              <a:t>Eligibility</a:t>
            </a:r>
          </a:p>
        </p:txBody>
      </p:sp>
      <p:sp>
        <p:nvSpPr>
          <p:cNvPr id="12" name="Rounded Rectangle 11"/>
          <p:cNvSpPr/>
          <p:nvPr/>
        </p:nvSpPr>
        <p:spPr>
          <a:xfrm>
            <a:off x="4663440" y="2331720"/>
            <a:ext cx="1600200" cy="640080"/>
          </a:xfrm>
          <a:prstGeom prst="roundRect">
            <a:avLst>
              <a:gd name="adj" fmla="val 6000"/>
            </a:avLst>
          </a:prstGeom>
          <a:solidFill>
            <a:srgbClr val="FFFFFF"/>
          </a:solidFill>
          <a:ln w="1397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2532888"/>
            <a:ext cx="1600200" cy="237744"/>
          </a:xfrm>
          <a:prstGeom prst="rect">
            <a:avLst/>
          </a:prstGeom>
          <a:noFill/>
        </p:spPr>
        <p:txBody>
          <a:bodyPr wrap="square" lIns="0" rIns="0" tIns="0" bIns="0" anchor="ctr">
            <a:spAutoFit/>
          </a:bodyPr>
          <a:lstStyle/>
          <a:p>
            <a:pPr algn="ctr">
              <a:lnSpc>
                <a:spcPct val="115000"/>
              </a:lnSpc>
            </a:pPr>
            <a:r>
              <a:rPr sz="1100" b="1" i="0">
                <a:solidFill>
                  <a:srgbClr val="0F172A"/>
                </a:solidFill>
                <a:latin typeface="Aptos"/>
              </a:rPr>
              <a:t>Payment</a:t>
            </a:r>
          </a:p>
        </p:txBody>
      </p:sp>
      <p:sp>
        <p:nvSpPr>
          <p:cNvPr id="14" name="Rounded Rectangle 13"/>
          <p:cNvSpPr/>
          <p:nvPr/>
        </p:nvSpPr>
        <p:spPr>
          <a:xfrm>
            <a:off x="6537960" y="2331720"/>
            <a:ext cx="1600200" cy="640080"/>
          </a:xfrm>
          <a:prstGeom prst="roundRect">
            <a:avLst>
              <a:gd name="adj" fmla="val 6000"/>
            </a:avLst>
          </a:prstGeom>
          <a:solidFill>
            <a:srgbClr val="FFFFFF"/>
          </a:solidFill>
          <a:ln w="1397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2532888"/>
            <a:ext cx="1600200" cy="237744"/>
          </a:xfrm>
          <a:prstGeom prst="rect">
            <a:avLst/>
          </a:prstGeom>
          <a:noFill/>
        </p:spPr>
        <p:txBody>
          <a:bodyPr wrap="square" lIns="0" rIns="0" tIns="0" bIns="0" anchor="ctr">
            <a:spAutoFit/>
          </a:bodyPr>
          <a:lstStyle/>
          <a:p>
            <a:pPr algn="ctr">
              <a:lnSpc>
                <a:spcPct val="115000"/>
              </a:lnSpc>
            </a:pPr>
            <a:r>
              <a:rPr sz="1100" b="1" i="0">
                <a:solidFill>
                  <a:srgbClr val="0F172A"/>
                </a:solidFill>
                <a:latin typeface="Aptos"/>
              </a:rPr>
              <a:t>SIM</a:t>
            </a:r>
          </a:p>
        </p:txBody>
      </p:sp>
      <p:sp>
        <p:nvSpPr>
          <p:cNvPr id="16" name="Rounded Rectangle 15"/>
          <p:cNvSpPr/>
          <p:nvPr/>
        </p:nvSpPr>
        <p:spPr>
          <a:xfrm>
            <a:off x="8412480" y="2331720"/>
            <a:ext cx="1600200" cy="640080"/>
          </a:xfrm>
          <a:prstGeom prst="roundRect">
            <a:avLst>
              <a:gd name="adj" fmla="val 6000"/>
            </a:avLst>
          </a:prstGeom>
          <a:solidFill>
            <a:srgbClr val="FFFFFF"/>
          </a:solidFill>
          <a:ln w="1397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532888"/>
            <a:ext cx="1600200" cy="237744"/>
          </a:xfrm>
          <a:prstGeom prst="rect">
            <a:avLst/>
          </a:prstGeom>
          <a:noFill/>
        </p:spPr>
        <p:txBody>
          <a:bodyPr wrap="square" lIns="0" rIns="0" tIns="0" bIns="0" anchor="ctr">
            <a:spAutoFit/>
          </a:bodyPr>
          <a:lstStyle/>
          <a:p>
            <a:pPr algn="ctr">
              <a:lnSpc>
                <a:spcPct val="115000"/>
              </a:lnSpc>
            </a:pPr>
            <a:r>
              <a:rPr sz="1100" b="1" i="0">
                <a:solidFill>
                  <a:srgbClr val="0F172A"/>
                </a:solidFill>
                <a:latin typeface="Aptos"/>
              </a:rPr>
              <a:t>Delivery</a:t>
            </a:r>
          </a:p>
        </p:txBody>
      </p:sp>
      <p:sp>
        <p:nvSpPr>
          <p:cNvPr id="18" name="Rounded Rectangle 17"/>
          <p:cNvSpPr/>
          <p:nvPr/>
        </p:nvSpPr>
        <p:spPr>
          <a:xfrm>
            <a:off x="10058400" y="2331720"/>
            <a:ext cx="1371600" cy="640080"/>
          </a:xfrm>
          <a:prstGeom prst="roundRect">
            <a:avLst>
              <a:gd name="adj" fmla="val 6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0" y="2532888"/>
            <a:ext cx="1371600" cy="237744"/>
          </a:xfrm>
          <a:prstGeom prst="rect">
            <a:avLst/>
          </a:prstGeom>
          <a:noFill/>
        </p:spPr>
        <p:txBody>
          <a:bodyPr wrap="square" lIns="0" rIns="0" tIns="0" bIns="0" anchor="ctr">
            <a:spAutoFit/>
          </a:bodyPr>
          <a:lstStyle/>
          <a:p>
            <a:pPr algn="ctr">
              <a:lnSpc>
                <a:spcPct val="115000"/>
              </a:lnSpc>
            </a:pPr>
            <a:r>
              <a:rPr sz="1100" b="1" i="0">
                <a:solidFill>
                  <a:srgbClr val="0F172A"/>
                </a:solidFill>
                <a:latin typeface="Aptos"/>
              </a:rPr>
              <a:t>Activated</a:t>
            </a:r>
          </a:p>
        </p:txBody>
      </p:sp>
      <p:cxnSp>
        <p:nvCxnSpPr>
          <p:cNvPr id="20" name="Connector 19"/>
          <p:cNvCxnSpPr/>
          <p:nvPr/>
        </p:nvCxnSpPr>
        <p:spPr>
          <a:xfrm>
            <a:off x="2560320" y="2651760"/>
            <a:ext cx="182880" cy="0"/>
          </a:xfrm>
          <a:prstGeom prst="line">
            <a:avLst/>
          </a:prstGeom>
          <a:ln w="2032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434840" y="2651760"/>
            <a:ext cx="182880" cy="0"/>
          </a:xfrm>
          <a:prstGeom prst="line">
            <a:avLst/>
          </a:prstGeom>
          <a:ln w="2032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309359" y="2651760"/>
            <a:ext cx="182881" cy="0"/>
          </a:xfrm>
          <a:prstGeom prst="line">
            <a:avLst/>
          </a:prstGeom>
          <a:ln w="2032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183880" y="2651760"/>
            <a:ext cx="182879" cy="0"/>
          </a:xfrm>
          <a:prstGeom prst="line">
            <a:avLst/>
          </a:prstGeom>
          <a:ln w="2032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10012680" y="2651760"/>
            <a:ext cx="45720" cy="0"/>
          </a:xfrm>
          <a:prstGeom prst="line">
            <a:avLst/>
          </a:prstGeom>
          <a:ln w="2032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66928" y="3291840"/>
            <a:ext cx="11064240" cy="310896"/>
          </a:xfrm>
          <a:prstGeom prst="roundRect">
            <a:avLst>
              <a:gd name="adj" fmla="val 6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46704"/>
            <a:ext cx="2121408" cy="237744"/>
          </a:xfrm>
          <a:prstGeom prst="rect">
            <a:avLst/>
          </a:prstGeom>
          <a:noFill/>
        </p:spPr>
        <p:txBody>
          <a:bodyPr wrap="square" lIns="0" rIns="0" tIns="0" bIns="0" anchor="t">
            <a:spAutoFit/>
          </a:bodyPr>
          <a:lstStyle/>
          <a:p>
            <a:pPr algn="l">
              <a:lnSpc>
                <a:spcPct val="115000"/>
              </a:lnSpc>
            </a:pPr>
            <a:r>
              <a:rPr sz="1019" b="1" i="0">
                <a:solidFill>
                  <a:srgbClr val="0F172A"/>
                </a:solidFill>
                <a:latin typeface="Aptos"/>
              </a:rPr>
              <a:t>Box</a:t>
            </a:r>
          </a:p>
        </p:txBody>
      </p:sp>
      <p:sp>
        <p:nvSpPr>
          <p:cNvPr id="27" name="TextBox 26"/>
          <p:cNvSpPr txBox="1"/>
          <p:nvPr/>
        </p:nvSpPr>
        <p:spPr>
          <a:xfrm>
            <a:off x="2971800" y="3346704"/>
            <a:ext cx="4407408" cy="237744"/>
          </a:xfrm>
          <a:prstGeom prst="rect">
            <a:avLst/>
          </a:prstGeom>
          <a:noFill/>
        </p:spPr>
        <p:txBody>
          <a:bodyPr wrap="square" lIns="0" rIns="0" tIns="0" bIns="0" anchor="t">
            <a:spAutoFit/>
          </a:bodyPr>
          <a:lstStyle/>
          <a:p>
            <a:pPr algn="l">
              <a:lnSpc>
                <a:spcPct val="115000"/>
              </a:lnSpc>
            </a:pPr>
            <a:r>
              <a:rPr sz="1019" b="1" i="0">
                <a:solidFill>
                  <a:srgbClr val="0F172A"/>
                </a:solidFill>
                <a:latin typeface="Aptos"/>
              </a:rPr>
              <a:t>What it counts TODAY</a:t>
            </a:r>
          </a:p>
        </p:txBody>
      </p:sp>
      <p:sp>
        <p:nvSpPr>
          <p:cNvPr id="28" name="TextBox 27"/>
          <p:cNvSpPr txBox="1"/>
          <p:nvPr/>
        </p:nvSpPr>
        <p:spPr>
          <a:xfrm>
            <a:off x="7543800" y="3346704"/>
            <a:ext cx="4041648" cy="237744"/>
          </a:xfrm>
          <a:prstGeom prst="rect">
            <a:avLst/>
          </a:prstGeom>
          <a:noFill/>
        </p:spPr>
        <p:txBody>
          <a:bodyPr wrap="square" lIns="0" rIns="0" tIns="0" bIns="0" anchor="t">
            <a:spAutoFit/>
          </a:bodyPr>
          <a:lstStyle/>
          <a:p>
            <a:pPr algn="l">
              <a:lnSpc>
                <a:spcPct val="115000"/>
              </a:lnSpc>
            </a:pPr>
            <a:r>
              <a:rPr sz="1019" b="1" i="0">
                <a:solidFill>
                  <a:srgbClr val="0F172A"/>
                </a:solidFill>
                <a:latin typeface="Aptos"/>
              </a:rPr>
              <a:t>The question for you</a:t>
            </a:r>
          </a:p>
        </p:txBody>
      </p:sp>
      <p:sp>
        <p:nvSpPr>
          <p:cNvPr id="29" name="TextBox 28"/>
          <p:cNvSpPr txBox="1"/>
          <p:nvPr/>
        </p:nvSpPr>
        <p:spPr>
          <a:xfrm>
            <a:off x="685800" y="3657600"/>
            <a:ext cx="21214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Eligibility pass</a:t>
            </a:r>
          </a:p>
        </p:txBody>
      </p:sp>
      <p:sp>
        <p:nvSpPr>
          <p:cNvPr id="30" name="TextBox 29"/>
          <p:cNvSpPr txBox="1"/>
          <p:nvPr/>
        </p:nvSpPr>
        <p:spPr>
          <a:xfrm>
            <a:off x="2971800" y="3657600"/>
            <a:ext cx="44074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is_eligible = true</a:t>
            </a:r>
          </a:p>
        </p:txBody>
      </p:sp>
      <p:sp>
        <p:nvSpPr>
          <p:cNvPr id="31" name="TextBox 30"/>
          <p:cNvSpPr txBox="1"/>
          <p:nvPr/>
        </p:nvSpPr>
        <p:spPr>
          <a:xfrm>
            <a:off x="7543800" y="3657600"/>
            <a:ext cx="404164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does this match how CITC/Semati decides?</a:t>
            </a:r>
          </a:p>
        </p:txBody>
      </p:sp>
      <p:sp>
        <p:nvSpPr>
          <p:cNvPr id="32" name="Rounded Rectangle 31"/>
          <p:cNvSpPr/>
          <p:nvPr/>
        </p:nvSpPr>
        <p:spPr>
          <a:xfrm>
            <a:off x="566928" y="3913632"/>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3968496"/>
            <a:ext cx="21214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Total payment</a:t>
            </a:r>
          </a:p>
        </p:txBody>
      </p:sp>
      <p:sp>
        <p:nvSpPr>
          <p:cNvPr id="34" name="TextBox 33"/>
          <p:cNvSpPr txBox="1"/>
          <p:nvPr/>
        </p:nvSpPr>
        <p:spPr>
          <a:xfrm>
            <a:off x="2971800" y="3968496"/>
            <a:ext cx="44074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eligible AND a payment row exists</a:t>
            </a:r>
          </a:p>
        </p:txBody>
      </p:sp>
      <p:sp>
        <p:nvSpPr>
          <p:cNvPr id="35" name="TextBox 34"/>
          <p:cNvSpPr txBox="1"/>
          <p:nvPr/>
        </p:nvSpPr>
        <p:spPr>
          <a:xfrm>
            <a:off x="7543800" y="3968496"/>
            <a:ext cx="404164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should abandoned checkouts count here?</a:t>
            </a:r>
          </a:p>
        </p:txBody>
      </p:sp>
      <p:sp>
        <p:nvSpPr>
          <p:cNvPr id="36" name="TextBox 35"/>
          <p:cNvSpPr txBox="1"/>
          <p:nvPr/>
        </p:nvSpPr>
        <p:spPr>
          <a:xfrm>
            <a:off x="685800" y="4279392"/>
            <a:ext cx="21214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Pending payment</a:t>
            </a:r>
          </a:p>
        </p:txBody>
      </p:sp>
      <p:sp>
        <p:nvSpPr>
          <p:cNvPr id="37" name="TextBox 36"/>
          <p:cNvSpPr txBox="1"/>
          <p:nvPr/>
        </p:nvSpPr>
        <p:spPr>
          <a:xfrm>
            <a:off x="2971800" y="4279392"/>
            <a:ext cx="44074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status pending/initiated</a:t>
            </a:r>
          </a:p>
        </p:txBody>
      </p:sp>
      <p:sp>
        <p:nvSpPr>
          <p:cNvPr id="38" name="TextBox 37"/>
          <p:cNvSpPr txBox="1"/>
          <p:nvPr/>
        </p:nvSpPr>
        <p:spPr>
          <a:xfrm>
            <a:off x="7543800" y="4279392"/>
            <a:ext cx="404164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how long before pending means STUCK?</a:t>
            </a:r>
          </a:p>
        </p:txBody>
      </p:sp>
      <p:sp>
        <p:nvSpPr>
          <p:cNvPr id="39" name="Rounded Rectangle 38"/>
          <p:cNvSpPr/>
          <p:nvPr/>
        </p:nvSpPr>
        <p:spPr>
          <a:xfrm>
            <a:off x="566928" y="4535424"/>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4590288"/>
            <a:ext cx="21214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Physical SIM</a:t>
            </a:r>
          </a:p>
        </p:txBody>
      </p:sp>
      <p:sp>
        <p:nvSpPr>
          <p:cNvPr id="41" name="TextBox 40"/>
          <p:cNvSpPr txBox="1"/>
          <p:nvPr/>
        </p:nvSpPr>
        <p:spPr>
          <a:xfrm>
            <a:off x="2971800" y="4590288"/>
            <a:ext cx="44074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paid AND sim_type ≠ eSIM</a:t>
            </a:r>
          </a:p>
        </p:txBody>
      </p:sp>
      <p:sp>
        <p:nvSpPr>
          <p:cNvPr id="42" name="TextBox 41"/>
          <p:cNvSpPr txBox="1"/>
          <p:nvPr/>
        </p:nvSpPr>
        <p:spPr>
          <a:xfrm>
            <a:off x="7543800" y="4590288"/>
            <a:ext cx="404164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any other SIM types we are missing?</a:t>
            </a:r>
          </a:p>
        </p:txBody>
      </p:sp>
      <p:sp>
        <p:nvSpPr>
          <p:cNvPr id="43" name="TextBox 42"/>
          <p:cNvSpPr txBox="1"/>
          <p:nvPr/>
        </p:nvSpPr>
        <p:spPr>
          <a:xfrm>
            <a:off x="685800" y="4901184"/>
            <a:ext cx="21214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Not assigned</a:t>
            </a:r>
          </a:p>
        </p:txBody>
      </p:sp>
      <p:sp>
        <p:nvSpPr>
          <p:cNvPr id="44" name="TextBox 43"/>
          <p:cNvSpPr txBox="1"/>
          <p:nvPr/>
        </p:nvSpPr>
        <p:spPr>
          <a:xfrm>
            <a:off x="2971800" y="4901184"/>
            <a:ext cx="44074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no delivery request AND not a partner</a:t>
            </a:r>
          </a:p>
        </p:txBody>
      </p:sp>
      <p:sp>
        <p:nvSpPr>
          <p:cNvPr id="45" name="TextBox 44"/>
          <p:cNvSpPr txBox="1"/>
          <p:nvPr/>
        </p:nvSpPr>
        <p:spPr>
          <a:xfrm>
            <a:off x="7543800" y="4901184"/>
            <a:ext cx="404164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is the partner split right? (new this week)</a:t>
            </a:r>
          </a:p>
        </p:txBody>
      </p:sp>
      <p:sp>
        <p:nvSpPr>
          <p:cNvPr id="46" name="Rounded Rectangle 45"/>
          <p:cNvSpPr/>
          <p:nvPr/>
        </p:nvSpPr>
        <p:spPr>
          <a:xfrm>
            <a:off x="566928" y="5157216"/>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5212080"/>
            <a:ext cx="21214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Partner (tygo/soob)</a:t>
            </a:r>
          </a:p>
        </p:txBody>
      </p:sp>
      <p:sp>
        <p:nvSpPr>
          <p:cNvPr id="48" name="TextBox 47"/>
          <p:cNvSpPr txBox="1"/>
          <p:nvPr/>
        </p:nvSpPr>
        <p:spPr>
          <a:xfrm>
            <a:off x="2971800" y="5212080"/>
            <a:ext cx="44074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order origin = tygo or soob</a:t>
            </a:r>
          </a:p>
        </p:txBody>
      </p:sp>
      <p:sp>
        <p:nvSpPr>
          <p:cNvPr id="49" name="TextBox 48"/>
          <p:cNvSpPr txBox="1"/>
          <p:nvPr/>
        </p:nvSpPr>
        <p:spPr>
          <a:xfrm>
            <a:off x="7543800" y="5212080"/>
            <a:ext cx="404164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any other partner to add?</a:t>
            </a:r>
          </a:p>
        </p:txBody>
      </p:sp>
      <p:sp>
        <p:nvSpPr>
          <p:cNvPr id="50" name="TextBox 49"/>
          <p:cNvSpPr txBox="1"/>
          <p:nvPr/>
        </p:nvSpPr>
        <p:spPr>
          <a:xfrm>
            <a:off x="685800" y="5522976"/>
            <a:ext cx="21214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Delivered</a:t>
            </a:r>
          </a:p>
        </p:txBody>
      </p:sp>
      <p:sp>
        <p:nvSpPr>
          <p:cNvPr id="51" name="TextBox 50"/>
          <p:cNvSpPr txBox="1"/>
          <p:nvPr/>
        </p:nvSpPr>
        <p:spPr>
          <a:xfrm>
            <a:off x="2971800" y="5522976"/>
            <a:ext cx="44074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delivery_state in the completed list</a:t>
            </a:r>
          </a:p>
        </p:txBody>
      </p:sp>
      <p:sp>
        <p:nvSpPr>
          <p:cNvPr id="52" name="TextBox 51"/>
          <p:cNvSpPr txBox="1"/>
          <p:nvPr/>
        </p:nvSpPr>
        <p:spPr>
          <a:xfrm>
            <a:off x="7543800" y="5522976"/>
            <a:ext cx="404164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is that list complete and current?</a:t>
            </a:r>
          </a:p>
        </p:txBody>
      </p:sp>
      <p:sp>
        <p:nvSpPr>
          <p:cNvPr id="53" name="Rounded Rectangle 52"/>
          <p:cNvSpPr/>
          <p:nvPr/>
        </p:nvSpPr>
        <p:spPr>
          <a:xfrm>
            <a:off x="566928" y="5779008"/>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5800" y="5833872"/>
            <a:ext cx="21214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Activated</a:t>
            </a:r>
          </a:p>
        </p:txBody>
      </p:sp>
      <p:sp>
        <p:nvSpPr>
          <p:cNvPr id="55" name="TextBox 54"/>
          <p:cNvSpPr txBox="1"/>
          <p:nvPr/>
        </p:nvSpPr>
        <p:spPr>
          <a:xfrm>
            <a:off x="2971800" y="5833872"/>
            <a:ext cx="44074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onboarding_orders.activated</a:t>
            </a:r>
          </a:p>
        </p:txBody>
      </p:sp>
      <p:sp>
        <p:nvSpPr>
          <p:cNvPr id="56" name="TextBox 55"/>
          <p:cNvSpPr txBox="1"/>
          <p:nvPr/>
        </p:nvSpPr>
        <p:spPr>
          <a:xfrm>
            <a:off x="7543800" y="5833872"/>
            <a:ext cx="404164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does BSS agree with this flag?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7315200" cy="182880"/>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1.3B · PAYMENT STATES</a:t>
            </a:r>
          </a:p>
        </p:txBody>
      </p:sp>
      <p:sp>
        <p:nvSpPr>
          <p:cNvPr id="3" name="TextBox 2"/>
          <p:cNvSpPr txBox="1"/>
          <p:nvPr/>
        </p:nvSpPr>
        <p:spPr>
          <a:xfrm>
            <a:off x="566928" y="621792"/>
            <a:ext cx="10058400" cy="411480"/>
          </a:xfrm>
          <a:prstGeom prst="rect">
            <a:avLst/>
          </a:prstGeom>
          <a:noFill/>
        </p:spPr>
        <p:txBody>
          <a:bodyPr wrap="square" lIns="0" rIns="0" tIns="0" bIns="0" anchor="t">
            <a:spAutoFit/>
          </a:bodyPr>
          <a:lstStyle/>
          <a:p>
            <a:pPr algn="l">
              <a:lnSpc>
                <a:spcPct val="115000"/>
              </a:lnSpc>
            </a:pPr>
            <a:r>
              <a:rPr sz="2400" b="1" i="0">
                <a:solidFill>
                  <a:srgbClr val="0F172A"/>
                </a:solidFill>
                <a:latin typeface="Aptos"/>
              </a:rPr>
              <a:t>Failed vs Stuck vs Abandoned</a:t>
            </a:r>
          </a:p>
        </p:txBody>
      </p:sp>
      <p:sp>
        <p:nvSpPr>
          <p:cNvPr id="4" name="Rectangle 3"/>
          <p:cNvSpPr/>
          <p:nvPr/>
        </p:nvSpPr>
        <p:spPr>
          <a:xfrm>
            <a:off x="566928" y="1133856"/>
            <a:ext cx="64008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16736"/>
            <a:ext cx="11064240" cy="457200"/>
          </a:xfrm>
          <a:prstGeom prst="rect">
            <a:avLst/>
          </a:prstGeom>
          <a:noFill/>
        </p:spPr>
        <p:txBody>
          <a:bodyPr wrap="square" lIns="0" rIns="0" tIns="0" bIns="0" anchor="t">
            <a:spAutoFit/>
          </a:bodyPr>
          <a:lstStyle/>
          <a:p>
            <a:pPr algn="l">
              <a:lnSpc>
                <a:spcPct val="115000"/>
              </a:lnSpc>
            </a:pPr>
            <a:r>
              <a:rPr sz="1200" b="0" i="0">
                <a:solidFill>
                  <a:srgbClr val="64748B"/>
                </a:solidFill>
                <a:latin typeface="Aptos"/>
              </a:rPr>
              <a:t>The definition L2 corrected once already — and the one L1 will get wrong if we do not nail it.</a:t>
            </a:r>
          </a:p>
        </p:txBody>
      </p:sp>
      <p:sp>
        <p:nvSpPr>
          <p:cNvPr id="6" name="Rounded Rectangle 5"/>
          <p:cNvSpPr/>
          <p:nvPr/>
        </p:nvSpPr>
        <p:spPr>
          <a:xfrm>
            <a:off x="822960" y="2377440"/>
            <a:ext cx="2194560" cy="777240"/>
          </a:xfrm>
          <a:prstGeom prst="roundRect">
            <a:avLst>
              <a:gd name="adj" fmla="val 6000"/>
            </a:avLst>
          </a:prstGeom>
          <a:solidFill>
            <a:srgbClr val="FFFFFF"/>
          </a:solidFill>
          <a:ln w="13970">
            <a:solidFill>
              <a:srgbClr val="0F1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510028"/>
            <a:ext cx="2194560" cy="237744"/>
          </a:xfrm>
          <a:prstGeom prst="rect">
            <a:avLst/>
          </a:prstGeom>
          <a:noFill/>
        </p:spPr>
        <p:txBody>
          <a:bodyPr wrap="square" lIns="0" rIns="0" tIns="0" bIns="0" anchor="t">
            <a:spAutoFit/>
          </a:bodyPr>
          <a:lstStyle/>
          <a:p>
            <a:pPr algn="ctr">
              <a:lnSpc>
                <a:spcPct val="115000"/>
              </a:lnSpc>
            </a:pPr>
            <a:r>
              <a:rPr sz="1100" b="1" i="0">
                <a:solidFill>
                  <a:srgbClr val="0F172A"/>
                </a:solidFill>
                <a:latin typeface="Aptos"/>
              </a:rPr>
              <a:t>Payment not success</a:t>
            </a:r>
          </a:p>
        </p:txBody>
      </p:sp>
      <p:sp>
        <p:nvSpPr>
          <p:cNvPr id="8" name="TextBox 7"/>
          <p:cNvSpPr txBox="1"/>
          <p:nvPr/>
        </p:nvSpPr>
        <p:spPr>
          <a:xfrm>
            <a:off x="822960" y="2775203"/>
            <a:ext cx="2194560" cy="219456"/>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what happened?</a:t>
            </a:r>
          </a:p>
        </p:txBody>
      </p:sp>
      <p:sp>
        <p:nvSpPr>
          <p:cNvPr id="9" name="Rounded Rectangle 8"/>
          <p:cNvSpPr/>
          <p:nvPr/>
        </p:nvSpPr>
        <p:spPr>
          <a:xfrm>
            <a:off x="4023360" y="1874519"/>
            <a:ext cx="2377440" cy="731520"/>
          </a:xfrm>
          <a:prstGeom prst="roundRect">
            <a:avLst>
              <a:gd name="adj" fmla="val 6000"/>
            </a:avLst>
          </a:prstGeom>
          <a:solidFill>
            <a:srgbClr val="FEF2F2"/>
          </a:solidFill>
          <a:ln w="1397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23360" y="1984248"/>
            <a:ext cx="2377440" cy="237744"/>
          </a:xfrm>
          <a:prstGeom prst="rect">
            <a:avLst/>
          </a:prstGeom>
          <a:noFill/>
        </p:spPr>
        <p:txBody>
          <a:bodyPr wrap="square" lIns="0" rIns="0" tIns="0" bIns="0" anchor="t">
            <a:spAutoFit/>
          </a:bodyPr>
          <a:lstStyle/>
          <a:p>
            <a:pPr algn="ctr">
              <a:lnSpc>
                <a:spcPct val="115000"/>
              </a:lnSpc>
            </a:pPr>
            <a:r>
              <a:rPr sz="1100" b="1" i="0">
                <a:solidFill>
                  <a:srgbClr val="B91C1C"/>
                </a:solidFill>
                <a:latin typeface="Aptos"/>
              </a:rPr>
              <a:t>FAILED</a:t>
            </a:r>
          </a:p>
        </p:txBody>
      </p:sp>
      <p:sp>
        <p:nvSpPr>
          <p:cNvPr id="11" name="TextBox 10"/>
          <p:cNvSpPr txBox="1"/>
          <p:nvPr/>
        </p:nvSpPr>
        <p:spPr>
          <a:xfrm>
            <a:off x="4023360" y="2249423"/>
            <a:ext cx="2377440" cy="219456"/>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gateway declined</a:t>
            </a:r>
          </a:p>
        </p:txBody>
      </p:sp>
      <p:sp>
        <p:nvSpPr>
          <p:cNvPr id="12" name="Rounded Rectangle 11"/>
          <p:cNvSpPr/>
          <p:nvPr/>
        </p:nvSpPr>
        <p:spPr>
          <a:xfrm>
            <a:off x="4023360" y="2788920"/>
            <a:ext cx="2377440" cy="731520"/>
          </a:xfrm>
          <a:prstGeom prst="roundRect">
            <a:avLst>
              <a:gd name="adj" fmla="val 6000"/>
            </a:avLst>
          </a:prstGeom>
          <a:solidFill>
            <a:srgbClr val="FFFBEB"/>
          </a:solidFill>
          <a:ln w="1397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0" y="2898648"/>
            <a:ext cx="2377440" cy="237744"/>
          </a:xfrm>
          <a:prstGeom prst="rect">
            <a:avLst/>
          </a:prstGeom>
          <a:noFill/>
        </p:spPr>
        <p:txBody>
          <a:bodyPr wrap="square" lIns="0" rIns="0" tIns="0" bIns="0" anchor="t">
            <a:spAutoFit/>
          </a:bodyPr>
          <a:lstStyle/>
          <a:p>
            <a:pPr algn="ctr">
              <a:lnSpc>
                <a:spcPct val="115000"/>
              </a:lnSpc>
            </a:pPr>
            <a:r>
              <a:rPr sz="1100" b="1" i="0">
                <a:solidFill>
                  <a:srgbClr val="B45309"/>
                </a:solidFill>
                <a:latin typeface="Aptos"/>
              </a:rPr>
              <a:t>STUCK</a:t>
            </a:r>
          </a:p>
        </p:txBody>
      </p:sp>
      <p:sp>
        <p:nvSpPr>
          <p:cNvPr id="14" name="TextBox 13"/>
          <p:cNvSpPr txBox="1"/>
          <p:nvPr/>
        </p:nvSpPr>
        <p:spPr>
          <a:xfrm>
            <a:off x="4023360" y="3163823"/>
            <a:ext cx="2377440" cy="219456"/>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commit response present</a:t>
            </a:r>
          </a:p>
        </p:txBody>
      </p:sp>
      <p:sp>
        <p:nvSpPr>
          <p:cNvPr id="15" name="Rounded Rectangle 14"/>
          <p:cNvSpPr/>
          <p:nvPr/>
        </p:nvSpPr>
        <p:spPr>
          <a:xfrm>
            <a:off x="4023360" y="3703320"/>
            <a:ext cx="2377440" cy="731520"/>
          </a:xfrm>
          <a:prstGeom prst="roundRect">
            <a:avLst>
              <a:gd name="adj" fmla="val 6000"/>
            </a:avLst>
          </a:prstGeom>
          <a:solidFill>
            <a:srgbClr val="F8FAFC"/>
          </a:solidFill>
          <a:ln w="1397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23360" y="3813048"/>
            <a:ext cx="2377440" cy="237744"/>
          </a:xfrm>
          <a:prstGeom prst="rect">
            <a:avLst/>
          </a:prstGeom>
          <a:noFill/>
        </p:spPr>
        <p:txBody>
          <a:bodyPr wrap="square" lIns="0" rIns="0" tIns="0" bIns="0" anchor="t">
            <a:spAutoFit/>
          </a:bodyPr>
          <a:lstStyle/>
          <a:p>
            <a:pPr algn="ctr">
              <a:lnSpc>
                <a:spcPct val="115000"/>
              </a:lnSpc>
            </a:pPr>
            <a:r>
              <a:rPr sz="1100" b="1" i="0">
                <a:solidFill>
                  <a:srgbClr val="64748B"/>
                </a:solidFill>
                <a:latin typeface="Aptos"/>
              </a:rPr>
              <a:t>ABANDONED</a:t>
            </a:r>
          </a:p>
        </p:txBody>
      </p:sp>
      <p:sp>
        <p:nvSpPr>
          <p:cNvPr id="17" name="TextBox 16"/>
          <p:cNvSpPr txBox="1"/>
          <p:nvPr/>
        </p:nvSpPr>
        <p:spPr>
          <a:xfrm>
            <a:off x="4023360" y="4078224"/>
            <a:ext cx="2377440" cy="219456"/>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no commit response</a:t>
            </a:r>
          </a:p>
        </p:txBody>
      </p:sp>
      <p:cxnSp>
        <p:nvCxnSpPr>
          <p:cNvPr id="18" name="Connector 17"/>
          <p:cNvCxnSpPr/>
          <p:nvPr/>
        </p:nvCxnSpPr>
        <p:spPr>
          <a:xfrm flipV="1">
            <a:off x="3072384" y="2240279"/>
            <a:ext cx="896112" cy="525781"/>
          </a:xfrm>
          <a:prstGeom prst="line">
            <a:avLst/>
          </a:prstGeom>
          <a:ln w="2032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072384" y="2766060"/>
            <a:ext cx="896112" cy="388619"/>
          </a:xfrm>
          <a:prstGeom prst="line">
            <a:avLst/>
          </a:prstGeom>
          <a:ln w="2032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072384" y="2766060"/>
            <a:ext cx="896112" cy="1303020"/>
          </a:xfrm>
          <a:prstGeom prst="line">
            <a:avLst/>
          </a:prstGeom>
          <a:ln w="2032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675120" y="2075688"/>
            <a:ext cx="4937760" cy="457200"/>
          </a:xfrm>
          <a:prstGeom prst="rect">
            <a:avLst/>
          </a:prstGeom>
          <a:noFill/>
        </p:spPr>
        <p:txBody>
          <a:bodyPr wrap="square" lIns="0" rIns="0" tIns="0" bIns="0" anchor="t">
            <a:spAutoFit/>
          </a:bodyPr>
          <a:lstStyle/>
          <a:p>
            <a:pPr algn="l">
              <a:lnSpc>
                <a:spcPct val="120000"/>
              </a:lnSpc>
            </a:pPr>
            <a:r>
              <a:rPr sz="1100" b="0" i="0">
                <a:solidFill>
                  <a:srgbClr val="334155"/>
                </a:solidFill>
                <a:latin typeface="Aptos"/>
              </a:rPr>
              <a:t>Customer was NOT charged. Read the decline reason, advise, retry.</a:t>
            </a:r>
          </a:p>
        </p:txBody>
      </p:sp>
      <p:sp>
        <p:nvSpPr>
          <p:cNvPr id="22" name="TextBox 21"/>
          <p:cNvSpPr txBox="1"/>
          <p:nvPr/>
        </p:nvSpPr>
        <p:spPr>
          <a:xfrm>
            <a:off x="6675120" y="2990088"/>
            <a:ext cx="4937760" cy="457200"/>
          </a:xfrm>
          <a:prstGeom prst="rect">
            <a:avLst/>
          </a:prstGeom>
          <a:noFill/>
        </p:spPr>
        <p:txBody>
          <a:bodyPr wrap="square" lIns="0" rIns="0" tIns="0" bIns="0" anchor="t">
            <a:spAutoFit/>
          </a:bodyPr>
          <a:lstStyle/>
          <a:p>
            <a:pPr algn="l">
              <a:lnSpc>
                <a:spcPct val="120000"/>
              </a:lnSpc>
            </a:pPr>
            <a:r>
              <a:rPr sz="1100" b="0" i="0">
                <a:solidFill>
                  <a:srgbClr val="334155"/>
                </a:solidFill>
                <a:latin typeface="Aptos"/>
              </a:rPr>
              <a:t>Customer MAY have been charged. Escalate — do not tell them to retry.</a:t>
            </a:r>
          </a:p>
        </p:txBody>
      </p:sp>
      <p:sp>
        <p:nvSpPr>
          <p:cNvPr id="23" name="TextBox 22"/>
          <p:cNvSpPr txBox="1"/>
          <p:nvPr/>
        </p:nvSpPr>
        <p:spPr>
          <a:xfrm>
            <a:off x="6675120" y="3904487"/>
            <a:ext cx="4937760" cy="457200"/>
          </a:xfrm>
          <a:prstGeom prst="rect">
            <a:avLst/>
          </a:prstGeom>
          <a:noFill/>
        </p:spPr>
        <p:txBody>
          <a:bodyPr wrap="square" lIns="0" rIns="0" tIns="0" bIns="0" anchor="t">
            <a:spAutoFit/>
          </a:bodyPr>
          <a:lstStyle/>
          <a:p>
            <a:pPr algn="l">
              <a:lnSpc>
                <a:spcPct val="120000"/>
              </a:lnSpc>
            </a:pPr>
            <a:r>
              <a:rPr sz="1100" b="0" i="0">
                <a:solidFill>
                  <a:srgbClr val="334155"/>
                </a:solidFill>
                <a:latin typeface="Aptos"/>
              </a:rPr>
              <a:t>Customer never finished. Normal behaviour. Not an incident.</a:t>
            </a:r>
          </a:p>
        </p:txBody>
      </p:sp>
      <p:sp>
        <p:nvSpPr>
          <p:cNvPr id="24" name="Rounded Rectangle 23"/>
          <p:cNvSpPr/>
          <p:nvPr/>
        </p:nvSpPr>
        <p:spPr>
          <a:xfrm>
            <a:off x="566928" y="4709160"/>
            <a:ext cx="11064240" cy="868680"/>
          </a:xfrm>
          <a:prstGeom prst="roundRect">
            <a:avLst>
              <a:gd name="adj" fmla="val 6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4855464"/>
            <a:ext cx="10661904" cy="576071"/>
          </a:xfrm>
          <a:prstGeom prst="rect">
            <a:avLst/>
          </a:prstGeom>
          <a:noFill/>
        </p:spPr>
        <p:txBody>
          <a:bodyPr wrap="square" lIns="0" rIns="0" tIns="0" bIns="0" anchor="t">
            <a:spAutoFit/>
          </a:bodyPr>
          <a:lstStyle/>
          <a:p>
            <a:pPr algn="l">
              <a:lnSpc>
                <a:spcPct val="130000"/>
              </a:lnSpc>
            </a:pPr>
            <a:r>
              <a:rPr sz="1000" b="0" i="0">
                <a:solidFill>
                  <a:srgbClr val="E2E8F0"/>
                </a:solidFill>
                <a:latin typeface="Consolas"/>
              </a:rPr>
              <a:t>-- the single field that decides it (mirrors Payment#actual_pending? in selfcare-backend)</a:t>
            </a:r>
          </a:p>
          <a:p>
            <a:pPr algn="l">
              <a:lnSpc>
                <a:spcPct val="130000"/>
              </a:lnSpc>
            </a:pPr>
            <a:r>
              <a:rPr sz="1000" b="0" i="0">
                <a:solidFill>
                  <a:srgbClr val="E2E8F0"/>
                </a:solidFill>
                <a:latin typeface="Consolas"/>
              </a:rPr>
              <a:t>lower(status) IN ('pending','initiated')</a:t>
            </a:r>
          </a:p>
          <a:p>
            <a:pPr algn="l">
              <a:lnSpc>
                <a:spcPct val="130000"/>
              </a:lnSpc>
            </a:pPr>
            <a:r>
              <a:rPr sz="1000" b="0" i="0">
                <a:solidFill>
                  <a:srgbClr val="E2E8F0"/>
                </a:solidFill>
                <a:latin typeface="Consolas"/>
              </a:rPr>
              <a:t>  AND payment_commit_response IS NOT NULL AND payment_commit_response::text NOT IN ('','{}','null')</a:t>
            </a:r>
          </a:p>
        </p:txBody>
      </p:sp>
      <p:sp>
        <p:nvSpPr>
          <p:cNvPr id="26" name="Rounded Rectangle 25"/>
          <p:cNvSpPr/>
          <p:nvPr/>
        </p:nvSpPr>
        <p:spPr>
          <a:xfrm>
            <a:off x="566928" y="5760720"/>
            <a:ext cx="11064240" cy="914400"/>
          </a:xfrm>
          <a:prstGeom prst="roundRect">
            <a:avLst>
              <a:gd name="adj" fmla="val 6000"/>
            </a:avLst>
          </a:prstGeom>
          <a:solidFill>
            <a:srgbClr val="FFFBEB"/>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5907024"/>
            <a:ext cx="10588752" cy="219456"/>
          </a:xfrm>
          <a:prstGeom prst="rect">
            <a:avLst/>
          </a:prstGeom>
          <a:noFill/>
        </p:spPr>
        <p:txBody>
          <a:bodyPr wrap="square" lIns="0" rIns="0" tIns="0" bIns="0" anchor="t">
            <a:spAutoFit/>
          </a:bodyPr>
          <a:lstStyle/>
          <a:p>
            <a:pPr algn="l">
              <a:lnSpc>
                <a:spcPct val="115000"/>
              </a:lnSpc>
            </a:pPr>
            <a:r>
              <a:rPr sz="950" b="1" i="0">
                <a:solidFill>
                  <a:srgbClr val="B45309"/>
                </a:solidFill>
                <a:latin typeface="Aptos"/>
              </a:rPr>
              <a:t>WHY THIS COST US</a:t>
            </a:r>
          </a:p>
        </p:txBody>
      </p:sp>
      <p:sp>
        <p:nvSpPr>
          <p:cNvPr id="28" name="TextBox 27"/>
          <p:cNvSpPr txBox="1"/>
          <p:nvPr/>
        </p:nvSpPr>
        <p:spPr>
          <a:xfrm>
            <a:off x="804672" y="6181344"/>
            <a:ext cx="10588752" cy="347472"/>
          </a:xfrm>
          <a:prstGeom prst="rect">
            <a:avLst/>
          </a:prstGeom>
          <a:noFill/>
        </p:spPr>
        <p:txBody>
          <a:bodyPr wrap="square" lIns="0" rIns="0" tIns="0" bIns="0" anchor="t">
            <a:spAutoFit/>
          </a:bodyPr>
          <a:lstStyle/>
          <a:p>
            <a:pPr algn="l">
              <a:lnSpc>
                <a:spcPct val="122000"/>
              </a:lnSpc>
            </a:pPr>
            <a:r>
              <a:rPr sz="1150" b="0" i="0">
                <a:solidFill>
                  <a:srgbClr val="0F172A"/>
                </a:solidFill>
                <a:latin typeface="Aptos"/>
              </a:rPr>
              <a:t>Before the fix, 473 abandoned checkouts were reported as stuck. Get it wrong in the other direction and you strand a customer who really was charged. This is the definition to argue about today.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7315200" cy="182880"/>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1.4 · ATTRIBUTION</a:t>
            </a:r>
          </a:p>
        </p:txBody>
      </p:sp>
      <p:sp>
        <p:nvSpPr>
          <p:cNvPr id="3" name="TextBox 2"/>
          <p:cNvSpPr txBox="1"/>
          <p:nvPr/>
        </p:nvSpPr>
        <p:spPr>
          <a:xfrm>
            <a:off x="566928" y="621792"/>
            <a:ext cx="10058400" cy="411480"/>
          </a:xfrm>
          <a:prstGeom prst="rect">
            <a:avLst/>
          </a:prstGeom>
          <a:noFill/>
        </p:spPr>
        <p:txBody>
          <a:bodyPr wrap="square" lIns="0" rIns="0" tIns="0" bIns="0" anchor="t">
            <a:spAutoFit/>
          </a:bodyPr>
          <a:lstStyle/>
          <a:p>
            <a:pPr algn="l">
              <a:lnSpc>
                <a:spcPct val="115000"/>
              </a:lnSpc>
            </a:pPr>
            <a:r>
              <a:rPr sz="2400" b="1" i="0">
                <a:solidFill>
                  <a:srgbClr val="0F172A"/>
                </a:solidFill>
                <a:latin typeface="Aptos"/>
              </a:rPr>
              <a:t>The trap that made an unlaunched channel look live</a:t>
            </a:r>
          </a:p>
        </p:txBody>
      </p:sp>
      <p:sp>
        <p:nvSpPr>
          <p:cNvPr id="4" name="Rectangle 3"/>
          <p:cNvSpPr/>
          <p:nvPr/>
        </p:nvSpPr>
        <p:spPr>
          <a:xfrm>
            <a:off x="566928" y="1133856"/>
            <a:ext cx="64008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16736"/>
            <a:ext cx="11064240" cy="457200"/>
          </a:xfrm>
          <a:prstGeom prst="rect">
            <a:avLst/>
          </a:prstGeom>
          <a:noFill/>
        </p:spPr>
        <p:txBody>
          <a:bodyPr wrap="square" lIns="0" rIns="0" tIns="0" bIns="0" anchor="t">
            <a:spAutoFit/>
          </a:bodyPr>
          <a:lstStyle/>
          <a:p>
            <a:pPr algn="l">
              <a:lnSpc>
                <a:spcPct val="115000"/>
              </a:lnSpc>
            </a:pPr>
            <a:r>
              <a:rPr sz="1200" b="0" i="0">
                <a:solidFill>
                  <a:srgbClr val="64748B"/>
                </a:solidFill>
                <a:latin typeface="Aptos"/>
              </a:rPr>
              <a:t>Commercial said soob had not launched. The console said 311 orders. The console was wrong.</a:t>
            </a:r>
          </a:p>
        </p:txBody>
      </p:sp>
      <p:sp>
        <p:nvSpPr>
          <p:cNvPr id="6" name="Rounded Rectangle 5"/>
          <p:cNvSpPr/>
          <p:nvPr/>
        </p:nvSpPr>
        <p:spPr>
          <a:xfrm>
            <a:off x="566928" y="2212848"/>
            <a:ext cx="5440680" cy="2194560"/>
          </a:xfrm>
          <a:prstGeom prst="roundRect">
            <a:avLst>
              <a:gd name="adj" fmla="val 6000"/>
            </a:avLst>
          </a:prstGeom>
          <a:solidFill>
            <a:srgbClr val="FEF2F2"/>
          </a:solidFill>
          <a:ln w="952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975104"/>
            <a:ext cx="5440680" cy="201168"/>
          </a:xfrm>
          <a:prstGeom prst="rect">
            <a:avLst/>
          </a:prstGeom>
          <a:noFill/>
        </p:spPr>
        <p:txBody>
          <a:bodyPr wrap="square" lIns="0" rIns="0" tIns="0" bIns="0" anchor="t">
            <a:spAutoFit/>
          </a:bodyPr>
          <a:lstStyle/>
          <a:p>
            <a:pPr algn="l">
              <a:lnSpc>
                <a:spcPct val="115000"/>
              </a:lnSpc>
            </a:pPr>
            <a:r>
              <a:rPr sz="900" b="1" i="0">
                <a:solidFill>
                  <a:srgbClr val="B91C1C"/>
                </a:solidFill>
                <a:latin typeface="Aptos"/>
              </a:rPr>
              <a:t>WRONG — PLAN_CHANNELS (CONFIG)</a:t>
            </a:r>
          </a:p>
        </p:txBody>
      </p:sp>
      <p:sp>
        <p:nvSpPr>
          <p:cNvPr id="8" name="Rounded Rectangle 7"/>
          <p:cNvSpPr/>
          <p:nvPr/>
        </p:nvSpPr>
        <p:spPr>
          <a:xfrm>
            <a:off x="1051560" y="2423160"/>
            <a:ext cx="1371600" cy="548640"/>
          </a:xfrm>
          <a:prstGeom prst="roundRect">
            <a:avLst>
              <a:gd name="adj" fmla="val 6000"/>
            </a:avLst>
          </a:prstGeom>
          <a:solidFill>
            <a:srgbClr val="FFFFFF"/>
          </a:solidFill>
          <a:ln w="1397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578608"/>
            <a:ext cx="1371600" cy="237744"/>
          </a:xfrm>
          <a:prstGeom prst="rect">
            <a:avLst/>
          </a:prstGeom>
          <a:noFill/>
        </p:spPr>
        <p:txBody>
          <a:bodyPr wrap="square" lIns="0" rIns="0" tIns="0" bIns="0" anchor="ctr">
            <a:spAutoFit/>
          </a:bodyPr>
          <a:lstStyle/>
          <a:p>
            <a:pPr algn="ctr">
              <a:lnSpc>
                <a:spcPct val="115000"/>
              </a:lnSpc>
            </a:pPr>
            <a:r>
              <a:rPr sz="1100" b="1" i="0">
                <a:solidFill>
                  <a:srgbClr val="0F172A"/>
                </a:solidFill>
                <a:latin typeface="Aptos"/>
              </a:rPr>
              <a:t>1 order</a:t>
            </a:r>
          </a:p>
        </p:txBody>
      </p:sp>
      <p:sp>
        <p:nvSpPr>
          <p:cNvPr id="10" name="Rounded Rectangle 9"/>
          <p:cNvSpPr/>
          <p:nvPr/>
        </p:nvSpPr>
        <p:spPr>
          <a:xfrm>
            <a:off x="3200400" y="2331720"/>
            <a:ext cx="2377440" cy="365760"/>
          </a:xfrm>
          <a:prstGeom prst="roundRect">
            <a:avLst>
              <a:gd name="adj" fmla="val 6000"/>
            </a:avLst>
          </a:prstGeom>
          <a:solidFill>
            <a:srgbClr val="FEF2F2"/>
          </a:solidFill>
          <a:ln w="1397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0" y="2395728"/>
            <a:ext cx="2377440" cy="237744"/>
          </a:xfrm>
          <a:prstGeom prst="rect">
            <a:avLst/>
          </a:prstGeom>
          <a:noFill/>
        </p:spPr>
        <p:txBody>
          <a:bodyPr wrap="square" lIns="0" rIns="0" tIns="0" bIns="0" anchor="ctr">
            <a:spAutoFit/>
          </a:bodyPr>
          <a:lstStyle/>
          <a:p>
            <a:pPr algn="ctr">
              <a:lnSpc>
                <a:spcPct val="115000"/>
              </a:lnSpc>
            </a:pPr>
            <a:r>
              <a:rPr sz="950" b="1" i="0">
                <a:solidFill>
                  <a:srgbClr val="0F172A"/>
                </a:solidFill>
                <a:latin typeface="Aptos"/>
              </a:rPr>
              <a:t>tygo</a:t>
            </a:r>
          </a:p>
        </p:txBody>
      </p:sp>
      <p:cxnSp>
        <p:nvCxnSpPr>
          <p:cNvPr id="12" name="Connector 11"/>
          <p:cNvCxnSpPr/>
          <p:nvPr/>
        </p:nvCxnSpPr>
        <p:spPr>
          <a:xfrm flipV="1">
            <a:off x="2468880" y="2514600"/>
            <a:ext cx="685800" cy="182880"/>
          </a:xfrm>
          <a:prstGeom prst="line">
            <a:avLst/>
          </a:prstGeom>
          <a:ln w="13970">
            <a:solidFill>
              <a:srgbClr val="B91C1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200400" y="2788920"/>
            <a:ext cx="2377440" cy="365760"/>
          </a:xfrm>
          <a:prstGeom prst="roundRect">
            <a:avLst>
              <a:gd name="adj" fmla="val 6000"/>
            </a:avLst>
          </a:prstGeom>
          <a:solidFill>
            <a:srgbClr val="FEF2F2"/>
          </a:solidFill>
          <a:ln w="1397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0" y="2852928"/>
            <a:ext cx="2377440" cy="237744"/>
          </a:xfrm>
          <a:prstGeom prst="rect">
            <a:avLst/>
          </a:prstGeom>
          <a:noFill/>
        </p:spPr>
        <p:txBody>
          <a:bodyPr wrap="square" lIns="0" rIns="0" tIns="0" bIns="0" anchor="ctr">
            <a:spAutoFit/>
          </a:bodyPr>
          <a:lstStyle/>
          <a:p>
            <a:pPr algn="ctr">
              <a:lnSpc>
                <a:spcPct val="115000"/>
              </a:lnSpc>
            </a:pPr>
            <a:r>
              <a:rPr sz="950" b="1" i="0">
                <a:solidFill>
                  <a:srgbClr val="0F172A"/>
                </a:solidFill>
                <a:latin typeface="Aptos"/>
              </a:rPr>
              <a:t>soob</a:t>
            </a:r>
          </a:p>
        </p:txBody>
      </p:sp>
      <p:cxnSp>
        <p:nvCxnSpPr>
          <p:cNvPr id="15" name="Connector 14"/>
          <p:cNvCxnSpPr/>
          <p:nvPr/>
        </p:nvCxnSpPr>
        <p:spPr>
          <a:xfrm>
            <a:off x="2468880" y="2697480"/>
            <a:ext cx="685800" cy="274320"/>
          </a:xfrm>
          <a:prstGeom prst="line">
            <a:avLst/>
          </a:prstGeom>
          <a:ln w="13970">
            <a:solidFill>
              <a:srgbClr val="B91C1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200400" y="3246120"/>
            <a:ext cx="2377440" cy="365760"/>
          </a:xfrm>
          <a:prstGeom prst="roundRect">
            <a:avLst>
              <a:gd name="adj" fmla="val 6000"/>
            </a:avLst>
          </a:prstGeom>
          <a:solidFill>
            <a:srgbClr val="FEF2F2"/>
          </a:solidFill>
          <a:ln w="1397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0" y="3310128"/>
            <a:ext cx="2377440" cy="237744"/>
          </a:xfrm>
          <a:prstGeom prst="rect">
            <a:avLst/>
          </a:prstGeom>
          <a:noFill/>
        </p:spPr>
        <p:txBody>
          <a:bodyPr wrap="square" lIns="0" rIns="0" tIns="0" bIns="0" anchor="ctr">
            <a:spAutoFit/>
          </a:bodyPr>
          <a:lstStyle/>
          <a:p>
            <a:pPr algn="ctr">
              <a:lnSpc>
                <a:spcPct val="115000"/>
              </a:lnSpc>
            </a:pPr>
            <a:r>
              <a:rPr sz="950" b="1" i="0">
                <a:solidFill>
                  <a:srgbClr val="0F172A"/>
                </a:solidFill>
                <a:latin typeface="Aptos"/>
              </a:rPr>
              <a:t>posa</a:t>
            </a:r>
          </a:p>
        </p:txBody>
      </p:sp>
      <p:cxnSp>
        <p:nvCxnSpPr>
          <p:cNvPr id="18" name="Connector 17"/>
          <p:cNvCxnSpPr/>
          <p:nvPr/>
        </p:nvCxnSpPr>
        <p:spPr>
          <a:xfrm>
            <a:off x="2468880" y="2697480"/>
            <a:ext cx="685800" cy="731520"/>
          </a:xfrm>
          <a:prstGeom prst="line">
            <a:avLst/>
          </a:prstGeom>
          <a:ln w="13970">
            <a:solidFill>
              <a:srgbClr val="B91C1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200400" y="3703320"/>
            <a:ext cx="2377440" cy="365760"/>
          </a:xfrm>
          <a:prstGeom prst="roundRect">
            <a:avLst>
              <a:gd name="adj" fmla="val 6000"/>
            </a:avLst>
          </a:prstGeom>
          <a:solidFill>
            <a:srgbClr val="FEF2F2"/>
          </a:solidFill>
          <a:ln w="1397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0" y="3767328"/>
            <a:ext cx="2377440" cy="237744"/>
          </a:xfrm>
          <a:prstGeom prst="rect">
            <a:avLst/>
          </a:prstGeom>
          <a:noFill/>
        </p:spPr>
        <p:txBody>
          <a:bodyPr wrap="square" lIns="0" rIns="0" tIns="0" bIns="0" anchor="ctr">
            <a:spAutoFit/>
          </a:bodyPr>
          <a:lstStyle/>
          <a:p>
            <a:pPr algn="ctr">
              <a:lnSpc>
                <a:spcPct val="115000"/>
              </a:lnSpc>
            </a:pPr>
            <a:r>
              <a:rPr sz="950" b="1" i="0">
                <a:solidFill>
                  <a:srgbClr val="0F172A"/>
                </a:solidFill>
                <a:latin typeface="Aptos"/>
              </a:rPr>
              <a:t>apollo</a:t>
            </a:r>
          </a:p>
        </p:txBody>
      </p:sp>
      <p:cxnSp>
        <p:nvCxnSpPr>
          <p:cNvPr id="21" name="Connector 20"/>
          <p:cNvCxnSpPr/>
          <p:nvPr/>
        </p:nvCxnSpPr>
        <p:spPr>
          <a:xfrm>
            <a:off x="2468880" y="2697480"/>
            <a:ext cx="685800" cy="1188720"/>
          </a:xfrm>
          <a:prstGeom prst="line">
            <a:avLst/>
          </a:prstGeom>
          <a:ln w="13970">
            <a:solidFill>
              <a:srgbClr val="B91C1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 y="4041648"/>
            <a:ext cx="5029200" cy="219456"/>
          </a:xfrm>
          <a:prstGeom prst="rect">
            <a:avLst/>
          </a:prstGeom>
          <a:noFill/>
        </p:spPr>
        <p:txBody>
          <a:bodyPr wrap="square" lIns="0" rIns="0" tIns="0" bIns="0" anchor="t">
            <a:spAutoFit/>
          </a:bodyPr>
          <a:lstStyle/>
          <a:p>
            <a:pPr algn="l">
              <a:lnSpc>
                <a:spcPct val="115000"/>
              </a:lnSpc>
            </a:pPr>
            <a:r>
              <a:rPr sz="1000" b="1" i="0">
                <a:solidFill>
                  <a:srgbClr val="B91C1C"/>
                </a:solidFill>
                <a:latin typeface="Aptos"/>
              </a:rPr>
              <a:t>one order counted under EVERY enabled channel</a:t>
            </a:r>
          </a:p>
        </p:txBody>
      </p:sp>
      <p:sp>
        <p:nvSpPr>
          <p:cNvPr id="23" name="Rounded Rectangle 22"/>
          <p:cNvSpPr/>
          <p:nvPr/>
        </p:nvSpPr>
        <p:spPr>
          <a:xfrm>
            <a:off x="6190488" y="2212848"/>
            <a:ext cx="5440680" cy="2194560"/>
          </a:xfrm>
          <a:prstGeom prst="roundRect">
            <a:avLst>
              <a:gd name="adj" fmla="val 6000"/>
            </a:avLst>
          </a:prstGeom>
          <a:solidFill>
            <a:srgbClr val="ECFDF3"/>
          </a:solidFill>
          <a:ln w="9525">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90488" y="1975104"/>
            <a:ext cx="5440680" cy="201168"/>
          </a:xfrm>
          <a:prstGeom prst="rect">
            <a:avLst/>
          </a:prstGeom>
          <a:noFill/>
        </p:spPr>
        <p:txBody>
          <a:bodyPr wrap="square" lIns="0" rIns="0" tIns="0" bIns="0" anchor="t">
            <a:spAutoFit/>
          </a:bodyPr>
          <a:lstStyle/>
          <a:p>
            <a:pPr algn="l">
              <a:lnSpc>
                <a:spcPct val="115000"/>
              </a:lnSpc>
            </a:pPr>
            <a:r>
              <a:rPr sz="900" b="1" i="0">
                <a:solidFill>
                  <a:srgbClr val="008A47"/>
                </a:solidFill>
                <a:latin typeface="Aptos"/>
              </a:rPr>
              <a:t>RIGHT — EXTERNAL_SERVICE_NAME (FACT)</a:t>
            </a:r>
          </a:p>
        </p:txBody>
      </p:sp>
      <p:sp>
        <p:nvSpPr>
          <p:cNvPr id="25" name="Rounded Rectangle 24"/>
          <p:cNvSpPr/>
          <p:nvPr/>
        </p:nvSpPr>
        <p:spPr>
          <a:xfrm>
            <a:off x="6675120" y="2697480"/>
            <a:ext cx="1371600" cy="548640"/>
          </a:xfrm>
          <a:prstGeom prst="roundRect">
            <a:avLst>
              <a:gd name="adj" fmla="val 6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0" y="2852928"/>
            <a:ext cx="1371600" cy="237744"/>
          </a:xfrm>
          <a:prstGeom prst="rect">
            <a:avLst/>
          </a:prstGeom>
          <a:noFill/>
        </p:spPr>
        <p:txBody>
          <a:bodyPr wrap="square" lIns="0" rIns="0" tIns="0" bIns="0" anchor="ctr">
            <a:spAutoFit/>
          </a:bodyPr>
          <a:lstStyle/>
          <a:p>
            <a:pPr algn="ctr">
              <a:lnSpc>
                <a:spcPct val="115000"/>
              </a:lnSpc>
            </a:pPr>
            <a:r>
              <a:rPr sz="1100" b="1" i="0">
                <a:solidFill>
                  <a:srgbClr val="0F172A"/>
                </a:solidFill>
                <a:latin typeface="Aptos"/>
              </a:rPr>
              <a:t>1 order</a:t>
            </a:r>
          </a:p>
        </p:txBody>
      </p:sp>
      <p:sp>
        <p:nvSpPr>
          <p:cNvPr id="27" name="Rounded Rectangle 26"/>
          <p:cNvSpPr/>
          <p:nvPr/>
        </p:nvSpPr>
        <p:spPr>
          <a:xfrm>
            <a:off x="9052560" y="2697480"/>
            <a:ext cx="2103120" cy="548640"/>
          </a:xfrm>
          <a:prstGeom prst="roundRect">
            <a:avLst>
              <a:gd name="adj" fmla="val 6000"/>
            </a:avLst>
          </a:prstGeom>
          <a:solidFill>
            <a:srgbClr val="ECFDF3"/>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0" y="2852928"/>
            <a:ext cx="2103120" cy="237744"/>
          </a:xfrm>
          <a:prstGeom prst="rect">
            <a:avLst/>
          </a:prstGeom>
          <a:noFill/>
        </p:spPr>
        <p:txBody>
          <a:bodyPr wrap="square" lIns="0" rIns="0" tIns="0" bIns="0" anchor="ctr">
            <a:spAutoFit/>
          </a:bodyPr>
          <a:lstStyle/>
          <a:p>
            <a:pPr algn="ctr">
              <a:lnSpc>
                <a:spcPct val="115000"/>
              </a:lnSpc>
            </a:pPr>
            <a:r>
              <a:rPr sz="1100" b="1" i="0">
                <a:solidFill>
                  <a:srgbClr val="0F172A"/>
                </a:solidFill>
                <a:latin typeface="Aptos"/>
              </a:rPr>
              <a:t>tygo</a:t>
            </a:r>
          </a:p>
        </p:txBody>
      </p:sp>
      <p:cxnSp>
        <p:nvCxnSpPr>
          <p:cNvPr id="29" name="Connector 28"/>
          <p:cNvCxnSpPr/>
          <p:nvPr/>
        </p:nvCxnSpPr>
        <p:spPr>
          <a:xfrm>
            <a:off x="8101584" y="2971800"/>
            <a:ext cx="896112" cy="0"/>
          </a:xfrm>
          <a:prstGeom prst="line">
            <a:avLst/>
          </a:prstGeom>
          <a:ln w="20320">
            <a:solidFill>
              <a:srgbClr val="008A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400800" y="4041648"/>
            <a:ext cx="5029200" cy="219456"/>
          </a:xfrm>
          <a:prstGeom prst="rect">
            <a:avLst/>
          </a:prstGeom>
          <a:noFill/>
        </p:spPr>
        <p:txBody>
          <a:bodyPr wrap="square" lIns="0" rIns="0" tIns="0" bIns="0" anchor="t">
            <a:spAutoFit/>
          </a:bodyPr>
          <a:lstStyle/>
          <a:p>
            <a:pPr algn="l">
              <a:lnSpc>
                <a:spcPct val="115000"/>
              </a:lnSpc>
            </a:pPr>
            <a:r>
              <a:rPr sz="1000" b="1" i="0">
                <a:solidFill>
                  <a:srgbClr val="008A47"/>
                </a:solidFill>
                <a:latin typeface="Aptos"/>
              </a:rPr>
              <a:t>stamped on the row at creation — exactly one</a:t>
            </a:r>
          </a:p>
        </p:txBody>
      </p:sp>
      <p:sp>
        <p:nvSpPr>
          <p:cNvPr id="31" name="Rounded Rectangle 30"/>
          <p:cNvSpPr/>
          <p:nvPr/>
        </p:nvSpPr>
        <p:spPr>
          <a:xfrm>
            <a:off x="566928" y="4617720"/>
            <a:ext cx="11064240" cy="310896"/>
          </a:xfrm>
          <a:prstGeom prst="roundRect">
            <a:avLst>
              <a:gd name="adj" fmla="val 6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4672583"/>
            <a:ext cx="184708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Channel</a:t>
            </a:r>
          </a:p>
        </p:txBody>
      </p:sp>
      <p:sp>
        <p:nvSpPr>
          <p:cNvPr id="33" name="TextBox 32"/>
          <p:cNvSpPr txBox="1"/>
          <p:nvPr/>
        </p:nvSpPr>
        <p:spPr>
          <a:xfrm>
            <a:off x="2697480" y="4672583"/>
            <a:ext cx="257860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Reported (wrong)</a:t>
            </a:r>
          </a:p>
        </p:txBody>
      </p:sp>
      <p:sp>
        <p:nvSpPr>
          <p:cNvPr id="34" name="TextBox 33"/>
          <p:cNvSpPr txBox="1"/>
          <p:nvPr/>
        </p:nvSpPr>
        <p:spPr>
          <a:xfrm>
            <a:off x="5440680" y="4672583"/>
            <a:ext cx="2029967"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Actual</a:t>
            </a:r>
          </a:p>
        </p:txBody>
      </p:sp>
      <p:sp>
        <p:nvSpPr>
          <p:cNvPr id="35" name="TextBox 34"/>
          <p:cNvSpPr txBox="1"/>
          <p:nvPr/>
        </p:nvSpPr>
        <p:spPr>
          <a:xfrm>
            <a:off x="7635240" y="4672583"/>
            <a:ext cx="395020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Why it mattered</a:t>
            </a:r>
          </a:p>
        </p:txBody>
      </p:sp>
      <p:sp>
        <p:nvSpPr>
          <p:cNvPr id="36" name="TextBox 35"/>
          <p:cNvSpPr txBox="1"/>
          <p:nvPr/>
        </p:nvSpPr>
        <p:spPr>
          <a:xfrm>
            <a:off x="685800" y="4983479"/>
            <a:ext cx="18470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soob</a:t>
            </a:r>
          </a:p>
        </p:txBody>
      </p:sp>
      <p:sp>
        <p:nvSpPr>
          <p:cNvPr id="37" name="TextBox 36"/>
          <p:cNvSpPr txBox="1"/>
          <p:nvPr/>
        </p:nvSpPr>
        <p:spPr>
          <a:xfrm>
            <a:off x="2697480" y="4983479"/>
            <a:ext cx="25786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311 orders</a:t>
            </a:r>
          </a:p>
        </p:txBody>
      </p:sp>
      <p:sp>
        <p:nvSpPr>
          <p:cNvPr id="38" name="TextBox 37"/>
          <p:cNvSpPr txBox="1"/>
          <p:nvPr/>
        </p:nvSpPr>
        <p:spPr>
          <a:xfrm>
            <a:off x="5440680" y="4983479"/>
            <a:ext cx="2029967"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65 — all test</a:t>
            </a:r>
          </a:p>
        </p:txBody>
      </p:sp>
      <p:sp>
        <p:nvSpPr>
          <p:cNvPr id="39" name="TextBox 38"/>
          <p:cNvSpPr txBox="1"/>
          <p:nvPr/>
        </p:nvSpPr>
        <p:spPr>
          <a:xfrm>
            <a:off x="7635240" y="4983479"/>
            <a:ext cx="39502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we nearly told commercial an unlaunched channel was selling</a:t>
            </a:r>
          </a:p>
        </p:txBody>
      </p:sp>
      <p:sp>
        <p:nvSpPr>
          <p:cNvPr id="40" name="Rounded Rectangle 39"/>
          <p:cNvSpPr/>
          <p:nvPr/>
        </p:nvSpPr>
        <p:spPr>
          <a:xfrm>
            <a:off x="566928" y="5239512"/>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5294375"/>
            <a:ext cx="18470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tygo</a:t>
            </a:r>
          </a:p>
        </p:txBody>
      </p:sp>
      <p:sp>
        <p:nvSpPr>
          <p:cNvPr id="42" name="TextBox 41"/>
          <p:cNvSpPr txBox="1"/>
          <p:nvPr/>
        </p:nvSpPr>
        <p:spPr>
          <a:xfrm>
            <a:off x="2697480" y="5294375"/>
            <a:ext cx="25786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a:t>
            </a:r>
          </a:p>
        </p:txBody>
      </p:sp>
      <p:sp>
        <p:nvSpPr>
          <p:cNvPr id="43" name="TextBox 42"/>
          <p:cNvSpPr txBox="1"/>
          <p:nvPr/>
        </p:nvSpPr>
        <p:spPr>
          <a:xfrm>
            <a:off x="5440680" y="5294375"/>
            <a:ext cx="2029967"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26,107</a:t>
            </a:r>
          </a:p>
        </p:txBody>
      </p:sp>
      <p:sp>
        <p:nvSpPr>
          <p:cNvPr id="44" name="TextBox 43"/>
          <p:cNvSpPr txBox="1"/>
          <p:nvPr/>
        </p:nvSpPr>
        <p:spPr>
          <a:xfrm>
            <a:off x="7635240" y="5294375"/>
            <a:ext cx="39502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the real reseller volume was buried in the noise</a:t>
            </a:r>
          </a:p>
        </p:txBody>
      </p:sp>
      <p:sp>
        <p:nvSpPr>
          <p:cNvPr id="45" name="Rounded Rectangle 44"/>
          <p:cNvSpPr/>
          <p:nvPr/>
        </p:nvSpPr>
        <p:spPr>
          <a:xfrm>
            <a:off x="566928" y="5760720"/>
            <a:ext cx="11064240" cy="868680"/>
          </a:xfrm>
          <a:prstGeom prst="roundRect">
            <a:avLst>
              <a:gd name="adj" fmla="val 6000"/>
            </a:avLst>
          </a:prstGeom>
          <a:solidFill>
            <a:srgbClr val="ECFDF3"/>
          </a:solidFill>
          <a:ln w="9525">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04672" y="5907024"/>
            <a:ext cx="10588752" cy="219456"/>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THE RULE THAT CAME OUT OF IT</a:t>
            </a:r>
          </a:p>
        </p:txBody>
      </p:sp>
      <p:sp>
        <p:nvSpPr>
          <p:cNvPr id="47" name="TextBox 46"/>
          <p:cNvSpPr txBox="1"/>
          <p:nvPr/>
        </p:nvSpPr>
        <p:spPr>
          <a:xfrm>
            <a:off x="804672" y="6181344"/>
            <a:ext cx="10588752" cy="301751"/>
          </a:xfrm>
          <a:prstGeom prst="rect">
            <a:avLst/>
          </a:prstGeom>
          <a:noFill/>
        </p:spPr>
        <p:txBody>
          <a:bodyPr wrap="square" lIns="0" rIns="0" tIns="0" bIns="0" anchor="t">
            <a:spAutoFit/>
          </a:bodyPr>
          <a:lstStyle/>
          <a:p>
            <a:pPr algn="l">
              <a:lnSpc>
                <a:spcPct val="122000"/>
              </a:lnSpc>
            </a:pPr>
            <a:r>
              <a:rPr sz="1150" b="0" i="0">
                <a:solidFill>
                  <a:srgbClr val="0F172A"/>
                </a:solidFill>
                <a:latin typeface="Aptos"/>
              </a:rPr>
              <a:t>Attribute from the fact stamped on the row, never from a table describing what is POSSIBLE. Four more defects of this shape were found in the same audit — if a number looks too good, say so.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7315200" cy="182880"/>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1.5 · COVERAGE</a:t>
            </a:r>
          </a:p>
        </p:txBody>
      </p:sp>
      <p:sp>
        <p:nvSpPr>
          <p:cNvPr id="3" name="TextBox 2"/>
          <p:cNvSpPr txBox="1"/>
          <p:nvPr/>
        </p:nvSpPr>
        <p:spPr>
          <a:xfrm>
            <a:off x="566928" y="621792"/>
            <a:ext cx="10058400" cy="411480"/>
          </a:xfrm>
          <a:prstGeom prst="rect">
            <a:avLst/>
          </a:prstGeom>
          <a:noFill/>
        </p:spPr>
        <p:txBody>
          <a:bodyPr wrap="square" lIns="0" rIns="0" tIns="0" bIns="0" anchor="t">
            <a:spAutoFit/>
          </a:bodyPr>
          <a:lstStyle/>
          <a:p>
            <a:pPr algn="l">
              <a:lnSpc>
                <a:spcPct val="115000"/>
              </a:lnSpc>
            </a:pPr>
            <a:r>
              <a:rPr sz="2400" b="1" i="0">
                <a:solidFill>
                  <a:srgbClr val="0F172A"/>
                </a:solidFill>
                <a:latin typeface="Aptos"/>
              </a:rPr>
              <a:t>What the console can and cannot see</a:t>
            </a:r>
          </a:p>
        </p:txBody>
      </p:sp>
      <p:sp>
        <p:nvSpPr>
          <p:cNvPr id="4" name="Rectangle 3"/>
          <p:cNvSpPr/>
          <p:nvPr/>
        </p:nvSpPr>
        <p:spPr>
          <a:xfrm>
            <a:off x="566928" y="1133856"/>
            <a:ext cx="64008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16736"/>
            <a:ext cx="11064240" cy="457200"/>
          </a:xfrm>
          <a:prstGeom prst="rect">
            <a:avLst/>
          </a:prstGeom>
          <a:noFill/>
        </p:spPr>
        <p:txBody>
          <a:bodyPr wrap="square" lIns="0" rIns="0" tIns="0" bIns="0" anchor="t">
            <a:spAutoFit/>
          </a:bodyPr>
          <a:lstStyle/>
          <a:p>
            <a:pPr algn="l">
              <a:lnSpc>
                <a:spcPct val="115000"/>
              </a:lnSpc>
            </a:pPr>
            <a:r>
              <a:rPr sz="1200" b="0" i="0">
                <a:solidFill>
                  <a:srgbClr val="64748B"/>
                </a:solidFill>
                <a:latin typeface="Aptos"/>
              </a:rPr>
              <a:t>A blind spot you know about is a gap. One you do not know about is a false sense of safety.</a:t>
            </a:r>
          </a:p>
        </p:txBody>
      </p:sp>
      <p:sp>
        <p:nvSpPr>
          <p:cNvPr id="6" name="Rounded Rectangle 5"/>
          <p:cNvSpPr/>
          <p:nvPr/>
        </p:nvSpPr>
        <p:spPr>
          <a:xfrm>
            <a:off x="566928" y="1965960"/>
            <a:ext cx="5440680" cy="2514600"/>
          </a:xfrm>
          <a:prstGeom prst="roundRect">
            <a:avLst>
              <a:gd name="adj" fmla="val 6000"/>
            </a:avLst>
          </a:prstGeom>
          <a:solidFill>
            <a:srgbClr val="ECFDF3"/>
          </a:solidFill>
          <a:ln w="9525">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148840"/>
            <a:ext cx="4846320" cy="237744"/>
          </a:xfrm>
          <a:prstGeom prst="rect">
            <a:avLst/>
          </a:prstGeom>
          <a:noFill/>
        </p:spPr>
        <p:txBody>
          <a:bodyPr wrap="square" lIns="0" rIns="0" tIns="0" bIns="0" anchor="t">
            <a:spAutoFit/>
          </a:bodyPr>
          <a:lstStyle/>
          <a:p>
            <a:pPr algn="l">
              <a:lnSpc>
                <a:spcPct val="115000"/>
              </a:lnSpc>
            </a:pPr>
            <a:r>
              <a:rPr sz="1100" b="1" i="0">
                <a:solidFill>
                  <a:srgbClr val="008A47"/>
                </a:solidFill>
                <a:latin typeface="Aptos"/>
              </a:rPr>
              <a:t>WE SEE</a:t>
            </a:r>
          </a:p>
        </p:txBody>
      </p:sp>
      <p:sp>
        <p:nvSpPr>
          <p:cNvPr id="8" name="TextBox 7"/>
          <p:cNvSpPr txBox="1"/>
          <p:nvPr/>
        </p:nvSpPr>
        <p:spPr>
          <a:xfrm>
            <a:off x="841247" y="2514600"/>
            <a:ext cx="4937760" cy="329184"/>
          </a:xfrm>
          <a:prstGeom prst="rect">
            <a:avLst/>
          </a:prstGeom>
          <a:noFill/>
        </p:spPr>
        <p:txBody>
          <a:bodyPr wrap="square" lIns="0" rIns="0" tIns="0" bIns="0" anchor="t">
            <a:spAutoFit/>
          </a:bodyPr>
          <a:lstStyle/>
          <a:p>
            <a:pPr algn="l">
              <a:lnSpc>
                <a:spcPct val="115000"/>
              </a:lnSpc>
            </a:pPr>
            <a:r>
              <a:rPr sz="1100" b="0" i="0">
                <a:solidFill>
                  <a:srgbClr val="334155"/>
                </a:solidFill>
                <a:latin typeface="Aptos"/>
              </a:rPr>
              <a:t>· 15 tables from the replica</a:t>
            </a:r>
          </a:p>
        </p:txBody>
      </p:sp>
      <p:sp>
        <p:nvSpPr>
          <p:cNvPr id="9" name="TextBox 8"/>
          <p:cNvSpPr txBox="1"/>
          <p:nvPr/>
        </p:nvSpPr>
        <p:spPr>
          <a:xfrm>
            <a:off x="841247" y="2880360"/>
            <a:ext cx="4937760" cy="329184"/>
          </a:xfrm>
          <a:prstGeom prst="rect">
            <a:avLst/>
          </a:prstGeom>
          <a:noFill/>
        </p:spPr>
        <p:txBody>
          <a:bodyPr wrap="square" lIns="0" rIns="0" tIns="0" bIns="0" anchor="t">
            <a:spAutoFit/>
          </a:bodyPr>
          <a:lstStyle/>
          <a:p>
            <a:pPr algn="l">
              <a:lnSpc>
                <a:spcPct val="115000"/>
              </a:lnSpc>
            </a:pPr>
            <a:r>
              <a:rPr sz="1100" b="0" i="0">
                <a:solidFill>
                  <a:srgbClr val="334155"/>
                </a:solidFill>
                <a:latin typeface="Aptos"/>
              </a:rPr>
              <a:t>· orders · payments · activation</a:t>
            </a:r>
          </a:p>
        </p:txBody>
      </p:sp>
      <p:sp>
        <p:nvSpPr>
          <p:cNvPr id="10" name="TextBox 9"/>
          <p:cNvSpPr txBox="1"/>
          <p:nvPr/>
        </p:nvSpPr>
        <p:spPr>
          <a:xfrm>
            <a:off x="841247" y="3246120"/>
            <a:ext cx="4937760" cy="329184"/>
          </a:xfrm>
          <a:prstGeom prst="rect">
            <a:avLst/>
          </a:prstGeom>
          <a:noFill/>
        </p:spPr>
        <p:txBody>
          <a:bodyPr wrap="square" lIns="0" rIns="0" tIns="0" bIns="0" anchor="t">
            <a:spAutoFit/>
          </a:bodyPr>
          <a:lstStyle/>
          <a:p>
            <a:pPr algn="l">
              <a:lnSpc>
                <a:spcPct val="115000"/>
              </a:lnSpc>
            </a:pPr>
            <a:r>
              <a:rPr sz="1100" b="0" i="0">
                <a:solidFill>
                  <a:srgbClr val="334155"/>
                </a:solidFill>
                <a:latin typeface="Aptos"/>
              </a:rPr>
              <a:t>· eligibility · nafath · delivery</a:t>
            </a:r>
          </a:p>
        </p:txBody>
      </p:sp>
      <p:sp>
        <p:nvSpPr>
          <p:cNvPr id="11" name="TextBox 10"/>
          <p:cNvSpPr txBox="1"/>
          <p:nvPr/>
        </p:nvSpPr>
        <p:spPr>
          <a:xfrm>
            <a:off x="841247" y="3611880"/>
            <a:ext cx="4937760" cy="329184"/>
          </a:xfrm>
          <a:prstGeom prst="rect">
            <a:avLst/>
          </a:prstGeom>
          <a:noFill/>
        </p:spPr>
        <p:txBody>
          <a:bodyPr wrap="square" lIns="0" rIns="0" tIns="0" bIns="0" anchor="t">
            <a:spAutoFit/>
          </a:bodyPr>
          <a:lstStyle/>
          <a:p>
            <a:pPr algn="l">
              <a:lnSpc>
                <a:spcPct val="115000"/>
              </a:lnSpc>
            </a:pPr>
            <a:r>
              <a:rPr sz="1100" b="0" i="0">
                <a:solidFill>
                  <a:srgbClr val="334155"/>
                </a:solidFill>
                <a:latin typeface="Aptos"/>
              </a:rPr>
              <a:t>· API GW reachability (probe)</a:t>
            </a:r>
          </a:p>
        </p:txBody>
      </p:sp>
      <p:sp>
        <p:nvSpPr>
          <p:cNvPr id="12" name="TextBox 11"/>
          <p:cNvSpPr txBox="1"/>
          <p:nvPr/>
        </p:nvSpPr>
        <p:spPr>
          <a:xfrm>
            <a:off x="841247" y="3977639"/>
            <a:ext cx="4937760" cy="329184"/>
          </a:xfrm>
          <a:prstGeom prst="rect">
            <a:avLst/>
          </a:prstGeom>
          <a:noFill/>
        </p:spPr>
        <p:txBody>
          <a:bodyPr wrap="square" lIns="0" rIns="0" tIns="0" bIns="0" anchor="t">
            <a:spAutoFit/>
          </a:bodyPr>
          <a:lstStyle/>
          <a:p>
            <a:pPr algn="l">
              <a:lnSpc>
                <a:spcPct val="115000"/>
              </a:lnSpc>
            </a:pPr>
            <a:r>
              <a:rPr sz="1100" b="0" i="0">
                <a:solidFill>
                  <a:srgbClr val="334155"/>
                </a:solidFill>
                <a:latin typeface="Aptos"/>
              </a:rPr>
              <a:t>· OSB read-path log (new this week)</a:t>
            </a:r>
          </a:p>
        </p:txBody>
      </p:sp>
      <p:sp>
        <p:nvSpPr>
          <p:cNvPr id="13" name="Rounded Rectangle 12"/>
          <p:cNvSpPr/>
          <p:nvPr/>
        </p:nvSpPr>
        <p:spPr>
          <a:xfrm>
            <a:off x="6190488" y="1965960"/>
            <a:ext cx="5440680" cy="2514600"/>
          </a:xfrm>
          <a:prstGeom prst="roundRect">
            <a:avLst>
              <a:gd name="adj" fmla="val 6000"/>
            </a:avLst>
          </a:prstGeom>
          <a:solidFill>
            <a:srgbClr val="FEF2F2"/>
          </a:solidFill>
          <a:ln w="952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2148840"/>
            <a:ext cx="4846320" cy="237744"/>
          </a:xfrm>
          <a:prstGeom prst="rect">
            <a:avLst/>
          </a:prstGeom>
          <a:noFill/>
        </p:spPr>
        <p:txBody>
          <a:bodyPr wrap="square" lIns="0" rIns="0" tIns="0" bIns="0" anchor="t">
            <a:spAutoFit/>
          </a:bodyPr>
          <a:lstStyle/>
          <a:p>
            <a:pPr algn="l">
              <a:lnSpc>
                <a:spcPct val="115000"/>
              </a:lnSpc>
            </a:pPr>
            <a:r>
              <a:rPr sz="1100" b="1" i="0">
                <a:solidFill>
                  <a:srgbClr val="B91C1C"/>
                </a:solidFill>
                <a:latin typeface="Aptos"/>
              </a:rPr>
              <a:t>WE DO NOT</a:t>
            </a:r>
          </a:p>
        </p:txBody>
      </p:sp>
      <p:sp>
        <p:nvSpPr>
          <p:cNvPr id="15" name="TextBox 14"/>
          <p:cNvSpPr txBox="1"/>
          <p:nvPr/>
        </p:nvSpPr>
        <p:spPr>
          <a:xfrm>
            <a:off x="6464808" y="2514600"/>
            <a:ext cx="4937760" cy="329184"/>
          </a:xfrm>
          <a:prstGeom prst="rect">
            <a:avLst/>
          </a:prstGeom>
          <a:noFill/>
        </p:spPr>
        <p:txBody>
          <a:bodyPr wrap="square" lIns="0" rIns="0" tIns="0" bIns="0" anchor="t">
            <a:spAutoFit/>
          </a:bodyPr>
          <a:lstStyle/>
          <a:p>
            <a:pPr algn="l">
              <a:lnSpc>
                <a:spcPct val="115000"/>
              </a:lnSpc>
            </a:pPr>
            <a:r>
              <a:rPr sz="1100" b="0" i="0">
                <a:solidFill>
                  <a:srgbClr val="334155"/>
                </a:solidFill>
                <a:latin typeface="Aptos"/>
              </a:rPr>
              <a:t>· BSS / Oracle BRM app logs</a:t>
            </a:r>
          </a:p>
        </p:txBody>
      </p:sp>
      <p:sp>
        <p:nvSpPr>
          <p:cNvPr id="16" name="TextBox 15"/>
          <p:cNvSpPr txBox="1"/>
          <p:nvPr/>
        </p:nvSpPr>
        <p:spPr>
          <a:xfrm>
            <a:off x="6464808" y="2880360"/>
            <a:ext cx="4937760" cy="329184"/>
          </a:xfrm>
          <a:prstGeom prst="rect">
            <a:avLst/>
          </a:prstGeom>
          <a:noFill/>
        </p:spPr>
        <p:txBody>
          <a:bodyPr wrap="square" lIns="0" rIns="0" tIns="0" bIns="0" anchor="t">
            <a:spAutoFit/>
          </a:bodyPr>
          <a:lstStyle/>
          <a:p>
            <a:pPr algn="l">
              <a:lnSpc>
                <a:spcPct val="115000"/>
              </a:lnSpc>
            </a:pPr>
            <a:r>
              <a:rPr sz="1100" b="0" i="0">
                <a:solidFill>
                  <a:srgbClr val="334155"/>
                </a:solidFill>
                <a:latin typeface="Aptos"/>
              </a:rPr>
              <a:t>· OSB / WebLogic server logs</a:t>
            </a:r>
          </a:p>
        </p:txBody>
      </p:sp>
      <p:sp>
        <p:nvSpPr>
          <p:cNvPr id="17" name="TextBox 16"/>
          <p:cNvSpPr txBox="1"/>
          <p:nvPr/>
        </p:nvSpPr>
        <p:spPr>
          <a:xfrm>
            <a:off x="6464808" y="3246120"/>
            <a:ext cx="4937760" cy="329184"/>
          </a:xfrm>
          <a:prstGeom prst="rect">
            <a:avLst/>
          </a:prstGeom>
          <a:noFill/>
        </p:spPr>
        <p:txBody>
          <a:bodyPr wrap="square" lIns="0" rIns="0" tIns="0" bIns="0" anchor="t">
            <a:spAutoFit/>
          </a:bodyPr>
          <a:lstStyle/>
          <a:p>
            <a:pPr algn="l">
              <a:lnSpc>
                <a:spcPct val="115000"/>
              </a:lnSpc>
            </a:pPr>
            <a:r>
              <a:rPr sz="1100" b="0" i="0">
                <a:solidFill>
                  <a:srgbClr val="334155"/>
                </a:solidFill>
                <a:latin typeface="Aptos"/>
              </a:rPr>
              <a:t>· Semati / TCC provider logs</a:t>
            </a:r>
          </a:p>
        </p:txBody>
      </p:sp>
      <p:sp>
        <p:nvSpPr>
          <p:cNvPr id="18" name="TextBox 17"/>
          <p:cNvSpPr txBox="1"/>
          <p:nvPr/>
        </p:nvSpPr>
        <p:spPr>
          <a:xfrm>
            <a:off x="6464808" y="3611880"/>
            <a:ext cx="4937760" cy="329184"/>
          </a:xfrm>
          <a:prstGeom prst="rect">
            <a:avLst/>
          </a:prstGeom>
          <a:noFill/>
        </p:spPr>
        <p:txBody>
          <a:bodyPr wrap="square" lIns="0" rIns="0" tIns="0" bIns="0" anchor="t">
            <a:spAutoFit/>
          </a:bodyPr>
          <a:lstStyle/>
          <a:p>
            <a:pPr algn="l">
              <a:lnSpc>
                <a:spcPct val="115000"/>
              </a:lnSpc>
            </a:pPr>
            <a:r>
              <a:rPr sz="1100" b="0" i="0">
                <a:solidFill>
                  <a:srgbClr val="334155"/>
                </a:solidFill>
                <a:latin typeface="Aptos"/>
              </a:rPr>
              <a:t>· firewall &amp; SOC logs</a:t>
            </a:r>
          </a:p>
        </p:txBody>
      </p:sp>
      <p:sp>
        <p:nvSpPr>
          <p:cNvPr id="19" name="TextBox 18"/>
          <p:cNvSpPr txBox="1"/>
          <p:nvPr/>
        </p:nvSpPr>
        <p:spPr>
          <a:xfrm>
            <a:off x="6464808" y="3977639"/>
            <a:ext cx="4937760" cy="329184"/>
          </a:xfrm>
          <a:prstGeom prst="rect">
            <a:avLst/>
          </a:prstGeom>
          <a:noFill/>
        </p:spPr>
        <p:txBody>
          <a:bodyPr wrap="square" lIns="0" rIns="0" tIns="0" bIns="0" anchor="t">
            <a:spAutoFit/>
          </a:bodyPr>
          <a:lstStyle/>
          <a:p>
            <a:pPr algn="l">
              <a:lnSpc>
                <a:spcPct val="115000"/>
              </a:lnSpc>
            </a:pPr>
            <a:r>
              <a:rPr sz="1100" b="0" i="0">
                <a:solidFill>
                  <a:srgbClr val="334155"/>
                </a:solidFill>
                <a:latin typeface="Aptos"/>
              </a:rPr>
              <a:t>· UPG / HyperPay gateway logs</a:t>
            </a:r>
          </a:p>
        </p:txBody>
      </p:sp>
      <p:sp>
        <p:nvSpPr>
          <p:cNvPr id="20" name="Rounded Rectangle 19"/>
          <p:cNvSpPr/>
          <p:nvPr/>
        </p:nvSpPr>
        <p:spPr>
          <a:xfrm>
            <a:off x="566928" y="4663440"/>
            <a:ext cx="11064240" cy="914400"/>
          </a:xfrm>
          <a:prstGeom prst="roundRect">
            <a:avLst>
              <a:gd name="adj" fmla="val 6000"/>
            </a:avLst>
          </a:prstGeom>
          <a:solidFill>
            <a:srgbClr val="FFFBEB"/>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4809744"/>
            <a:ext cx="10588752" cy="219456"/>
          </a:xfrm>
          <a:prstGeom prst="rect">
            <a:avLst/>
          </a:prstGeom>
          <a:noFill/>
        </p:spPr>
        <p:txBody>
          <a:bodyPr wrap="square" lIns="0" rIns="0" tIns="0" bIns="0" anchor="t">
            <a:spAutoFit/>
          </a:bodyPr>
          <a:lstStyle/>
          <a:p>
            <a:pPr algn="l">
              <a:lnSpc>
                <a:spcPct val="115000"/>
              </a:lnSpc>
            </a:pPr>
            <a:r>
              <a:rPr sz="950" b="1" i="0">
                <a:solidFill>
                  <a:srgbClr val="B45309"/>
                </a:solidFill>
                <a:latin typeface="Aptos"/>
              </a:rPr>
              <a:t>THE HONEST SENTENCE</a:t>
            </a:r>
          </a:p>
        </p:txBody>
      </p:sp>
      <p:sp>
        <p:nvSpPr>
          <p:cNvPr id="22" name="TextBox 21"/>
          <p:cNvSpPr txBox="1"/>
          <p:nvPr/>
        </p:nvSpPr>
        <p:spPr>
          <a:xfrm>
            <a:off x="804672" y="5084064"/>
            <a:ext cx="10588752" cy="347472"/>
          </a:xfrm>
          <a:prstGeom prst="rect">
            <a:avLst/>
          </a:prstGeom>
          <a:noFill/>
        </p:spPr>
        <p:txBody>
          <a:bodyPr wrap="square" lIns="0" rIns="0" tIns="0" bIns="0" anchor="t">
            <a:spAutoFit/>
          </a:bodyPr>
          <a:lstStyle/>
          <a:p>
            <a:pPr algn="l">
              <a:lnSpc>
                <a:spcPct val="122000"/>
              </a:lnSpc>
            </a:pPr>
            <a:r>
              <a:rPr sz="1150" b="0" i="0">
                <a:solidFill>
                  <a:srgbClr val="0F172A"/>
                </a:solidFill>
                <a:latin typeface="Aptos"/>
              </a:rPr>
              <a:t>The console sees the digital channel's OWN database, plus a few optional feeds. It is not a log aggregator. Treating it as one is exactly the assumption that let INC0016809 run for an hour.</a:t>
            </a:r>
          </a:p>
        </p:txBody>
      </p:sp>
      <p:sp>
        <p:nvSpPr>
          <p:cNvPr id="23" name="Rounded Rectangle 22"/>
          <p:cNvSpPr/>
          <p:nvPr/>
        </p:nvSpPr>
        <p:spPr>
          <a:xfrm>
            <a:off x="566928" y="5760720"/>
            <a:ext cx="11064240" cy="868680"/>
          </a:xfrm>
          <a:prstGeom prst="roundRect">
            <a:avLst>
              <a:gd name="adj" fmla="val 6000"/>
            </a:avLst>
          </a:prstGeom>
          <a:solidFill>
            <a:srgbClr val="FFFBEB"/>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879592"/>
            <a:ext cx="5387644" cy="201168"/>
          </a:xfrm>
          <a:prstGeom prst="rect">
            <a:avLst/>
          </a:prstGeom>
          <a:noFill/>
        </p:spPr>
        <p:txBody>
          <a:bodyPr wrap="square" lIns="0" rIns="0" tIns="0" bIns="0" anchor="t">
            <a:spAutoFit/>
          </a:bodyPr>
          <a:lstStyle/>
          <a:p>
            <a:pPr algn="l">
              <a:lnSpc>
                <a:spcPct val="115000"/>
              </a:lnSpc>
            </a:pPr>
            <a:r>
              <a:rPr sz="900" b="1" i="0">
                <a:solidFill>
                  <a:srgbClr val="B45309"/>
                </a:solidFill>
                <a:latin typeface="Aptos"/>
              </a:rPr>
              <a:t>REVIEW</a:t>
            </a:r>
          </a:p>
        </p:txBody>
      </p:sp>
      <p:sp>
        <p:nvSpPr>
          <p:cNvPr id="25" name="TextBox 24"/>
          <p:cNvSpPr txBox="1"/>
          <p:nvPr/>
        </p:nvSpPr>
        <p:spPr>
          <a:xfrm>
            <a:off x="822960" y="6089904"/>
            <a:ext cx="5387644" cy="429768"/>
          </a:xfrm>
          <a:prstGeom prst="rect">
            <a:avLst/>
          </a:prstGeom>
          <a:noFill/>
        </p:spPr>
        <p:txBody>
          <a:bodyPr wrap="square" lIns="0" rIns="0" tIns="0" bIns="0" anchor="t">
            <a:spAutoFit/>
          </a:bodyPr>
          <a:lstStyle/>
          <a:p>
            <a:pPr algn="l">
              <a:lnSpc>
                <a:spcPct val="115000"/>
              </a:lnSpc>
            </a:pPr>
            <a:r>
              <a:rPr sz="1250" b="1" i="0">
                <a:solidFill>
                  <a:srgbClr val="0F172A"/>
                </a:solidFill>
                <a:latin typeface="Aptos"/>
              </a:rPr>
              <a:t>Which missing source would change your day the most?</a:t>
            </a:r>
          </a:p>
        </p:txBody>
      </p:sp>
      <p:sp>
        <p:nvSpPr>
          <p:cNvPr id="26" name="Rounded Rectangle 25"/>
          <p:cNvSpPr/>
          <p:nvPr/>
        </p:nvSpPr>
        <p:spPr>
          <a:xfrm>
            <a:off x="6320332" y="5993892"/>
            <a:ext cx="1167688" cy="402336"/>
          </a:xfrm>
          <a:prstGeom prst="roundRect">
            <a:avLst>
              <a:gd name="adj" fmla="val 6000"/>
            </a:avLst>
          </a:prstGeom>
          <a:solidFill>
            <a:srgbClr val="FFFFFF"/>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75196" y="5993892"/>
            <a:ext cx="1057960" cy="402336"/>
          </a:xfrm>
          <a:prstGeom prst="rect">
            <a:avLst/>
          </a:prstGeom>
          <a:noFill/>
        </p:spPr>
        <p:txBody>
          <a:bodyPr wrap="square" lIns="0" rIns="0" tIns="0" bIns="0" anchor="ctr">
            <a:spAutoFit/>
          </a:bodyPr>
          <a:lstStyle/>
          <a:p>
            <a:pPr algn="ctr">
              <a:lnSpc>
                <a:spcPct val="115000"/>
              </a:lnSpc>
            </a:pPr>
            <a:r>
              <a:rPr sz="1000" b="1" i="0">
                <a:solidFill>
                  <a:srgbClr val="B45309"/>
                </a:solidFill>
                <a:latin typeface="Aptos"/>
              </a:rPr>
              <a:t>BSS app logs</a:t>
            </a:r>
          </a:p>
        </p:txBody>
      </p:sp>
      <p:sp>
        <p:nvSpPr>
          <p:cNvPr id="28" name="Rounded Rectangle 27"/>
          <p:cNvSpPr/>
          <p:nvPr/>
        </p:nvSpPr>
        <p:spPr>
          <a:xfrm>
            <a:off x="7616037" y="5993892"/>
            <a:ext cx="1167688" cy="402336"/>
          </a:xfrm>
          <a:prstGeom prst="roundRect">
            <a:avLst>
              <a:gd name="adj" fmla="val 6000"/>
            </a:avLst>
          </a:prstGeom>
          <a:solidFill>
            <a:srgbClr val="FFFFFF"/>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70901" y="5993892"/>
            <a:ext cx="1057960" cy="402336"/>
          </a:xfrm>
          <a:prstGeom prst="rect">
            <a:avLst/>
          </a:prstGeom>
          <a:noFill/>
        </p:spPr>
        <p:txBody>
          <a:bodyPr wrap="square" lIns="0" rIns="0" tIns="0" bIns="0" anchor="ctr">
            <a:spAutoFit/>
          </a:bodyPr>
          <a:lstStyle/>
          <a:p>
            <a:pPr algn="ctr">
              <a:lnSpc>
                <a:spcPct val="115000"/>
              </a:lnSpc>
            </a:pPr>
            <a:r>
              <a:rPr sz="1000" b="1" i="0">
                <a:solidFill>
                  <a:srgbClr val="B45309"/>
                </a:solidFill>
                <a:latin typeface="Aptos"/>
              </a:rPr>
              <a:t>Semati provider</a:t>
            </a:r>
          </a:p>
        </p:txBody>
      </p:sp>
      <p:sp>
        <p:nvSpPr>
          <p:cNvPr id="30" name="Rounded Rectangle 29"/>
          <p:cNvSpPr/>
          <p:nvPr/>
        </p:nvSpPr>
        <p:spPr>
          <a:xfrm>
            <a:off x="8911742" y="5993892"/>
            <a:ext cx="1167688" cy="402336"/>
          </a:xfrm>
          <a:prstGeom prst="roundRect">
            <a:avLst>
              <a:gd name="adj" fmla="val 6000"/>
            </a:avLst>
          </a:prstGeom>
          <a:solidFill>
            <a:srgbClr val="FFFFFF"/>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6606" y="5993892"/>
            <a:ext cx="1057960" cy="402336"/>
          </a:xfrm>
          <a:prstGeom prst="rect">
            <a:avLst/>
          </a:prstGeom>
          <a:noFill/>
        </p:spPr>
        <p:txBody>
          <a:bodyPr wrap="square" lIns="0" rIns="0" tIns="0" bIns="0" anchor="ctr">
            <a:spAutoFit/>
          </a:bodyPr>
          <a:lstStyle/>
          <a:p>
            <a:pPr algn="ctr">
              <a:lnSpc>
                <a:spcPct val="115000"/>
              </a:lnSpc>
            </a:pPr>
            <a:r>
              <a:rPr sz="1000" b="1" i="0">
                <a:solidFill>
                  <a:srgbClr val="B45309"/>
                </a:solidFill>
                <a:latin typeface="Aptos"/>
              </a:rPr>
              <a:t>Gateway logs</a:t>
            </a:r>
          </a:p>
        </p:txBody>
      </p:sp>
      <p:sp>
        <p:nvSpPr>
          <p:cNvPr id="32" name="Rounded Rectangle 31"/>
          <p:cNvSpPr/>
          <p:nvPr/>
        </p:nvSpPr>
        <p:spPr>
          <a:xfrm>
            <a:off x="10207447" y="5993892"/>
            <a:ext cx="1167688" cy="402336"/>
          </a:xfrm>
          <a:prstGeom prst="roundRect">
            <a:avLst>
              <a:gd name="adj" fmla="val 6000"/>
            </a:avLst>
          </a:prstGeom>
          <a:solidFill>
            <a:srgbClr val="FFFFFF"/>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62311" y="5993892"/>
            <a:ext cx="1057960" cy="402336"/>
          </a:xfrm>
          <a:prstGeom prst="rect">
            <a:avLst/>
          </a:prstGeom>
          <a:noFill/>
        </p:spPr>
        <p:txBody>
          <a:bodyPr wrap="square" lIns="0" rIns="0" tIns="0" bIns="0" anchor="ctr">
            <a:spAutoFit/>
          </a:bodyPr>
          <a:lstStyle/>
          <a:p>
            <a:pPr algn="ctr">
              <a:lnSpc>
                <a:spcPct val="115000"/>
              </a:lnSpc>
            </a:pPr>
            <a:r>
              <a:rPr sz="1000" b="1" i="0">
                <a:solidFill>
                  <a:srgbClr val="B45309"/>
                </a:solidFill>
                <a:latin typeface="Aptos"/>
              </a:rPr>
              <a:t>None — this is enough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7315200" cy="182880"/>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SESSION 1 · REVIEW BLOCK</a:t>
            </a:r>
          </a:p>
        </p:txBody>
      </p:sp>
      <p:sp>
        <p:nvSpPr>
          <p:cNvPr id="3" name="TextBox 2"/>
          <p:cNvSpPr txBox="1"/>
          <p:nvPr/>
        </p:nvSpPr>
        <p:spPr>
          <a:xfrm>
            <a:off x="566928" y="621792"/>
            <a:ext cx="10058400" cy="411480"/>
          </a:xfrm>
          <a:prstGeom prst="rect">
            <a:avLst/>
          </a:prstGeom>
          <a:noFill/>
        </p:spPr>
        <p:txBody>
          <a:bodyPr wrap="square" lIns="0" rIns="0" tIns="0" bIns="0" anchor="t">
            <a:spAutoFit/>
          </a:bodyPr>
          <a:lstStyle/>
          <a:p>
            <a:pPr algn="l">
              <a:lnSpc>
                <a:spcPct val="115000"/>
              </a:lnSpc>
            </a:pPr>
            <a:r>
              <a:rPr sz="2400" b="1" i="0">
                <a:solidFill>
                  <a:srgbClr val="0F172A"/>
                </a:solidFill>
                <a:latin typeface="Aptos"/>
              </a:rPr>
              <a:t>Sign off the definitions</a:t>
            </a:r>
          </a:p>
        </p:txBody>
      </p:sp>
      <p:sp>
        <p:nvSpPr>
          <p:cNvPr id="4" name="Rectangle 3"/>
          <p:cNvSpPr/>
          <p:nvPr/>
        </p:nvSpPr>
        <p:spPr>
          <a:xfrm>
            <a:off x="566928" y="1133856"/>
            <a:ext cx="64008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16736"/>
            <a:ext cx="11064240" cy="457200"/>
          </a:xfrm>
          <a:prstGeom prst="rect">
            <a:avLst/>
          </a:prstGeom>
          <a:noFill/>
        </p:spPr>
        <p:txBody>
          <a:bodyPr wrap="square" lIns="0" rIns="0" tIns="0" bIns="0" anchor="t">
            <a:spAutoFit/>
          </a:bodyPr>
          <a:lstStyle/>
          <a:p>
            <a:pPr algn="l">
              <a:lnSpc>
                <a:spcPct val="115000"/>
              </a:lnSpc>
            </a:pPr>
            <a:r>
              <a:rPr sz="1200" b="0" i="0">
                <a:solidFill>
                  <a:srgbClr val="64748B"/>
                </a:solidFill>
                <a:latin typeface="Aptos"/>
              </a:rPr>
              <a:t>Nothing here is settled until you say it is. A veto today is far cheaper than a wrong number in front of a customer.</a:t>
            </a:r>
          </a:p>
        </p:txBody>
      </p:sp>
      <p:sp>
        <p:nvSpPr>
          <p:cNvPr id="6" name="TextBox 5"/>
          <p:cNvSpPr txBox="1"/>
          <p:nvPr/>
        </p:nvSpPr>
        <p:spPr>
          <a:xfrm>
            <a:off x="566928" y="2011680"/>
            <a:ext cx="5486400" cy="237744"/>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DEFINITIONS CONFIRMED</a:t>
            </a:r>
          </a:p>
        </p:txBody>
      </p:sp>
      <p:sp>
        <p:nvSpPr>
          <p:cNvPr id="7" name="Rounded Rectangle 6"/>
          <p:cNvSpPr/>
          <p:nvPr/>
        </p:nvSpPr>
        <p:spPr>
          <a:xfrm>
            <a:off x="566928" y="2359152"/>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322576"/>
            <a:ext cx="5120640"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Eligibility pass matches how CITC decides</a:t>
            </a:r>
          </a:p>
        </p:txBody>
      </p:sp>
      <p:sp>
        <p:nvSpPr>
          <p:cNvPr id="9" name="Rounded Rectangle 8"/>
          <p:cNvSpPr/>
          <p:nvPr/>
        </p:nvSpPr>
        <p:spPr>
          <a:xfrm>
            <a:off x="566928" y="2743200"/>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706624"/>
            <a:ext cx="5120640"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Total payment counts the right population</a:t>
            </a:r>
          </a:p>
        </p:txBody>
      </p:sp>
      <p:sp>
        <p:nvSpPr>
          <p:cNvPr id="11" name="Rounded Rectangle 10"/>
          <p:cNvSpPr/>
          <p:nvPr/>
        </p:nvSpPr>
        <p:spPr>
          <a:xfrm>
            <a:off x="566928" y="3127248"/>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3090672"/>
            <a:ext cx="5120640"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Pending → stuck threshold agreed (currently 3h)</a:t>
            </a:r>
          </a:p>
        </p:txBody>
      </p:sp>
      <p:sp>
        <p:nvSpPr>
          <p:cNvPr id="13" name="Rounded Rectangle 12"/>
          <p:cNvSpPr/>
          <p:nvPr/>
        </p:nvSpPr>
        <p:spPr>
          <a:xfrm>
            <a:off x="566928" y="3511296"/>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3474720"/>
            <a:ext cx="5120640"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Physical vs eSIM split is complete</a:t>
            </a:r>
          </a:p>
        </p:txBody>
      </p:sp>
      <p:sp>
        <p:nvSpPr>
          <p:cNvPr id="15" name="Rounded Rectangle 14"/>
          <p:cNvSpPr/>
          <p:nvPr/>
        </p:nvSpPr>
        <p:spPr>
          <a:xfrm>
            <a:off x="566928" y="3895344"/>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3858768"/>
            <a:ext cx="5120640"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Not-assigned excludes partners correctly</a:t>
            </a:r>
          </a:p>
        </p:txBody>
      </p:sp>
      <p:sp>
        <p:nvSpPr>
          <p:cNvPr id="17" name="Rounded Rectangle 16"/>
          <p:cNvSpPr/>
          <p:nvPr/>
        </p:nvSpPr>
        <p:spPr>
          <a:xfrm>
            <a:off x="566928" y="4279392"/>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4242816"/>
            <a:ext cx="5120640"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Partner list is complete (tygo, soob, …?)</a:t>
            </a:r>
          </a:p>
        </p:txBody>
      </p:sp>
      <p:sp>
        <p:nvSpPr>
          <p:cNvPr id="19" name="Rounded Rectangle 18"/>
          <p:cNvSpPr/>
          <p:nvPr/>
        </p:nvSpPr>
        <p:spPr>
          <a:xfrm>
            <a:off x="566928" y="4663440"/>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4626864"/>
            <a:ext cx="5120640"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Delivered state list is current</a:t>
            </a:r>
          </a:p>
        </p:txBody>
      </p:sp>
      <p:sp>
        <p:nvSpPr>
          <p:cNvPr id="21" name="TextBox 20"/>
          <p:cNvSpPr txBox="1"/>
          <p:nvPr/>
        </p:nvSpPr>
        <p:spPr>
          <a:xfrm>
            <a:off x="6309360" y="2011680"/>
            <a:ext cx="5303520" cy="237744"/>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AND</a:t>
            </a:r>
          </a:p>
        </p:txBody>
      </p:sp>
      <p:sp>
        <p:nvSpPr>
          <p:cNvPr id="22" name="Rounded Rectangle 21"/>
          <p:cNvSpPr/>
          <p:nvPr/>
        </p:nvSpPr>
        <p:spPr>
          <a:xfrm>
            <a:off x="6309360" y="2359152"/>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38544" y="2322576"/>
            <a:ext cx="4937759"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Activated agrees with BSS</a:t>
            </a:r>
          </a:p>
        </p:txBody>
      </p:sp>
      <p:sp>
        <p:nvSpPr>
          <p:cNvPr id="24" name="Rounded Rectangle 23"/>
          <p:cNvSpPr/>
          <p:nvPr/>
        </p:nvSpPr>
        <p:spPr>
          <a:xfrm>
            <a:off x="6309360" y="2743200"/>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38544" y="2706624"/>
            <a:ext cx="4937759"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10 / 45 min freshness thresholds accepted</a:t>
            </a:r>
          </a:p>
        </p:txBody>
      </p:sp>
      <p:sp>
        <p:nvSpPr>
          <p:cNvPr id="26" name="Rounded Rectangle 25"/>
          <p:cNvSpPr/>
          <p:nvPr/>
        </p:nvSpPr>
        <p:spPr>
          <a:xfrm>
            <a:off x="6309360" y="3127248"/>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38544" y="3090672"/>
            <a:ext cx="4937759"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Attribution source agreed (never plan_channels)</a:t>
            </a:r>
          </a:p>
        </p:txBody>
      </p:sp>
      <p:sp>
        <p:nvSpPr>
          <p:cNvPr id="28" name="Rounded Rectangle 27"/>
          <p:cNvSpPr/>
          <p:nvPr/>
        </p:nvSpPr>
        <p:spPr>
          <a:xfrm>
            <a:off x="6309360" y="3511296"/>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38544" y="3474720"/>
            <a:ext cx="4937759"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Coverage gaps understood and accepted</a:t>
            </a:r>
          </a:p>
        </p:txBody>
      </p:sp>
      <p:sp>
        <p:nvSpPr>
          <p:cNvPr id="30" name="Rounded Rectangle 29"/>
          <p:cNvSpPr/>
          <p:nvPr/>
        </p:nvSpPr>
        <p:spPr>
          <a:xfrm>
            <a:off x="6309360" y="3895344"/>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38544" y="3858768"/>
            <a:ext cx="4937759"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Someone owns each disputed definition</a:t>
            </a:r>
          </a:p>
        </p:txBody>
      </p:sp>
      <p:sp>
        <p:nvSpPr>
          <p:cNvPr id="32" name="Rounded Rectangle 31"/>
          <p:cNvSpPr/>
          <p:nvPr/>
        </p:nvSpPr>
        <p:spPr>
          <a:xfrm>
            <a:off x="566928" y="5029200"/>
            <a:ext cx="11064240" cy="868680"/>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 y="5193792"/>
            <a:ext cx="10607040" cy="219456"/>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HOMEWORK BEFORE SESSION 2</a:t>
            </a:r>
          </a:p>
        </p:txBody>
      </p:sp>
      <p:sp>
        <p:nvSpPr>
          <p:cNvPr id="34" name="TextBox 33"/>
          <p:cNvSpPr txBox="1"/>
          <p:nvPr/>
        </p:nvSpPr>
        <p:spPr>
          <a:xfrm>
            <a:off x="841248" y="5468112"/>
            <a:ext cx="10607040" cy="384048"/>
          </a:xfrm>
          <a:prstGeom prst="rect">
            <a:avLst/>
          </a:prstGeom>
          <a:noFill/>
        </p:spPr>
        <p:txBody>
          <a:bodyPr wrap="square" lIns="0" rIns="0" tIns="0" bIns="0" anchor="t">
            <a:spAutoFit/>
          </a:bodyPr>
          <a:lstStyle/>
          <a:p>
            <a:pPr algn="l">
              <a:lnSpc>
                <a:spcPct val="120000"/>
              </a:lnSpc>
            </a:pPr>
            <a:r>
              <a:rPr sz="1150" b="0" i="0">
                <a:solidFill>
                  <a:srgbClr val="334155"/>
                </a:solidFill>
                <a:latin typeface="Aptos"/>
              </a:rPr>
              <a:t>Take FIVE real cases you handled today. Find each one in the console. Log every place the console disagreed with what you knew, or could not answer the question at all.</a:t>
            </a:r>
          </a:p>
        </p:txBody>
      </p:sp>
      <p:sp>
        <p:nvSpPr>
          <p:cNvPr id="35" name="Rounded Rectangle 34"/>
          <p:cNvSpPr/>
          <p:nvPr/>
        </p:nvSpPr>
        <p:spPr>
          <a:xfrm>
            <a:off x="566928" y="6035040"/>
            <a:ext cx="11064240" cy="777240"/>
          </a:xfrm>
          <a:prstGeom prst="roundRect">
            <a:avLst>
              <a:gd name="adj" fmla="val 6000"/>
            </a:avLst>
          </a:prstGeom>
          <a:solidFill>
            <a:srgbClr val="FFFBEB"/>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6153912"/>
            <a:ext cx="5387644" cy="201168"/>
          </a:xfrm>
          <a:prstGeom prst="rect">
            <a:avLst/>
          </a:prstGeom>
          <a:noFill/>
        </p:spPr>
        <p:txBody>
          <a:bodyPr wrap="square" lIns="0" rIns="0" tIns="0" bIns="0" anchor="t">
            <a:spAutoFit/>
          </a:bodyPr>
          <a:lstStyle/>
          <a:p>
            <a:pPr algn="l">
              <a:lnSpc>
                <a:spcPct val="115000"/>
              </a:lnSpc>
            </a:pPr>
            <a:r>
              <a:rPr sz="900" b="1" i="0">
                <a:solidFill>
                  <a:srgbClr val="B45309"/>
                </a:solidFill>
                <a:latin typeface="Aptos"/>
              </a:rPr>
              <a:t>BEFORE WE MOVE ON</a:t>
            </a:r>
          </a:p>
        </p:txBody>
      </p:sp>
      <p:sp>
        <p:nvSpPr>
          <p:cNvPr id="37" name="TextBox 36"/>
          <p:cNvSpPr txBox="1"/>
          <p:nvPr/>
        </p:nvSpPr>
        <p:spPr>
          <a:xfrm>
            <a:off x="822960" y="6364224"/>
            <a:ext cx="5387644" cy="338328"/>
          </a:xfrm>
          <a:prstGeom prst="rect">
            <a:avLst/>
          </a:prstGeom>
          <a:noFill/>
        </p:spPr>
        <p:txBody>
          <a:bodyPr wrap="square" lIns="0" rIns="0" tIns="0" bIns="0" anchor="t">
            <a:spAutoFit/>
          </a:bodyPr>
          <a:lstStyle/>
          <a:p>
            <a:pPr algn="l">
              <a:lnSpc>
                <a:spcPct val="115000"/>
              </a:lnSpc>
            </a:pPr>
            <a:r>
              <a:rPr sz="1250" b="1" i="0">
                <a:solidFill>
                  <a:srgbClr val="0F172A"/>
                </a:solidFill>
                <a:latin typeface="Aptos"/>
              </a:rPr>
              <a:t>Do you trust the numbers enough to alert on them?</a:t>
            </a:r>
          </a:p>
        </p:txBody>
      </p:sp>
      <p:sp>
        <p:nvSpPr>
          <p:cNvPr id="38" name="Rounded Rectangle 37"/>
          <p:cNvSpPr/>
          <p:nvPr/>
        </p:nvSpPr>
        <p:spPr>
          <a:xfrm>
            <a:off x="6320332" y="6222492"/>
            <a:ext cx="2463393" cy="402336"/>
          </a:xfrm>
          <a:prstGeom prst="roundRect">
            <a:avLst>
              <a:gd name="adj" fmla="val 6000"/>
            </a:avLst>
          </a:prstGeom>
          <a:solidFill>
            <a:srgbClr val="FFFFFF"/>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75196" y="6222492"/>
            <a:ext cx="2353665" cy="402336"/>
          </a:xfrm>
          <a:prstGeom prst="rect">
            <a:avLst/>
          </a:prstGeom>
          <a:noFill/>
        </p:spPr>
        <p:txBody>
          <a:bodyPr wrap="square" lIns="0" rIns="0" tIns="0" bIns="0" anchor="ctr">
            <a:spAutoFit/>
          </a:bodyPr>
          <a:lstStyle/>
          <a:p>
            <a:pPr algn="ctr">
              <a:lnSpc>
                <a:spcPct val="115000"/>
              </a:lnSpc>
            </a:pPr>
            <a:r>
              <a:rPr sz="1000" b="1" i="0">
                <a:solidFill>
                  <a:srgbClr val="B45309"/>
                </a:solidFill>
                <a:latin typeface="Aptos"/>
              </a:rPr>
              <a:t>Yes — go to alerts</a:t>
            </a:r>
          </a:p>
        </p:txBody>
      </p:sp>
      <p:sp>
        <p:nvSpPr>
          <p:cNvPr id="40" name="Rounded Rectangle 39"/>
          <p:cNvSpPr/>
          <p:nvPr/>
        </p:nvSpPr>
        <p:spPr>
          <a:xfrm>
            <a:off x="8911742" y="6222492"/>
            <a:ext cx="2463393" cy="402336"/>
          </a:xfrm>
          <a:prstGeom prst="roundRect">
            <a:avLst>
              <a:gd name="adj" fmla="val 6000"/>
            </a:avLst>
          </a:prstGeom>
          <a:solidFill>
            <a:srgbClr val="FFFFFF"/>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66606" y="6222492"/>
            <a:ext cx="2353665" cy="402336"/>
          </a:xfrm>
          <a:prstGeom prst="rect">
            <a:avLst/>
          </a:prstGeom>
          <a:noFill/>
        </p:spPr>
        <p:txBody>
          <a:bodyPr wrap="square" lIns="0" rIns="0" tIns="0" bIns="0" anchor="ctr">
            <a:spAutoFit/>
          </a:bodyPr>
          <a:lstStyle/>
          <a:p>
            <a:pPr algn="ctr">
              <a:lnSpc>
                <a:spcPct val="115000"/>
              </a:lnSpc>
            </a:pPr>
            <a:r>
              <a:rPr sz="1000" b="1" i="0">
                <a:solidFill>
                  <a:srgbClr val="B45309"/>
                </a:solidFill>
                <a:latin typeface="Aptos"/>
              </a:rPr>
              <a:t>Not yet — fix first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566928" y="1371600"/>
            <a:ext cx="5486400" cy="320040"/>
          </a:xfrm>
          <a:prstGeom prst="rect">
            <a:avLst/>
          </a:prstGeom>
          <a:noFill/>
        </p:spPr>
        <p:txBody>
          <a:bodyPr wrap="square" lIns="0" rIns="0" tIns="0" bIns="0" anchor="t">
            <a:spAutoFit/>
          </a:bodyPr>
          <a:lstStyle/>
          <a:p>
            <a:pPr algn="l">
              <a:lnSpc>
                <a:spcPct val="115000"/>
              </a:lnSpc>
            </a:pPr>
            <a:r>
              <a:rPr sz="1200" b="1" i="0">
                <a:solidFill>
                  <a:srgbClr val="008A47"/>
                </a:solidFill>
                <a:latin typeface="Aptos"/>
              </a:rPr>
              <a:t>SESSION 2 · DAY 2</a:t>
            </a:r>
          </a:p>
        </p:txBody>
      </p:sp>
      <p:sp>
        <p:nvSpPr>
          <p:cNvPr id="3" name="TextBox 2"/>
          <p:cNvSpPr txBox="1"/>
          <p:nvPr/>
        </p:nvSpPr>
        <p:spPr>
          <a:xfrm>
            <a:off x="566928" y="1737360"/>
            <a:ext cx="10515600" cy="731520"/>
          </a:xfrm>
          <a:prstGeom prst="rect">
            <a:avLst/>
          </a:prstGeom>
          <a:noFill/>
        </p:spPr>
        <p:txBody>
          <a:bodyPr wrap="square" lIns="0" rIns="0" tIns="0" bIns="0" anchor="t">
            <a:spAutoFit/>
          </a:bodyPr>
          <a:lstStyle/>
          <a:p>
            <a:pPr algn="l">
              <a:lnSpc>
                <a:spcPct val="115000"/>
              </a:lnSpc>
            </a:pPr>
            <a:r>
              <a:rPr sz="3400" b="1" i="0">
                <a:solidFill>
                  <a:srgbClr val="FFFFFF"/>
                </a:solidFill>
                <a:latin typeface="Aptos"/>
              </a:rPr>
              <a:t>Are the alerts right?</a:t>
            </a:r>
          </a:p>
        </p:txBody>
      </p:sp>
      <p:sp>
        <p:nvSpPr>
          <p:cNvPr id="4" name="Rectangle 3"/>
          <p:cNvSpPr/>
          <p:nvPr/>
        </p:nvSpPr>
        <p:spPr>
          <a:xfrm>
            <a:off x="566928" y="2697480"/>
            <a:ext cx="100584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926080"/>
            <a:ext cx="9601200" cy="411480"/>
          </a:xfrm>
          <a:prstGeom prst="rect">
            <a:avLst/>
          </a:prstGeom>
          <a:noFill/>
        </p:spPr>
        <p:txBody>
          <a:bodyPr wrap="square" lIns="0" rIns="0" tIns="0" bIns="0" anchor="t">
            <a:spAutoFit/>
          </a:bodyPr>
          <a:lstStyle/>
          <a:p>
            <a:pPr algn="l">
              <a:lnSpc>
                <a:spcPct val="115000"/>
              </a:lnSpc>
            </a:pPr>
            <a:r>
              <a:rPr sz="1400" b="0" i="0">
                <a:solidFill>
                  <a:srgbClr val="E2E8F0"/>
                </a:solidFill>
                <a:latin typeface="Aptos"/>
              </a:rPr>
              <a:t>All 43 rules, every threshold, and the incident that got through anyway</a:t>
            </a:r>
          </a:p>
        </p:txBody>
      </p:sp>
      <p:sp>
        <p:nvSpPr>
          <p:cNvPr id="6" name="Rounded Rectangle 5"/>
          <p:cNvSpPr/>
          <p:nvPr/>
        </p:nvSpPr>
        <p:spPr>
          <a:xfrm>
            <a:off x="566928" y="3456432"/>
            <a:ext cx="10515600" cy="438912"/>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3584448"/>
            <a:ext cx="822960" cy="219456"/>
          </a:xfrm>
          <a:prstGeom prst="rect">
            <a:avLst/>
          </a:prstGeom>
          <a:noFill/>
        </p:spPr>
        <p:txBody>
          <a:bodyPr wrap="square" lIns="0" rIns="0" tIns="0" bIns="0" anchor="t">
            <a:spAutoFit/>
          </a:bodyPr>
          <a:lstStyle/>
          <a:p>
            <a:pPr algn="l">
              <a:lnSpc>
                <a:spcPct val="115000"/>
              </a:lnSpc>
            </a:pPr>
            <a:r>
              <a:rPr sz="1050" b="1" i="0">
                <a:solidFill>
                  <a:srgbClr val="008A47"/>
                </a:solidFill>
                <a:latin typeface="Aptos"/>
              </a:rPr>
              <a:t>2.1</a:t>
            </a:r>
          </a:p>
        </p:txBody>
      </p:sp>
      <p:sp>
        <p:nvSpPr>
          <p:cNvPr id="8" name="TextBox 7"/>
          <p:cNvSpPr txBox="1"/>
          <p:nvPr/>
        </p:nvSpPr>
        <p:spPr>
          <a:xfrm>
            <a:off x="1691640" y="3584448"/>
            <a:ext cx="7680960" cy="219456"/>
          </a:xfrm>
          <a:prstGeom prst="rect">
            <a:avLst/>
          </a:prstGeom>
          <a:noFill/>
        </p:spPr>
        <p:txBody>
          <a:bodyPr wrap="square" lIns="0" rIns="0" tIns="0" bIns="0" anchor="t">
            <a:spAutoFit/>
          </a:bodyPr>
          <a:lstStyle/>
          <a:p>
            <a:pPr algn="l">
              <a:lnSpc>
                <a:spcPct val="115000"/>
              </a:lnSpc>
            </a:pPr>
            <a:r>
              <a:rPr sz="1150" b="0" i="0">
                <a:solidFill>
                  <a:srgbClr val="E2E8F0"/>
                </a:solidFill>
                <a:latin typeface="Aptos"/>
              </a:rPr>
              <a:t>How a rule actually evaluates — window, sample, dimension</a:t>
            </a:r>
          </a:p>
        </p:txBody>
      </p:sp>
      <p:sp>
        <p:nvSpPr>
          <p:cNvPr id="9" name="TextBox 8"/>
          <p:cNvSpPr txBox="1"/>
          <p:nvPr/>
        </p:nvSpPr>
        <p:spPr>
          <a:xfrm>
            <a:off x="9601200" y="3584448"/>
            <a:ext cx="1280160" cy="219456"/>
          </a:xfrm>
          <a:prstGeom prst="rect">
            <a:avLst/>
          </a:prstGeom>
          <a:noFill/>
        </p:spPr>
        <p:txBody>
          <a:bodyPr wrap="square" lIns="0" rIns="0" tIns="0" bIns="0" anchor="t">
            <a:spAutoFit/>
          </a:bodyPr>
          <a:lstStyle/>
          <a:p>
            <a:pPr algn="r">
              <a:lnSpc>
                <a:spcPct val="115000"/>
              </a:lnSpc>
            </a:pPr>
            <a:r>
              <a:rPr sz="1000" b="0" i="0">
                <a:solidFill>
                  <a:srgbClr val="94A3B8"/>
                </a:solidFill>
                <a:latin typeface="Aptos"/>
              </a:rPr>
              <a:t/>
            </a:r>
          </a:p>
        </p:txBody>
      </p:sp>
      <p:sp>
        <p:nvSpPr>
          <p:cNvPr id="10" name="Rounded Rectangle 9"/>
          <p:cNvSpPr/>
          <p:nvPr/>
        </p:nvSpPr>
        <p:spPr>
          <a:xfrm>
            <a:off x="566928" y="3968496"/>
            <a:ext cx="10515600" cy="438912"/>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4096511"/>
            <a:ext cx="822960" cy="219456"/>
          </a:xfrm>
          <a:prstGeom prst="rect">
            <a:avLst/>
          </a:prstGeom>
          <a:noFill/>
        </p:spPr>
        <p:txBody>
          <a:bodyPr wrap="square" lIns="0" rIns="0" tIns="0" bIns="0" anchor="t">
            <a:spAutoFit/>
          </a:bodyPr>
          <a:lstStyle/>
          <a:p>
            <a:pPr algn="l">
              <a:lnSpc>
                <a:spcPct val="115000"/>
              </a:lnSpc>
            </a:pPr>
            <a:r>
              <a:rPr sz="1050" b="1" i="0">
                <a:solidFill>
                  <a:srgbClr val="008A47"/>
                </a:solidFill>
                <a:latin typeface="Aptos"/>
              </a:rPr>
              <a:t>2.2</a:t>
            </a:r>
          </a:p>
        </p:txBody>
      </p:sp>
      <p:sp>
        <p:nvSpPr>
          <p:cNvPr id="12" name="TextBox 11"/>
          <p:cNvSpPr txBox="1"/>
          <p:nvPr/>
        </p:nvSpPr>
        <p:spPr>
          <a:xfrm>
            <a:off x="1691640" y="4096511"/>
            <a:ext cx="7680960" cy="219456"/>
          </a:xfrm>
          <a:prstGeom prst="rect">
            <a:avLst/>
          </a:prstGeom>
          <a:noFill/>
        </p:spPr>
        <p:txBody>
          <a:bodyPr wrap="square" lIns="0" rIns="0" tIns="0" bIns="0" anchor="t">
            <a:spAutoFit/>
          </a:bodyPr>
          <a:lstStyle/>
          <a:p>
            <a:pPr algn="l">
              <a:lnSpc>
                <a:spcPct val="115000"/>
              </a:lnSpc>
            </a:pPr>
            <a:r>
              <a:rPr sz="1150" b="0" i="0">
                <a:solidFill>
                  <a:srgbClr val="E2E8F0"/>
                </a:solidFill>
                <a:latin typeface="Aptos"/>
              </a:rPr>
              <a:t>The 43 rules by severity — what pages you at 3am</a:t>
            </a:r>
          </a:p>
        </p:txBody>
      </p:sp>
      <p:sp>
        <p:nvSpPr>
          <p:cNvPr id="13" name="TextBox 12"/>
          <p:cNvSpPr txBox="1"/>
          <p:nvPr/>
        </p:nvSpPr>
        <p:spPr>
          <a:xfrm>
            <a:off x="9601200" y="4096511"/>
            <a:ext cx="1280160" cy="219456"/>
          </a:xfrm>
          <a:prstGeom prst="rect">
            <a:avLst/>
          </a:prstGeom>
          <a:noFill/>
        </p:spPr>
        <p:txBody>
          <a:bodyPr wrap="square" lIns="0" rIns="0" tIns="0" bIns="0" anchor="t">
            <a:spAutoFit/>
          </a:bodyPr>
          <a:lstStyle/>
          <a:p>
            <a:pPr algn="r">
              <a:lnSpc>
                <a:spcPct val="115000"/>
              </a:lnSpc>
            </a:pPr>
            <a:r>
              <a:rPr sz="1000" b="0" i="0">
                <a:solidFill>
                  <a:srgbClr val="94A3B8"/>
                </a:solidFill>
                <a:latin typeface="Aptos"/>
              </a:rPr>
              <a:t/>
            </a:r>
          </a:p>
        </p:txBody>
      </p:sp>
      <p:sp>
        <p:nvSpPr>
          <p:cNvPr id="14" name="Rounded Rectangle 13"/>
          <p:cNvSpPr/>
          <p:nvPr/>
        </p:nvSpPr>
        <p:spPr>
          <a:xfrm>
            <a:off x="566928" y="4480560"/>
            <a:ext cx="10515600" cy="438912"/>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4608576"/>
            <a:ext cx="822960" cy="219456"/>
          </a:xfrm>
          <a:prstGeom prst="rect">
            <a:avLst/>
          </a:prstGeom>
          <a:noFill/>
        </p:spPr>
        <p:txBody>
          <a:bodyPr wrap="square" lIns="0" rIns="0" tIns="0" bIns="0" anchor="t">
            <a:spAutoFit/>
          </a:bodyPr>
          <a:lstStyle/>
          <a:p>
            <a:pPr algn="l">
              <a:lnSpc>
                <a:spcPct val="115000"/>
              </a:lnSpc>
            </a:pPr>
            <a:r>
              <a:rPr sz="1050" b="1" i="0">
                <a:solidFill>
                  <a:srgbClr val="008A47"/>
                </a:solidFill>
                <a:latin typeface="Aptos"/>
              </a:rPr>
              <a:t>2.3</a:t>
            </a:r>
          </a:p>
        </p:txBody>
      </p:sp>
      <p:sp>
        <p:nvSpPr>
          <p:cNvPr id="16" name="TextBox 15"/>
          <p:cNvSpPr txBox="1"/>
          <p:nvPr/>
        </p:nvSpPr>
        <p:spPr>
          <a:xfrm>
            <a:off x="1691640" y="4608576"/>
            <a:ext cx="7680960" cy="219456"/>
          </a:xfrm>
          <a:prstGeom prst="rect">
            <a:avLst/>
          </a:prstGeom>
          <a:noFill/>
        </p:spPr>
        <p:txBody>
          <a:bodyPr wrap="square" lIns="0" rIns="0" tIns="0" bIns="0" anchor="t">
            <a:spAutoFit/>
          </a:bodyPr>
          <a:lstStyle/>
          <a:p>
            <a:pPr algn="l">
              <a:lnSpc>
                <a:spcPct val="115000"/>
              </a:lnSpc>
            </a:pPr>
            <a:r>
              <a:rPr sz="1150" b="0" i="0">
                <a:solidFill>
                  <a:srgbClr val="E2E8F0"/>
                </a:solidFill>
                <a:latin typeface="Aptos"/>
              </a:rPr>
              <a:t>Baselines vs absolutes — the 55% problem</a:t>
            </a:r>
          </a:p>
        </p:txBody>
      </p:sp>
      <p:sp>
        <p:nvSpPr>
          <p:cNvPr id="17" name="TextBox 16"/>
          <p:cNvSpPr txBox="1"/>
          <p:nvPr/>
        </p:nvSpPr>
        <p:spPr>
          <a:xfrm>
            <a:off x="9601200" y="4608576"/>
            <a:ext cx="1280160" cy="219456"/>
          </a:xfrm>
          <a:prstGeom prst="rect">
            <a:avLst/>
          </a:prstGeom>
          <a:noFill/>
        </p:spPr>
        <p:txBody>
          <a:bodyPr wrap="square" lIns="0" rIns="0" tIns="0" bIns="0" anchor="t">
            <a:spAutoFit/>
          </a:bodyPr>
          <a:lstStyle/>
          <a:p>
            <a:pPr algn="r">
              <a:lnSpc>
                <a:spcPct val="115000"/>
              </a:lnSpc>
            </a:pPr>
            <a:r>
              <a:rPr sz="1000" b="0" i="0">
                <a:solidFill>
                  <a:srgbClr val="94A3B8"/>
                </a:solidFill>
                <a:latin typeface="Aptos"/>
              </a:rPr>
              <a:t/>
            </a:r>
          </a:p>
        </p:txBody>
      </p:sp>
      <p:sp>
        <p:nvSpPr>
          <p:cNvPr id="18" name="Rounded Rectangle 17"/>
          <p:cNvSpPr/>
          <p:nvPr/>
        </p:nvSpPr>
        <p:spPr>
          <a:xfrm>
            <a:off x="566928" y="4992624"/>
            <a:ext cx="10515600" cy="438912"/>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5120640"/>
            <a:ext cx="822960" cy="219456"/>
          </a:xfrm>
          <a:prstGeom prst="rect">
            <a:avLst/>
          </a:prstGeom>
          <a:noFill/>
        </p:spPr>
        <p:txBody>
          <a:bodyPr wrap="square" lIns="0" rIns="0" tIns="0" bIns="0" anchor="t">
            <a:spAutoFit/>
          </a:bodyPr>
          <a:lstStyle/>
          <a:p>
            <a:pPr algn="l">
              <a:lnSpc>
                <a:spcPct val="115000"/>
              </a:lnSpc>
            </a:pPr>
            <a:r>
              <a:rPr sz="1050" b="1" i="0">
                <a:solidFill>
                  <a:srgbClr val="008A47"/>
                </a:solidFill>
                <a:latin typeface="Aptos"/>
              </a:rPr>
              <a:t>2.4</a:t>
            </a:r>
          </a:p>
        </p:txBody>
      </p:sp>
      <p:sp>
        <p:nvSpPr>
          <p:cNvPr id="20" name="TextBox 19"/>
          <p:cNvSpPr txBox="1"/>
          <p:nvPr/>
        </p:nvSpPr>
        <p:spPr>
          <a:xfrm>
            <a:off x="1691640" y="5120640"/>
            <a:ext cx="7680960" cy="219456"/>
          </a:xfrm>
          <a:prstGeom prst="rect">
            <a:avLst/>
          </a:prstGeom>
          <a:noFill/>
        </p:spPr>
        <p:txBody>
          <a:bodyPr wrap="square" lIns="0" rIns="0" tIns="0" bIns="0" anchor="t">
            <a:spAutoFit/>
          </a:bodyPr>
          <a:lstStyle/>
          <a:p>
            <a:pPr algn="l">
              <a:lnSpc>
                <a:spcPct val="115000"/>
              </a:lnSpc>
            </a:pPr>
            <a:r>
              <a:rPr sz="1150" b="0" i="0">
                <a:solidFill>
                  <a:srgbClr val="E2E8F0"/>
                </a:solidFill>
                <a:latin typeface="Aptos"/>
              </a:rPr>
              <a:t>INC0016809 — how a P1 ran for an hour with a green console</a:t>
            </a:r>
          </a:p>
        </p:txBody>
      </p:sp>
      <p:sp>
        <p:nvSpPr>
          <p:cNvPr id="21" name="TextBox 20"/>
          <p:cNvSpPr txBox="1"/>
          <p:nvPr/>
        </p:nvSpPr>
        <p:spPr>
          <a:xfrm>
            <a:off x="9601200" y="5120640"/>
            <a:ext cx="1280160" cy="219456"/>
          </a:xfrm>
          <a:prstGeom prst="rect">
            <a:avLst/>
          </a:prstGeom>
          <a:noFill/>
        </p:spPr>
        <p:txBody>
          <a:bodyPr wrap="square" lIns="0" rIns="0" tIns="0" bIns="0" anchor="t">
            <a:spAutoFit/>
          </a:bodyPr>
          <a:lstStyle/>
          <a:p>
            <a:pPr algn="r">
              <a:lnSpc>
                <a:spcPct val="115000"/>
              </a:lnSpc>
            </a:pPr>
            <a:r>
              <a:rPr sz="1000" b="0" i="0">
                <a:solidFill>
                  <a:srgbClr val="94A3B8"/>
                </a:solidFill>
                <a:latin typeface="Aptos"/>
              </a:rPr>
              <a:t/>
            </a:r>
          </a:p>
        </p:txBody>
      </p:sp>
      <p:sp>
        <p:nvSpPr>
          <p:cNvPr id="22" name="Rounded Rectangle 21"/>
          <p:cNvSpPr/>
          <p:nvPr/>
        </p:nvSpPr>
        <p:spPr>
          <a:xfrm>
            <a:off x="566928" y="5504688"/>
            <a:ext cx="10515600" cy="438912"/>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5632703"/>
            <a:ext cx="822960" cy="219456"/>
          </a:xfrm>
          <a:prstGeom prst="rect">
            <a:avLst/>
          </a:prstGeom>
          <a:noFill/>
        </p:spPr>
        <p:txBody>
          <a:bodyPr wrap="square" lIns="0" rIns="0" tIns="0" bIns="0" anchor="t">
            <a:spAutoFit/>
          </a:bodyPr>
          <a:lstStyle/>
          <a:p>
            <a:pPr algn="l">
              <a:lnSpc>
                <a:spcPct val="115000"/>
              </a:lnSpc>
            </a:pPr>
            <a:r>
              <a:rPr sz="1050" b="1" i="0">
                <a:solidFill>
                  <a:srgbClr val="008A47"/>
                </a:solidFill>
                <a:latin typeface="Aptos"/>
              </a:rPr>
              <a:t>2.5</a:t>
            </a:r>
          </a:p>
        </p:txBody>
      </p:sp>
      <p:sp>
        <p:nvSpPr>
          <p:cNvPr id="24" name="TextBox 23"/>
          <p:cNvSpPr txBox="1"/>
          <p:nvPr/>
        </p:nvSpPr>
        <p:spPr>
          <a:xfrm>
            <a:off x="1691640" y="5632703"/>
            <a:ext cx="7680960" cy="219456"/>
          </a:xfrm>
          <a:prstGeom prst="rect">
            <a:avLst/>
          </a:prstGeom>
          <a:noFill/>
        </p:spPr>
        <p:txBody>
          <a:bodyPr wrap="square" lIns="0" rIns="0" tIns="0" bIns="0" anchor="t">
            <a:spAutoFit/>
          </a:bodyPr>
          <a:lstStyle/>
          <a:p>
            <a:pPr algn="l">
              <a:lnSpc>
                <a:spcPct val="115000"/>
              </a:lnSpc>
            </a:pPr>
            <a:r>
              <a:rPr sz="1150" b="0" i="0">
                <a:solidFill>
                  <a:srgbClr val="E2E8F0"/>
                </a:solidFill>
                <a:latin typeface="Aptos"/>
              </a:rPr>
              <a:t>Correlation, escalation, SLA &amp; error budget</a:t>
            </a:r>
          </a:p>
        </p:txBody>
      </p:sp>
      <p:sp>
        <p:nvSpPr>
          <p:cNvPr id="25" name="TextBox 24"/>
          <p:cNvSpPr txBox="1"/>
          <p:nvPr/>
        </p:nvSpPr>
        <p:spPr>
          <a:xfrm>
            <a:off x="9601200" y="5632703"/>
            <a:ext cx="1280160" cy="219456"/>
          </a:xfrm>
          <a:prstGeom prst="rect">
            <a:avLst/>
          </a:prstGeom>
          <a:noFill/>
        </p:spPr>
        <p:txBody>
          <a:bodyPr wrap="square" lIns="0" rIns="0" tIns="0" bIns="0" anchor="t">
            <a:spAutoFit/>
          </a:bodyPr>
          <a:lstStyle/>
          <a:p>
            <a:pPr algn="r">
              <a:lnSpc>
                <a:spcPct val="115000"/>
              </a:lnSpc>
            </a:pPr>
            <a:r>
              <a:rPr sz="1000" b="0" i="0">
                <a:solidFill>
                  <a:srgbClr val="94A3B8"/>
                </a:solidFill>
                <a:latin typeface="Aptos"/>
              </a:rPr>
              <a:t/>
            </a:r>
          </a:p>
        </p:txBody>
      </p:sp>
      <p:sp>
        <p:nvSpPr>
          <p:cNvPr id="26" name="Rounded Rectangle 25"/>
          <p:cNvSpPr/>
          <p:nvPr/>
        </p:nvSpPr>
        <p:spPr>
          <a:xfrm>
            <a:off x="566928" y="6016752"/>
            <a:ext cx="10515600" cy="438912"/>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6144768"/>
            <a:ext cx="822960" cy="219456"/>
          </a:xfrm>
          <a:prstGeom prst="rect">
            <a:avLst/>
          </a:prstGeom>
          <a:noFill/>
        </p:spPr>
        <p:txBody>
          <a:bodyPr wrap="square" lIns="0" rIns="0" tIns="0" bIns="0" anchor="t">
            <a:spAutoFit/>
          </a:bodyPr>
          <a:lstStyle/>
          <a:p>
            <a:pPr algn="l">
              <a:lnSpc>
                <a:spcPct val="115000"/>
              </a:lnSpc>
            </a:pPr>
            <a:r>
              <a:rPr sz="1050" b="1" i="0">
                <a:solidFill>
                  <a:srgbClr val="008A47"/>
                </a:solidFill>
                <a:latin typeface="Aptos"/>
              </a:rPr>
              <a:t/>
            </a:r>
          </a:p>
        </p:txBody>
      </p:sp>
      <p:sp>
        <p:nvSpPr>
          <p:cNvPr id="28" name="TextBox 27"/>
          <p:cNvSpPr txBox="1"/>
          <p:nvPr/>
        </p:nvSpPr>
        <p:spPr>
          <a:xfrm>
            <a:off x="1691640" y="6144768"/>
            <a:ext cx="7680960" cy="219456"/>
          </a:xfrm>
          <a:prstGeom prst="rect">
            <a:avLst/>
          </a:prstGeom>
          <a:noFill/>
        </p:spPr>
        <p:txBody>
          <a:bodyPr wrap="square" lIns="0" rIns="0" tIns="0" bIns="0" anchor="t">
            <a:spAutoFit/>
          </a:bodyPr>
          <a:lstStyle/>
          <a:p>
            <a:pPr algn="l">
              <a:lnSpc>
                <a:spcPct val="115000"/>
              </a:lnSpc>
            </a:pPr>
            <a:r>
              <a:rPr sz="1150" b="0" i="0">
                <a:solidFill>
                  <a:srgbClr val="E2E8F0"/>
                </a:solidFill>
                <a:latin typeface="Aptos"/>
              </a:rPr>
              <a:t>REVIEW BLOCK — sign off every threshold</a:t>
            </a:r>
          </a:p>
        </p:txBody>
      </p:sp>
      <p:sp>
        <p:nvSpPr>
          <p:cNvPr id="29" name="TextBox 28"/>
          <p:cNvSpPr txBox="1"/>
          <p:nvPr/>
        </p:nvSpPr>
        <p:spPr>
          <a:xfrm>
            <a:off x="9601200" y="6144768"/>
            <a:ext cx="1280160" cy="219456"/>
          </a:xfrm>
          <a:prstGeom prst="rect">
            <a:avLst/>
          </a:prstGeom>
          <a:noFill/>
        </p:spPr>
        <p:txBody>
          <a:bodyPr wrap="square" lIns="0" rIns="0" tIns="0" bIns="0" anchor="t">
            <a:spAutoFit/>
          </a:bodyPr>
          <a:lstStyle/>
          <a:p>
            <a:pPr algn="r">
              <a:lnSpc>
                <a:spcPct val="115000"/>
              </a:lnSpc>
            </a:pPr>
            <a:r>
              <a:rPr sz="1000" b="0" i="0">
                <a:solidFill>
                  <a:srgbClr val="94A3B8"/>
                </a:solidFill>
                <a:latin typeface="Aptos"/>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7315200" cy="182880"/>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2.1 · MECHANICS</a:t>
            </a:r>
          </a:p>
        </p:txBody>
      </p:sp>
      <p:sp>
        <p:nvSpPr>
          <p:cNvPr id="3" name="TextBox 2"/>
          <p:cNvSpPr txBox="1"/>
          <p:nvPr/>
        </p:nvSpPr>
        <p:spPr>
          <a:xfrm>
            <a:off x="566928" y="621792"/>
            <a:ext cx="10058400" cy="411480"/>
          </a:xfrm>
          <a:prstGeom prst="rect">
            <a:avLst/>
          </a:prstGeom>
          <a:noFill/>
        </p:spPr>
        <p:txBody>
          <a:bodyPr wrap="square" lIns="0" rIns="0" tIns="0" bIns="0" anchor="t">
            <a:spAutoFit/>
          </a:bodyPr>
          <a:lstStyle/>
          <a:p>
            <a:pPr algn="l">
              <a:lnSpc>
                <a:spcPct val="115000"/>
              </a:lnSpc>
            </a:pPr>
            <a:r>
              <a:rPr sz="2400" b="1" i="0">
                <a:solidFill>
                  <a:srgbClr val="0F172A"/>
                </a:solidFill>
                <a:latin typeface="Aptos"/>
              </a:rPr>
              <a:t>How a rule actually evaluates</a:t>
            </a:r>
          </a:p>
        </p:txBody>
      </p:sp>
      <p:sp>
        <p:nvSpPr>
          <p:cNvPr id="4" name="Rectangle 3"/>
          <p:cNvSpPr/>
          <p:nvPr/>
        </p:nvSpPr>
        <p:spPr>
          <a:xfrm>
            <a:off x="566928" y="1133856"/>
            <a:ext cx="64008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16736"/>
            <a:ext cx="11064240" cy="457200"/>
          </a:xfrm>
          <a:prstGeom prst="rect">
            <a:avLst/>
          </a:prstGeom>
          <a:noFill/>
        </p:spPr>
        <p:txBody>
          <a:bodyPr wrap="square" lIns="0" rIns="0" tIns="0" bIns="0" anchor="t">
            <a:spAutoFit/>
          </a:bodyPr>
          <a:lstStyle/>
          <a:p>
            <a:pPr algn="l">
              <a:lnSpc>
                <a:spcPct val="115000"/>
              </a:lnSpc>
            </a:pPr>
            <a:r>
              <a:rPr sz="1200" b="0" i="0">
                <a:solidFill>
                  <a:srgbClr val="64748B"/>
                </a:solidFill>
                <a:latin typeface="Aptos"/>
              </a:rPr>
              <a:t>Four things must all be true. Most 'why didn't it fire?' answers are one of these four.</a:t>
            </a:r>
          </a:p>
        </p:txBody>
      </p:sp>
      <p:sp>
        <p:nvSpPr>
          <p:cNvPr id="6" name="Rounded Rectangle 5"/>
          <p:cNvSpPr/>
          <p:nvPr/>
        </p:nvSpPr>
        <p:spPr>
          <a:xfrm>
            <a:off x="566928" y="2103120"/>
            <a:ext cx="2514600" cy="1234440"/>
          </a:xfrm>
          <a:prstGeom prst="roundRect">
            <a:avLst>
              <a:gd name="adj" fmla="val 6000"/>
            </a:avLst>
          </a:prstGeom>
          <a:solidFill>
            <a:srgbClr val="FFFFFF"/>
          </a:solidFill>
          <a:ln w="952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286000"/>
            <a:ext cx="2514600" cy="237744"/>
          </a:xfrm>
          <a:prstGeom prst="rect">
            <a:avLst/>
          </a:prstGeom>
          <a:noFill/>
        </p:spPr>
        <p:txBody>
          <a:bodyPr wrap="square" lIns="0" rIns="0" tIns="0" bIns="0" anchor="t">
            <a:spAutoFit/>
          </a:bodyPr>
          <a:lstStyle/>
          <a:p>
            <a:pPr algn="ctr">
              <a:lnSpc>
                <a:spcPct val="115000"/>
              </a:lnSpc>
            </a:pPr>
            <a:r>
              <a:rPr sz="1150" b="1" i="0">
                <a:solidFill>
                  <a:srgbClr val="1D4ED8"/>
                </a:solidFill>
                <a:latin typeface="Aptos"/>
              </a:rPr>
              <a:t>METRIC</a:t>
            </a:r>
          </a:p>
        </p:txBody>
      </p:sp>
      <p:sp>
        <p:nvSpPr>
          <p:cNvPr id="8" name="TextBox 7"/>
          <p:cNvSpPr txBox="1"/>
          <p:nvPr/>
        </p:nvSpPr>
        <p:spPr>
          <a:xfrm>
            <a:off x="566928" y="2606040"/>
            <a:ext cx="2514600" cy="548640"/>
          </a:xfrm>
          <a:prstGeom prst="rect">
            <a:avLst/>
          </a:prstGeom>
          <a:noFill/>
        </p:spPr>
        <p:txBody>
          <a:bodyPr wrap="square" lIns="0" rIns="0" tIns="0" bIns="0" anchor="t">
            <a:spAutoFit/>
          </a:bodyPr>
          <a:lstStyle/>
          <a:p>
            <a:pPr algn="ctr">
              <a:lnSpc>
                <a:spcPct val="120000"/>
              </a:lnSpc>
            </a:pPr>
            <a:r>
              <a:rPr sz="1000" b="0" i="0">
                <a:solidFill>
                  <a:srgbClr val="334155"/>
                </a:solidFill>
                <a:latin typeface="Aptos"/>
              </a:rPr>
              <a:t>a value + a sample size,</a:t>
            </a:r>
          </a:p>
          <a:p>
            <a:pPr algn="ctr">
              <a:lnSpc>
                <a:spcPct val="120000"/>
              </a:lnSpc>
            </a:pPr>
            <a:r>
              <a:rPr sz="1000" b="0" i="0">
                <a:solidFill>
                  <a:srgbClr val="334155"/>
                </a:solidFill>
                <a:latin typeface="Aptos"/>
              </a:rPr>
              <a:t>computed per window</a:t>
            </a:r>
          </a:p>
        </p:txBody>
      </p:sp>
      <p:cxnSp>
        <p:nvCxnSpPr>
          <p:cNvPr id="9" name="Connector 8"/>
          <p:cNvCxnSpPr/>
          <p:nvPr/>
        </p:nvCxnSpPr>
        <p:spPr>
          <a:xfrm>
            <a:off x="3127248" y="2715768"/>
            <a:ext cx="228600" cy="0"/>
          </a:xfrm>
          <a:prstGeom prst="line">
            <a:avLst/>
          </a:prstGeom>
          <a:ln w="2032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401568" y="2103120"/>
            <a:ext cx="2514600" cy="1234440"/>
          </a:xfrm>
          <a:prstGeom prst="roundRect">
            <a:avLst>
              <a:gd name="adj" fmla="val 6000"/>
            </a:avLst>
          </a:prstGeom>
          <a:solidFill>
            <a:srgbClr val="FFFFFF"/>
          </a:solidFill>
          <a:ln w="9525">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01568" y="2286000"/>
            <a:ext cx="2514600" cy="237744"/>
          </a:xfrm>
          <a:prstGeom prst="rect">
            <a:avLst/>
          </a:prstGeom>
          <a:noFill/>
        </p:spPr>
        <p:txBody>
          <a:bodyPr wrap="square" lIns="0" rIns="0" tIns="0" bIns="0" anchor="t">
            <a:spAutoFit/>
          </a:bodyPr>
          <a:lstStyle/>
          <a:p>
            <a:pPr algn="ctr">
              <a:lnSpc>
                <a:spcPct val="115000"/>
              </a:lnSpc>
            </a:pPr>
            <a:r>
              <a:rPr sz="1150" b="1" i="0">
                <a:solidFill>
                  <a:srgbClr val="6D28D9"/>
                </a:solidFill>
                <a:latin typeface="Aptos"/>
              </a:rPr>
              <a:t>WINDOW</a:t>
            </a:r>
          </a:p>
        </p:txBody>
      </p:sp>
      <p:sp>
        <p:nvSpPr>
          <p:cNvPr id="12" name="TextBox 11"/>
          <p:cNvSpPr txBox="1"/>
          <p:nvPr/>
        </p:nvSpPr>
        <p:spPr>
          <a:xfrm>
            <a:off x="3401568" y="2606040"/>
            <a:ext cx="2514600" cy="548640"/>
          </a:xfrm>
          <a:prstGeom prst="rect">
            <a:avLst/>
          </a:prstGeom>
          <a:noFill/>
        </p:spPr>
        <p:txBody>
          <a:bodyPr wrap="square" lIns="0" rIns="0" tIns="0" bIns="0" anchor="t">
            <a:spAutoFit/>
          </a:bodyPr>
          <a:lstStyle/>
          <a:p>
            <a:pPr algn="ctr">
              <a:lnSpc>
                <a:spcPct val="120000"/>
              </a:lnSpc>
            </a:pPr>
            <a:r>
              <a:rPr sz="1000" b="0" i="0">
                <a:solidFill>
                  <a:srgbClr val="334155"/>
                </a:solidFill>
                <a:latin typeface="Aptos"/>
              </a:rPr>
              <a:t>0.25h … 24h</a:t>
            </a:r>
          </a:p>
          <a:p>
            <a:pPr algn="ctr">
              <a:lnSpc>
                <a:spcPct val="120000"/>
              </a:lnSpc>
            </a:pPr>
            <a:r>
              <a:rPr sz="1000" b="0" i="0">
                <a:solidFill>
                  <a:srgbClr val="334155"/>
                </a:solidFill>
                <a:latin typeface="Aptos"/>
              </a:rPr>
              <a:t>the rule's own slice</a:t>
            </a:r>
          </a:p>
        </p:txBody>
      </p:sp>
      <p:cxnSp>
        <p:nvCxnSpPr>
          <p:cNvPr id="13" name="Connector 12"/>
          <p:cNvCxnSpPr/>
          <p:nvPr/>
        </p:nvCxnSpPr>
        <p:spPr>
          <a:xfrm>
            <a:off x="5961888" y="2715768"/>
            <a:ext cx="228600" cy="0"/>
          </a:xfrm>
          <a:prstGeom prst="line">
            <a:avLst/>
          </a:prstGeom>
          <a:ln w="2032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36208" y="2103120"/>
            <a:ext cx="2514600" cy="1234440"/>
          </a:xfrm>
          <a:prstGeom prst="roundRect">
            <a:avLst>
              <a:gd name="adj" fmla="val 6000"/>
            </a:avLst>
          </a:prstGeom>
          <a:solidFill>
            <a:srgbClr val="FFFFFF"/>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36208" y="2286000"/>
            <a:ext cx="2514600" cy="237744"/>
          </a:xfrm>
          <a:prstGeom prst="rect">
            <a:avLst/>
          </a:prstGeom>
          <a:noFill/>
        </p:spPr>
        <p:txBody>
          <a:bodyPr wrap="square" lIns="0" rIns="0" tIns="0" bIns="0" anchor="t">
            <a:spAutoFit/>
          </a:bodyPr>
          <a:lstStyle/>
          <a:p>
            <a:pPr algn="ctr">
              <a:lnSpc>
                <a:spcPct val="115000"/>
              </a:lnSpc>
            </a:pPr>
            <a:r>
              <a:rPr sz="1150" b="1" i="0">
                <a:solidFill>
                  <a:srgbClr val="B45309"/>
                </a:solidFill>
                <a:latin typeface="Aptos"/>
              </a:rPr>
              <a:t>MIN SAMPLE</a:t>
            </a:r>
          </a:p>
        </p:txBody>
      </p:sp>
      <p:sp>
        <p:nvSpPr>
          <p:cNvPr id="16" name="TextBox 15"/>
          <p:cNvSpPr txBox="1"/>
          <p:nvPr/>
        </p:nvSpPr>
        <p:spPr>
          <a:xfrm>
            <a:off x="6236208" y="2606040"/>
            <a:ext cx="2514600" cy="548640"/>
          </a:xfrm>
          <a:prstGeom prst="rect">
            <a:avLst/>
          </a:prstGeom>
          <a:noFill/>
        </p:spPr>
        <p:txBody>
          <a:bodyPr wrap="square" lIns="0" rIns="0" tIns="0" bIns="0" anchor="t">
            <a:spAutoFit/>
          </a:bodyPr>
          <a:lstStyle/>
          <a:p>
            <a:pPr algn="ctr">
              <a:lnSpc>
                <a:spcPct val="120000"/>
              </a:lnSpc>
            </a:pPr>
            <a:r>
              <a:rPr sz="1000" b="0" i="0">
                <a:solidFill>
                  <a:srgbClr val="334155"/>
                </a:solidFill>
                <a:latin typeface="Aptos"/>
              </a:rPr>
              <a:t>enough data to</a:t>
            </a:r>
          </a:p>
          <a:p>
            <a:pPr algn="ctr">
              <a:lnSpc>
                <a:spcPct val="120000"/>
              </a:lnSpc>
            </a:pPr>
            <a:r>
              <a:rPr sz="1000" b="0" i="0">
                <a:solidFill>
                  <a:srgbClr val="334155"/>
                </a:solidFill>
                <a:latin typeface="Aptos"/>
              </a:rPr>
              <a:t>mean anything</a:t>
            </a:r>
          </a:p>
        </p:txBody>
      </p:sp>
      <p:cxnSp>
        <p:nvCxnSpPr>
          <p:cNvPr id="17" name="Connector 16"/>
          <p:cNvCxnSpPr/>
          <p:nvPr/>
        </p:nvCxnSpPr>
        <p:spPr>
          <a:xfrm>
            <a:off x="8796528" y="2715768"/>
            <a:ext cx="228600" cy="0"/>
          </a:xfrm>
          <a:prstGeom prst="line">
            <a:avLst/>
          </a:prstGeom>
          <a:ln w="2032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070848" y="2103120"/>
            <a:ext cx="2514600" cy="1234440"/>
          </a:xfrm>
          <a:prstGeom prst="roundRect">
            <a:avLst>
              <a:gd name="adj" fmla="val 6000"/>
            </a:avLst>
          </a:prstGeom>
          <a:solidFill>
            <a:srgbClr val="FFFFFF"/>
          </a:solidFill>
          <a:ln w="9525">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70848" y="2286000"/>
            <a:ext cx="2514600" cy="237744"/>
          </a:xfrm>
          <a:prstGeom prst="rect">
            <a:avLst/>
          </a:prstGeom>
          <a:noFill/>
        </p:spPr>
        <p:txBody>
          <a:bodyPr wrap="square" lIns="0" rIns="0" tIns="0" bIns="0" anchor="t">
            <a:spAutoFit/>
          </a:bodyPr>
          <a:lstStyle/>
          <a:p>
            <a:pPr algn="ctr">
              <a:lnSpc>
                <a:spcPct val="115000"/>
              </a:lnSpc>
            </a:pPr>
            <a:r>
              <a:rPr sz="1150" b="1" i="0">
                <a:solidFill>
                  <a:srgbClr val="008A47"/>
                </a:solidFill>
                <a:latin typeface="Aptos"/>
              </a:rPr>
              <a:t>OPERATOR</a:t>
            </a:r>
          </a:p>
        </p:txBody>
      </p:sp>
      <p:sp>
        <p:nvSpPr>
          <p:cNvPr id="20" name="TextBox 19"/>
          <p:cNvSpPr txBox="1"/>
          <p:nvPr/>
        </p:nvSpPr>
        <p:spPr>
          <a:xfrm>
            <a:off x="9070848" y="2606040"/>
            <a:ext cx="2514600" cy="548640"/>
          </a:xfrm>
          <a:prstGeom prst="rect">
            <a:avLst/>
          </a:prstGeom>
          <a:noFill/>
        </p:spPr>
        <p:txBody>
          <a:bodyPr wrap="square" lIns="0" rIns="0" tIns="0" bIns="0" anchor="t">
            <a:spAutoFit/>
          </a:bodyPr>
          <a:lstStyle/>
          <a:p>
            <a:pPr algn="ctr">
              <a:lnSpc>
                <a:spcPct val="120000"/>
              </a:lnSpc>
            </a:pPr>
            <a:r>
              <a:rPr sz="1000" b="0" i="0">
                <a:solidFill>
                  <a:srgbClr val="334155"/>
                </a:solidFill>
                <a:latin typeface="Aptos"/>
              </a:rPr>
              <a:t>gte / lte</a:t>
            </a:r>
          </a:p>
          <a:p>
            <a:pPr algn="ctr">
              <a:lnSpc>
                <a:spcPct val="120000"/>
              </a:lnSpc>
            </a:pPr>
            <a:r>
              <a:rPr sz="1000" b="0" i="0">
                <a:solidFill>
                  <a:srgbClr val="334155"/>
                </a:solidFill>
                <a:latin typeface="Aptos"/>
              </a:rPr>
              <a:t>vs threshold</a:t>
            </a:r>
          </a:p>
        </p:txBody>
      </p:sp>
      <p:sp>
        <p:nvSpPr>
          <p:cNvPr id="21" name="Rounded Rectangle 20"/>
          <p:cNvSpPr/>
          <p:nvPr/>
        </p:nvSpPr>
        <p:spPr>
          <a:xfrm>
            <a:off x="566928" y="3611880"/>
            <a:ext cx="11064240" cy="685800"/>
          </a:xfrm>
          <a:prstGeom prst="roundRect">
            <a:avLst>
              <a:gd name="adj" fmla="val 6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758184"/>
            <a:ext cx="10661904" cy="393192"/>
          </a:xfrm>
          <a:prstGeom prst="rect">
            <a:avLst/>
          </a:prstGeom>
          <a:noFill/>
        </p:spPr>
        <p:txBody>
          <a:bodyPr wrap="square" lIns="0" rIns="0" tIns="0" bIns="0" anchor="t">
            <a:spAutoFit/>
          </a:bodyPr>
          <a:lstStyle/>
          <a:p>
            <a:pPr algn="l">
              <a:lnSpc>
                <a:spcPct val="130000"/>
              </a:lnSpc>
            </a:pPr>
            <a:r>
              <a:rPr sz="1100" b="0" i="0">
                <a:solidFill>
                  <a:srgbClr val="E2E8F0"/>
                </a:solidFill>
                <a:latin typeface="Consolas"/>
              </a:rPr>
              <a:t>fired = value != null  AND  sample &gt;= min_sample  AND  OP(value, threshold)  AND  within active hours</a:t>
            </a:r>
          </a:p>
        </p:txBody>
      </p:sp>
      <p:sp>
        <p:nvSpPr>
          <p:cNvPr id="23" name="Rounded Rectangle 22"/>
          <p:cNvSpPr/>
          <p:nvPr/>
        </p:nvSpPr>
        <p:spPr>
          <a:xfrm>
            <a:off x="566928" y="4617720"/>
            <a:ext cx="11064240" cy="310896"/>
          </a:xfrm>
          <a:prstGeom prst="roundRect">
            <a:avLst>
              <a:gd name="adj" fmla="val 6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672583"/>
            <a:ext cx="276148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Symptom</a:t>
            </a:r>
          </a:p>
        </p:txBody>
      </p:sp>
      <p:sp>
        <p:nvSpPr>
          <p:cNvPr id="25" name="TextBox 24"/>
          <p:cNvSpPr txBox="1"/>
          <p:nvPr/>
        </p:nvSpPr>
        <p:spPr>
          <a:xfrm>
            <a:off x="3611880" y="4672583"/>
            <a:ext cx="385876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Almost always</a:t>
            </a:r>
          </a:p>
        </p:txBody>
      </p:sp>
      <p:sp>
        <p:nvSpPr>
          <p:cNvPr id="26" name="TextBox 25"/>
          <p:cNvSpPr txBox="1"/>
          <p:nvPr/>
        </p:nvSpPr>
        <p:spPr>
          <a:xfrm>
            <a:off x="7635240" y="4672583"/>
            <a:ext cx="395020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Where to look</a:t>
            </a:r>
          </a:p>
        </p:txBody>
      </p:sp>
      <p:sp>
        <p:nvSpPr>
          <p:cNvPr id="27" name="TextBox 26"/>
          <p:cNvSpPr txBox="1"/>
          <p:nvPr/>
        </p:nvSpPr>
        <p:spPr>
          <a:xfrm>
            <a:off x="685800" y="4983479"/>
            <a:ext cx="27614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Rule never fires</a:t>
            </a:r>
          </a:p>
        </p:txBody>
      </p:sp>
      <p:sp>
        <p:nvSpPr>
          <p:cNvPr id="28" name="TextBox 27"/>
          <p:cNvSpPr txBox="1"/>
          <p:nvPr/>
        </p:nvSpPr>
        <p:spPr>
          <a:xfrm>
            <a:off x="3611880" y="4983479"/>
            <a:ext cx="38587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min_sample never reached at quiet hours</a:t>
            </a:r>
          </a:p>
        </p:txBody>
      </p:sp>
      <p:sp>
        <p:nvSpPr>
          <p:cNvPr id="29" name="TextBox 28"/>
          <p:cNvSpPr txBox="1"/>
          <p:nvPr/>
        </p:nvSpPr>
        <p:spPr>
          <a:xfrm>
            <a:off x="7635240" y="4983479"/>
            <a:ext cx="39502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the rule's sample vs your real volume</a:t>
            </a:r>
          </a:p>
        </p:txBody>
      </p:sp>
      <p:sp>
        <p:nvSpPr>
          <p:cNvPr id="30" name="Rounded Rectangle 29"/>
          <p:cNvSpPr/>
          <p:nvPr/>
        </p:nvSpPr>
        <p:spPr>
          <a:xfrm>
            <a:off x="566928" y="5239512"/>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5294375"/>
            <a:ext cx="27614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Rule fires nightly</a:t>
            </a:r>
          </a:p>
        </p:txBody>
      </p:sp>
      <p:sp>
        <p:nvSpPr>
          <p:cNvPr id="32" name="TextBox 31"/>
          <p:cNvSpPr txBox="1"/>
          <p:nvPr/>
        </p:nvSpPr>
        <p:spPr>
          <a:xfrm>
            <a:off x="3611880" y="5294375"/>
            <a:ext cx="38587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threshold set below the natural baseline</a:t>
            </a:r>
          </a:p>
        </p:txBody>
      </p:sp>
      <p:sp>
        <p:nvSpPr>
          <p:cNvPr id="33" name="TextBox 32"/>
          <p:cNvSpPr txBox="1"/>
          <p:nvPr/>
        </p:nvSpPr>
        <p:spPr>
          <a:xfrm>
            <a:off x="7635240" y="5294375"/>
            <a:ext cx="39502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the metric chart, not the rule</a:t>
            </a:r>
          </a:p>
        </p:txBody>
      </p:sp>
      <p:sp>
        <p:nvSpPr>
          <p:cNvPr id="34" name="TextBox 33"/>
          <p:cNvSpPr txBox="1"/>
          <p:nvPr/>
        </p:nvSpPr>
        <p:spPr>
          <a:xfrm>
            <a:off x="685800" y="5605272"/>
            <a:ext cx="27614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Fired but nobody acted</a:t>
            </a:r>
          </a:p>
        </p:txBody>
      </p:sp>
      <p:sp>
        <p:nvSpPr>
          <p:cNvPr id="35" name="TextBox 34"/>
          <p:cNvSpPr txBox="1"/>
          <p:nvPr/>
        </p:nvSpPr>
        <p:spPr>
          <a:xfrm>
            <a:off x="3611880" y="5605272"/>
            <a:ext cx="38587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no runbook, or wrong team</a:t>
            </a:r>
          </a:p>
        </p:txBody>
      </p:sp>
      <p:sp>
        <p:nvSpPr>
          <p:cNvPr id="36" name="TextBox 35"/>
          <p:cNvSpPr txBox="1"/>
          <p:nvPr/>
        </p:nvSpPr>
        <p:spPr>
          <a:xfrm>
            <a:off x="7635240" y="5605272"/>
            <a:ext cx="39502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the runbook on the alert itself</a:t>
            </a:r>
          </a:p>
        </p:txBody>
      </p:sp>
      <p:sp>
        <p:nvSpPr>
          <p:cNvPr id="37" name="Rounded Rectangle 36"/>
          <p:cNvSpPr/>
          <p:nvPr/>
        </p:nvSpPr>
        <p:spPr>
          <a:xfrm>
            <a:off x="566928" y="5861304"/>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916168"/>
            <a:ext cx="27614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Ten alerts, one cause</a:t>
            </a:r>
          </a:p>
        </p:txBody>
      </p:sp>
      <p:sp>
        <p:nvSpPr>
          <p:cNvPr id="39" name="TextBox 38"/>
          <p:cNvSpPr txBox="1"/>
          <p:nvPr/>
        </p:nvSpPr>
        <p:spPr>
          <a:xfrm>
            <a:off x="3611880" y="5916168"/>
            <a:ext cx="38587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correlation not configured for that pair</a:t>
            </a:r>
          </a:p>
        </p:txBody>
      </p:sp>
      <p:sp>
        <p:nvSpPr>
          <p:cNvPr id="40" name="TextBox 39"/>
          <p:cNvSpPr txBox="1"/>
          <p:nvPr/>
        </p:nvSpPr>
        <p:spPr>
          <a:xfrm>
            <a:off x="7635240" y="5916168"/>
            <a:ext cx="39502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session 2.5</a:t>
            </a:r>
          </a:p>
        </p:txBody>
      </p:sp>
      <p:sp>
        <p:nvSpPr>
          <p:cNvPr id="41" name="Rounded Rectangle 40"/>
          <p:cNvSpPr/>
          <p:nvPr/>
        </p:nvSpPr>
        <p:spPr>
          <a:xfrm>
            <a:off x="566928" y="6263640"/>
            <a:ext cx="11064240" cy="457200"/>
          </a:xfrm>
          <a:prstGeom prst="roundRect">
            <a:avLst>
              <a:gd name="adj" fmla="val 6000"/>
            </a:avLst>
          </a:prstGeom>
          <a:solidFill>
            <a:srgbClr val="FFFBEB"/>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1247" y="6263640"/>
            <a:ext cx="10515600" cy="457200"/>
          </a:xfrm>
          <a:prstGeom prst="rect">
            <a:avLst/>
          </a:prstGeom>
          <a:noFill/>
        </p:spPr>
        <p:txBody>
          <a:bodyPr wrap="square" lIns="0" rIns="0" tIns="0" bIns="0" anchor="ctr">
            <a:spAutoFit/>
          </a:bodyPr>
          <a:lstStyle/>
          <a:p>
            <a:pPr algn="l">
              <a:lnSpc>
                <a:spcPct val="115000"/>
              </a:lnSpc>
            </a:pPr>
            <a:r>
              <a:rPr sz="1150" b="0" i="0">
                <a:solidFill>
                  <a:srgbClr val="0F172A"/>
                </a:solidFill>
                <a:latin typeface="Aptos"/>
              </a:rPr>
              <a:t>min_sample is the most common reason a real incident goes unnoticed. Ask it of every rule today.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7315200" cy="182880"/>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2.2 · THE RULE BOOK</a:t>
            </a:r>
          </a:p>
        </p:txBody>
      </p:sp>
      <p:sp>
        <p:nvSpPr>
          <p:cNvPr id="3" name="TextBox 2"/>
          <p:cNvSpPr txBox="1"/>
          <p:nvPr/>
        </p:nvSpPr>
        <p:spPr>
          <a:xfrm>
            <a:off x="566928" y="621792"/>
            <a:ext cx="10058400" cy="411480"/>
          </a:xfrm>
          <a:prstGeom prst="rect">
            <a:avLst/>
          </a:prstGeom>
          <a:noFill/>
        </p:spPr>
        <p:txBody>
          <a:bodyPr wrap="square" lIns="0" rIns="0" tIns="0" bIns="0" anchor="t">
            <a:spAutoFit/>
          </a:bodyPr>
          <a:lstStyle/>
          <a:p>
            <a:pPr algn="l">
              <a:lnSpc>
                <a:spcPct val="115000"/>
              </a:lnSpc>
            </a:pPr>
            <a:r>
              <a:rPr sz="2400" b="1" i="0">
                <a:solidFill>
                  <a:srgbClr val="0F172A"/>
                </a:solidFill>
                <a:latin typeface="Aptos"/>
              </a:rPr>
              <a:t>43 rules — what actually pages you</a:t>
            </a:r>
          </a:p>
        </p:txBody>
      </p:sp>
      <p:sp>
        <p:nvSpPr>
          <p:cNvPr id="4" name="Rectangle 3"/>
          <p:cNvSpPr/>
          <p:nvPr/>
        </p:nvSpPr>
        <p:spPr>
          <a:xfrm>
            <a:off x="566928" y="1133856"/>
            <a:ext cx="64008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16736"/>
            <a:ext cx="11064240" cy="457200"/>
          </a:xfrm>
          <a:prstGeom prst="rect">
            <a:avLst/>
          </a:prstGeom>
          <a:noFill/>
        </p:spPr>
        <p:txBody>
          <a:bodyPr wrap="square" lIns="0" rIns="0" tIns="0" bIns="0" anchor="t">
            <a:spAutoFit/>
          </a:bodyPr>
          <a:lstStyle/>
          <a:p>
            <a:pPr algn="l">
              <a:lnSpc>
                <a:spcPct val="115000"/>
              </a:lnSpc>
            </a:pPr>
            <a:r>
              <a:rPr sz="1200" b="0" i="0">
                <a:solidFill>
                  <a:srgbClr val="64748B"/>
                </a:solidFill>
                <a:latin typeface="Aptos"/>
              </a:rPr>
              <a:t>Severity is a promise about response. If a P1 does not deserve a phone call, it is not a P1.</a:t>
            </a:r>
          </a:p>
        </p:txBody>
      </p:sp>
      <p:sp>
        <p:nvSpPr>
          <p:cNvPr id="6" name="Rounded Rectangle 5"/>
          <p:cNvSpPr/>
          <p:nvPr/>
        </p:nvSpPr>
        <p:spPr>
          <a:xfrm>
            <a:off x="566928" y="1965960"/>
            <a:ext cx="3566160" cy="1051560"/>
          </a:xfrm>
          <a:prstGeom prst="roundRect">
            <a:avLst>
              <a:gd name="adj" fmla="val 6000"/>
            </a:avLst>
          </a:prstGeom>
          <a:solidFill>
            <a:srgbClr val="FEF2F2"/>
          </a:solidFill>
          <a:ln w="952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121408"/>
            <a:ext cx="914400" cy="365760"/>
          </a:xfrm>
          <a:prstGeom prst="rect">
            <a:avLst/>
          </a:prstGeom>
          <a:noFill/>
        </p:spPr>
        <p:txBody>
          <a:bodyPr wrap="square" lIns="0" rIns="0" tIns="0" bIns="0" anchor="t">
            <a:spAutoFit/>
          </a:bodyPr>
          <a:lstStyle/>
          <a:p>
            <a:pPr algn="l">
              <a:lnSpc>
                <a:spcPct val="115000"/>
              </a:lnSpc>
            </a:pPr>
            <a:r>
              <a:rPr sz="2000" b="1" i="0">
                <a:solidFill>
                  <a:srgbClr val="B91C1C"/>
                </a:solidFill>
                <a:latin typeface="Aptos"/>
              </a:rPr>
              <a:t>P1</a:t>
            </a:r>
          </a:p>
        </p:txBody>
      </p:sp>
      <p:sp>
        <p:nvSpPr>
          <p:cNvPr id="8" name="TextBox 7"/>
          <p:cNvSpPr txBox="1"/>
          <p:nvPr/>
        </p:nvSpPr>
        <p:spPr>
          <a:xfrm>
            <a:off x="1709928" y="2148840"/>
            <a:ext cx="822960" cy="310896"/>
          </a:xfrm>
          <a:prstGeom prst="rect">
            <a:avLst/>
          </a:prstGeom>
          <a:noFill/>
        </p:spPr>
        <p:txBody>
          <a:bodyPr wrap="square" lIns="0" rIns="0" tIns="0" bIns="0" anchor="t">
            <a:spAutoFit/>
          </a:bodyPr>
          <a:lstStyle/>
          <a:p>
            <a:pPr algn="l">
              <a:lnSpc>
                <a:spcPct val="115000"/>
              </a:lnSpc>
            </a:pPr>
            <a:r>
              <a:rPr sz="2000" b="1" i="0">
                <a:solidFill>
                  <a:srgbClr val="0F172A"/>
                </a:solidFill>
                <a:latin typeface="Aptos"/>
              </a:rPr>
              <a:t>15</a:t>
            </a:r>
          </a:p>
        </p:txBody>
      </p:sp>
      <p:sp>
        <p:nvSpPr>
          <p:cNvPr id="9" name="TextBox 8"/>
          <p:cNvSpPr txBox="1"/>
          <p:nvPr/>
        </p:nvSpPr>
        <p:spPr>
          <a:xfrm>
            <a:off x="841247" y="2578608"/>
            <a:ext cx="3108960" cy="365760"/>
          </a:xfrm>
          <a:prstGeom prst="rect">
            <a:avLst/>
          </a:prstGeom>
          <a:noFill/>
        </p:spPr>
        <p:txBody>
          <a:bodyPr wrap="square" lIns="0" rIns="0" tIns="0" bIns="0" anchor="t">
            <a:spAutoFit/>
          </a:bodyPr>
          <a:lstStyle/>
          <a:p>
            <a:pPr algn="l">
              <a:lnSpc>
                <a:spcPct val="115000"/>
              </a:lnSpc>
            </a:pPr>
            <a:r>
              <a:rPr sz="1000" b="0" i="0">
                <a:solidFill>
                  <a:srgbClr val="334155"/>
                </a:solidFill>
                <a:latin typeface="Aptos"/>
              </a:rPr>
              <a:t>Page now. Customers are blocked or money is at risk.</a:t>
            </a:r>
          </a:p>
        </p:txBody>
      </p:sp>
      <p:sp>
        <p:nvSpPr>
          <p:cNvPr id="10" name="Rounded Rectangle 9"/>
          <p:cNvSpPr/>
          <p:nvPr/>
        </p:nvSpPr>
        <p:spPr>
          <a:xfrm>
            <a:off x="4315968" y="1965960"/>
            <a:ext cx="3566160" cy="1051560"/>
          </a:xfrm>
          <a:prstGeom prst="roundRect">
            <a:avLst>
              <a:gd name="adj" fmla="val 6000"/>
            </a:avLst>
          </a:prstGeom>
          <a:solidFill>
            <a:srgbClr val="FFFBEB"/>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121408"/>
            <a:ext cx="914400" cy="365760"/>
          </a:xfrm>
          <a:prstGeom prst="rect">
            <a:avLst/>
          </a:prstGeom>
          <a:noFill/>
        </p:spPr>
        <p:txBody>
          <a:bodyPr wrap="square" lIns="0" rIns="0" tIns="0" bIns="0" anchor="t">
            <a:spAutoFit/>
          </a:bodyPr>
          <a:lstStyle/>
          <a:p>
            <a:pPr algn="l">
              <a:lnSpc>
                <a:spcPct val="115000"/>
              </a:lnSpc>
            </a:pPr>
            <a:r>
              <a:rPr sz="2000" b="1" i="0">
                <a:solidFill>
                  <a:srgbClr val="B45309"/>
                </a:solidFill>
                <a:latin typeface="Aptos"/>
              </a:rPr>
              <a:t>P2</a:t>
            </a:r>
          </a:p>
        </p:txBody>
      </p:sp>
      <p:sp>
        <p:nvSpPr>
          <p:cNvPr id="12" name="TextBox 11"/>
          <p:cNvSpPr txBox="1"/>
          <p:nvPr/>
        </p:nvSpPr>
        <p:spPr>
          <a:xfrm>
            <a:off x="5458968" y="2148840"/>
            <a:ext cx="822960" cy="310896"/>
          </a:xfrm>
          <a:prstGeom prst="rect">
            <a:avLst/>
          </a:prstGeom>
          <a:noFill/>
        </p:spPr>
        <p:txBody>
          <a:bodyPr wrap="square" lIns="0" rIns="0" tIns="0" bIns="0" anchor="t">
            <a:spAutoFit/>
          </a:bodyPr>
          <a:lstStyle/>
          <a:p>
            <a:pPr algn="l">
              <a:lnSpc>
                <a:spcPct val="115000"/>
              </a:lnSpc>
            </a:pPr>
            <a:r>
              <a:rPr sz="2000" b="1" i="0">
                <a:solidFill>
                  <a:srgbClr val="0F172A"/>
                </a:solidFill>
                <a:latin typeface="Aptos"/>
              </a:rPr>
              <a:t>24</a:t>
            </a:r>
          </a:p>
        </p:txBody>
      </p:sp>
      <p:sp>
        <p:nvSpPr>
          <p:cNvPr id="13" name="TextBox 12"/>
          <p:cNvSpPr txBox="1"/>
          <p:nvPr/>
        </p:nvSpPr>
        <p:spPr>
          <a:xfrm>
            <a:off x="4590288" y="2578608"/>
            <a:ext cx="3108960" cy="365760"/>
          </a:xfrm>
          <a:prstGeom prst="rect">
            <a:avLst/>
          </a:prstGeom>
          <a:noFill/>
        </p:spPr>
        <p:txBody>
          <a:bodyPr wrap="square" lIns="0" rIns="0" tIns="0" bIns="0" anchor="t">
            <a:spAutoFit/>
          </a:bodyPr>
          <a:lstStyle/>
          <a:p>
            <a:pPr algn="l">
              <a:lnSpc>
                <a:spcPct val="115000"/>
              </a:lnSpc>
            </a:pPr>
            <a:r>
              <a:rPr sz="1000" b="0" i="0">
                <a:solidFill>
                  <a:srgbClr val="334155"/>
                </a:solidFill>
                <a:latin typeface="Aptos"/>
              </a:rPr>
              <a:t>Same shift. Degraded, not stopped.</a:t>
            </a:r>
          </a:p>
        </p:txBody>
      </p:sp>
      <p:sp>
        <p:nvSpPr>
          <p:cNvPr id="14" name="Rounded Rectangle 13"/>
          <p:cNvSpPr/>
          <p:nvPr/>
        </p:nvSpPr>
        <p:spPr>
          <a:xfrm>
            <a:off x="8065007" y="1965960"/>
            <a:ext cx="3566160" cy="1051560"/>
          </a:xfrm>
          <a:prstGeom prst="roundRect">
            <a:avLst>
              <a:gd name="adj" fmla="val 6000"/>
            </a:avLst>
          </a:prstGeom>
          <a:solidFill>
            <a:srgbClr val="EFF6FF"/>
          </a:solidFill>
          <a:ln w="952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121408"/>
            <a:ext cx="914400" cy="365760"/>
          </a:xfrm>
          <a:prstGeom prst="rect">
            <a:avLst/>
          </a:prstGeom>
          <a:noFill/>
        </p:spPr>
        <p:txBody>
          <a:bodyPr wrap="square" lIns="0" rIns="0" tIns="0" bIns="0" anchor="t">
            <a:spAutoFit/>
          </a:bodyPr>
          <a:lstStyle/>
          <a:p>
            <a:pPr algn="l">
              <a:lnSpc>
                <a:spcPct val="115000"/>
              </a:lnSpc>
            </a:pPr>
            <a:r>
              <a:rPr sz="2000" b="1" i="0">
                <a:solidFill>
                  <a:srgbClr val="1D4ED8"/>
                </a:solidFill>
                <a:latin typeface="Aptos"/>
              </a:rPr>
              <a:t>P3</a:t>
            </a:r>
          </a:p>
        </p:txBody>
      </p:sp>
      <p:sp>
        <p:nvSpPr>
          <p:cNvPr id="16" name="TextBox 15"/>
          <p:cNvSpPr txBox="1"/>
          <p:nvPr/>
        </p:nvSpPr>
        <p:spPr>
          <a:xfrm>
            <a:off x="9208007" y="2148840"/>
            <a:ext cx="822960" cy="310896"/>
          </a:xfrm>
          <a:prstGeom prst="rect">
            <a:avLst/>
          </a:prstGeom>
          <a:noFill/>
        </p:spPr>
        <p:txBody>
          <a:bodyPr wrap="square" lIns="0" rIns="0" tIns="0" bIns="0" anchor="t">
            <a:spAutoFit/>
          </a:bodyPr>
          <a:lstStyle/>
          <a:p>
            <a:pPr algn="l">
              <a:lnSpc>
                <a:spcPct val="115000"/>
              </a:lnSpc>
            </a:pPr>
            <a:r>
              <a:rPr sz="2000" b="1" i="0">
                <a:solidFill>
                  <a:srgbClr val="0F172A"/>
                </a:solidFill>
                <a:latin typeface="Aptos"/>
              </a:rPr>
              <a:t>4</a:t>
            </a:r>
          </a:p>
        </p:txBody>
      </p:sp>
      <p:sp>
        <p:nvSpPr>
          <p:cNvPr id="17" name="TextBox 16"/>
          <p:cNvSpPr txBox="1"/>
          <p:nvPr/>
        </p:nvSpPr>
        <p:spPr>
          <a:xfrm>
            <a:off x="8339327" y="2578608"/>
            <a:ext cx="3108960" cy="365760"/>
          </a:xfrm>
          <a:prstGeom prst="rect">
            <a:avLst/>
          </a:prstGeom>
          <a:noFill/>
        </p:spPr>
        <p:txBody>
          <a:bodyPr wrap="square" lIns="0" rIns="0" tIns="0" bIns="0" anchor="t">
            <a:spAutoFit/>
          </a:bodyPr>
          <a:lstStyle/>
          <a:p>
            <a:pPr algn="l">
              <a:lnSpc>
                <a:spcPct val="115000"/>
              </a:lnSpc>
            </a:pPr>
            <a:r>
              <a:rPr sz="1000" b="0" i="0">
                <a:solidFill>
                  <a:srgbClr val="334155"/>
                </a:solidFill>
                <a:latin typeface="Aptos"/>
              </a:rPr>
              <a:t>Watch. Early warning, review in hours.</a:t>
            </a:r>
          </a:p>
        </p:txBody>
      </p:sp>
      <p:sp>
        <p:nvSpPr>
          <p:cNvPr id="18" name="Rounded Rectangle 17"/>
          <p:cNvSpPr/>
          <p:nvPr/>
        </p:nvSpPr>
        <p:spPr>
          <a:xfrm>
            <a:off x="566928" y="3246120"/>
            <a:ext cx="11064240" cy="310896"/>
          </a:xfrm>
          <a:prstGeom prst="roundRect">
            <a:avLst>
              <a:gd name="adj" fmla="val 6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300984"/>
            <a:ext cx="2944368" cy="237744"/>
          </a:xfrm>
          <a:prstGeom prst="rect">
            <a:avLst/>
          </a:prstGeom>
          <a:noFill/>
        </p:spPr>
        <p:txBody>
          <a:bodyPr wrap="square" lIns="0" rIns="0" tIns="0" bIns="0" anchor="t">
            <a:spAutoFit/>
          </a:bodyPr>
          <a:lstStyle/>
          <a:p>
            <a:pPr algn="l">
              <a:lnSpc>
                <a:spcPct val="115000"/>
              </a:lnSpc>
            </a:pPr>
            <a:r>
              <a:rPr sz="1019" b="1" i="0">
                <a:solidFill>
                  <a:srgbClr val="0F172A"/>
                </a:solidFill>
                <a:latin typeface="Aptos"/>
              </a:rPr>
              <a:t>P1 rule</a:t>
            </a:r>
          </a:p>
        </p:txBody>
      </p:sp>
      <p:sp>
        <p:nvSpPr>
          <p:cNvPr id="20" name="TextBox 19"/>
          <p:cNvSpPr txBox="1"/>
          <p:nvPr/>
        </p:nvSpPr>
        <p:spPr>
          <a:xfrm>
            <a:off x="3794759" y="3300984"/>
            <a:ext cx="3675888" cy="237744"/>
          </a:xfrm>
          <a:prstGeom prst="rect">
            <a:avLst/>
          </a:prstGeom>
          <a:noFill/>
        </p:spPr>
        <p:txBody>
          <a:bodyPr wrap="square" lIns="0" rIns="0" tIns="0" bIns="0" anchor="t">
            <a:spAutoFit/>
          </a:bodyPr>
          <a:lstStyle/>
          <a:p>
            <a:pPr algn="l">
              <a:lnSpc>
                <a:spcPct val="115000"/>
              </a:lnSpc>
            </a:pPr>
            <a:r>
              <a:rPr sz="1019" b="1" i="0">
                <a:solidFill>
                  <a:srgbClr val="0F172A"/>
                </a:solidFill>
                <a:latin typeface="Aptos"/>
              </a:rPr>
              <a:t>Fires when</a:t>
            </a:r>
          </a:p>
        </p:txBody>
      </p:sp>
      <p:sp>
        <p:nvSpPr>
          <p:cNvPr id="21" name="TextBox 20"/>
          <p:cNvSpPr txBox="1"/>
          <p:nvPr/>
        </p:nvSpPr>
        <p:spPr>
          <a:xfrm>
            <a:off x="7635240" y="3300984"/>
            <a:ext cx="3950208" cy="237744"/>
          </a:xfrm>
          <a:prstGeom prst="rect">
            <a:avLst/>
          </a:prstGeom>
          <a:noFill/>
        </p:spPr>
        <p:txBody>
          <a:bodyPr wrap="square" lIns="0" rIns="0" tIns="0" bIns="0" anchor="t">
            <a:spAutoFit/>
          </a:bodyPr>
          <a:lstStyle/>
          <a:p>
            <a:pPr algn="l">
              <a:lnSpc>
                <a:spcPct val="115000"/>
              </a:lnSpc>
            </a:pPr>
            <a:r>
              <a:rPr sz="1019" b="1" i="0">
                <a:solidFill>
                  <a:srgbClr val="0F172A"/>
                </a:solidFill>
                <a:latin typeface="Aptos"/>
              </a:rPr>
              <a:t>Your call today</a:t>
            </a:r>
          </a:p>
        </p:txBody>
      </p:sp>
      <p:sp>
        <p:nvSpPr>
          <p:cNvPr id="22" name="TextBox 21"/>
          <p:cNvSpPr txBox="1"/>
          <p:nvPr/>
        </p:nvSpPr>
        <p:spPr>
          <a:xfrm>
            <a:off x="685800" y="3611879"/>
            <a:ext cx="294436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bss_soap_fault_1500</a:t>
            </a:r>
          </a:p>
        </p:txBody>
      </p:sp>
      <p:sp>
        <p:nvSpPr>
          <p:cNvPr id="23" name="TextBox 22"/>
          <p:cNvSpPr txBox="1"/>
          <p:nvPr/>
        </p:nvSpPr>
        <p:spPr>
          <a:xfrm>
            <a:off x="3794759" y="3611879"/>
            <a:ext cx="367588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≥5 SOAP faults / 30 min</a:t>
            </a:r>
          </a:p>
        </p:txBody>
      </p:sp>
      <p:sp>
        <p:nvSpPr>
          <p:cNvPr id="24" name="TextBox 23"/>
          <p:cNvSpPr txBox="1"/>
          <p:nvPr/>
        </p:nvSpPr>
        <p:spPr>
          <a:xfrm>
            <a:off x="7635240" y="3611879"/>
            <a:ext cx="39502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is 5 right, or too twitchy?</a:t>
            </a:r>
          </a:p>
        </p:txBody>
      </p:sp>
      <p:sp>
        <p:nvSpPr>
          <p:cNvPr id="25" name="Rounded Rectangle 24"/>
          <p:cNvSpPr/>
          <p:nvPr/>
        </p:nvSpPr>
        <p:spPr>
          <a:xfrm>
            <a:off x="566928" y="3867911"/>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922775"/>
            <a:ext cx="294436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apigw_node_down</a:t>
            </a:r>
          </a:p>
        </p:txBody>
      </p:sp>
      <p:sp>
        <p:nvSpPr>
          <p:cNvPr id="27" name="TextBox 26"/>
          <p:cNvSpPr txBox="1"/>
          <p:nvPr/>
        </p:nvSpPr>
        <p:spPr>
          <a:xfrm>
            <a:off x="3794759" y="3922775"/>
            <a:ext cx="367588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a known-good GW node stops answering</a:t>
            </a:r>
          </a:p>
        </p:txBody>
      </p:sp>
      <p:sp>
        <p:nvSpPr>
          <p:cNvPr id="28" name="TextBox 27"/>
          <p:cNvSpPr txBox="1"/>
          <p:nvPr/>
        </p:nvSpPr>
        <p:spPr>
          <a:xfrm>
            <a:off x="7635240" y="3922775"/>
            <a:ext cx="39502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should 1 node be P1, or only 2+?</a:t>
            </a:r>
          </a:p>
        </p:txBody>
      </p:sp>
      <p:sp>
        <p:nvSpPr>
          <p:cNvPr id="29" name="TextBox 28"/>
          <p:cNvSpPr txBox="1"/>
          <p:nvPr/>
        </p:nvSpPr>
        <p:spPr>
          <a:xfrm>
            <a:off x="685800" y="4233672"/>
            <a:ext cx="294436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upg_hard_down</a:t>
            </a:r>
          </a:p>
        </p:txBody>
      </p:sp>
      <p:sp>
        <p:nvSpPr>
          <p:cNvPr id="30" name="TextBox 29"/>
          <p:cNvSpPr txBox="1"/>
          <p:nvPr/>
        </p:nvSpPr>
        <p:spPr>
          <a:xfrm>
            <a:off x="3794759" y="4233672"/>
            <a:ext cx="367588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zero UPG successes in 30 min</a:t>
            </a:r>
          </a:p>
        </p:txBody>
      </p:sp>
      <p:sp>
        <p:nvSpPr>
          <p:cNvPr id="31" name="TextBox 30"/>
          <p:cNvSpPr txBox="1"/>
          <p:nvPr/>
        </p:nvSpPr>
        <p:spPr>
          <a:xfrm>
            <a:off x="7635240" y="4233672"/>
            <a:ext cx="39502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does failover make this survivable?</a:t>
            </a:r>
          </a:p>
        </p:txBody>
      </p:sp>
      <p:sp>
        <p:nvSpPr>
          <p:cNvPr id="32" name="Rounded Rectangle 31"/>
          <p:cNvSpPr/>
          <p:nvPr/>
        </p:nvSpPr>
        <p:spPr>
          <a:xfrm>
            <a:off x="566928" y="4489704"/>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544568"/>
            <a:ext cx="294436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semati_provider_down</a:t>
            </a:r>
          </a:p>
        </p:txBody>
      </p:sp>
      <p:sp>
        <p:nvSpPr>
          <p:cNvPr id="34" name="TextBox 33"/>
          <p:cNvSpPr txBox="1"/>
          <p:nvPr/>
        </p:nvSpPr>
        <p:spPr>
          <a:xfrm>
            <a:off x="3794759" y="4544568"/>
            <a:ext cx="367588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≥50% provider errors / 15 min</a:t>
            </a:r>
          </a:p>
        </p:txBody>
      </p:sp>
      <p:sp>
        <p:nvSpPr>
          <p:cNvPr id="35" name="TextBox 34"/>
          <p:cNvSpPr txBox="1"/>
          <p:nvPr/>
        </p:nvSpPr>
        <p:spPr>
          <a:xfrm>
            <a:off x="7635240" y="4544568"/>
            <a:ext cx="39502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matches the TCC pattern you see?</a:t>
            </a:r>
          </a:p>
        </p:txBody>
      </p:sp>
      <p:sp>
        <p:nvSpPr>
          <p:cNvPr id="36" name="TextBox 35"/>
          <p:cNvSpPr txBox="1"/>
          <p:nvPr/>
        </p:nvSpPr>
        <p:spPr>
          <a:xfrm>
            <a:off x="685800" y="4855464"/>
            <a:ext cx="294436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payment_duplicate</a:t>
            </a:r>
          </a:p>
        </p:txBody>
      </p:sp>
      <p:sp>
        <p:nvSpPr>
          <p:cNvPr id="37" name="TextBox 36"/>
          <p:cNvSpPr txBox="1"/>
          <p:nvPr/>
        </p:nvSpPr>
        <p:spPr>
          <a:xfrm>
            <a:off x="3794759" y="4855464"/>
            <a:ext cx="367588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≥25 suspected duplicates / 6h</a:t>
            </a:r>
          </a:p>
        </p:txBody>
      </p:sp>
      <p:sp>
        <p:nvSpPr>
          <p:cNvPr id="38" name="TextBox 37"/>
          <p:cNvSpPr txBox="1"/>
          <p:nvPr/>
        </p:nvSpPr>
        <p:spPr>
          <a:xfrm>
            <a:off x="7635240" y="4855464"/>
            <a:ext cx="39502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is 25 the right pain threshold?</a:t>
            </a:r>
          </a:p>
        </p:txBody>
      </p:sp>
      <p:sp>
        <p:nvSpPr>
          <p:cNvPr id="39" name="Rounded Rectangle 38"/>
          <p:cNvSpPr/>
          <p:nvPr/>
        </p:nvSpPr>
        <p:spPr>
          <a:xfrm>
            <a:off x="566928" y="5111496"/>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5166359"/>
            <a:ext cx="294436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nafath_fail_storm</a:t>
            </a:r>
          </a:p>
        </p:txBody>
      </p:sp>
      <p:sp>
        <p:nvSpPr>
          <p:cNvPr id="41" name="TextBox 40"/>
          <p:cNvSpPr txBox="1"/>
          <p:nvPr/>
        </p:nvSpPr>
        <p:spPr>
          <a:xfrm>
            <a:off x="3794759" y="5166359"/>
            <a:ext cx="367588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≥50% Nafath failures / 1h</a:t>
            </a:r>
          </a:p>
        </p:txBody>
      </p:sp>
      <p:sp>
        <p:nvSpPr>
          <p:cNvPr id="42" name="TextBox 41"/>
          <p:cNvSpPr txBox="1"/>
          <p:nvPr/>
        </p:nvSpPr>
        <p:spPr>
          <a:xfrm>
            <a:off x="7635240" y="5166359"/>
            <a:ext cx="39502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50% or lower?</a:t>
            </a:r>
          </a:p>
        </p:txBody>
      </p:sp>
      <p:sp>
        <p:nvSpPr>
          <p:cNvPr id="43" name="TextBox 42"/>
          <p:cNvSpPr txBox="1"/>
          <p:nvPr/>
        </p:nvSpPr>
        <p:spPr>
          <a:xfrm>
            <a:off x="685800" y="5477255"/>
            <a:ext cx="294436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citc_upstream_down</a:t>
            </a:r>
          </a:p>
        </p:txBody>
      </p:sp>
      <p:sp>
        <p:nvSpPr>
          <p:cNvPr id="44" name="TextBox 43"/>
          <p:cNvSpPr txBox="1"/>
          <p:nvPr/>
        </p:nvSpPr>
        <p:spPr>
          <a:xfrm>
            <a:off x="3794759" y="5477255"/>
            <a:ext cx="367588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Semati AND Nafath both degraded</a:t>
            </a:r>
          </a:p>
        </p:txBody>
      </p:sp>
      <p:sp>
        <p:nvSpPr>
          <p:cNvPr id="45" name="TextBox 44"/>
          <p:cNvSpPr txBox="1"/>
          <p:nvPr/>
        </p:nvSpPr>
        <p:spPr>
          <a:xfrm>
            <a:off x="7635240" y="5477255"/>
            <a:ext cx="39502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does one P1 beat two?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7315200" cy="182880"/>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2.3 · BASELINES</a:t>
            </a:r>
          </a:p>
        </p:txBody>
      </p:sp>
      <p:sp>
        <p:nvSpPr>
          <p:cNvPr id="3" name="TextBox 2"/>
          <p:cNvSpPr txBox="1"/>
          <p:nvPr/>
        </p:nvSpPr>
        <p:spPr>
          <a:xfrm>
            <a:off x="566928" y="621792"/>
            <a:ext cx="10058400" cy="411480"/>
          </a:xfrm>
          <a:prstGeom prst="rect">
            <a:avLst/>
          </a:prstGeom>
          <a:noFill/>
        </p:spPr>
        <p:txBody>
          <a:bodyPr wrap="square" lIns="0" rIns="0" tIns="0" bIns="0" anchor="t">
            <a:spAutoFit/>
          </a:bodyPr>
          <a:lstStyle/>
          <a:p>
            <a:pPr algn="l">
              <a:lnSpc>
                <a:spcPct val="115000"/>
              </a:lnSpc>
            </a:pPr>
            <a:r>
              <a:rPr sz="2400" b="1" i="0">
                <a:solidFill>
                  <a:srgbClr val="0F172A"/>
                </a:solidFill>
                <a:latin typeface="Aptos"/>
              </a:rPr>
              <a:t>The 55% problem</a:t>
            </a:r>
          </a:p>
        </p:txBody>
      </p:sp>
      <p:sp>
        <p:nvSpPr>
          <p:cNvPr id="4" name="Rectangle 3"/>
          <p:cNvSpPr/>
          <p:nvPr/>
        </p:nvSpPr>
        <p:spPr>
          <a:xfrm>
            <a:off x="566928" y="1133856"/>
            <a:ext cx="64008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16736"/>
            <a:ext cx="11064240" cy="457200"/>
          </a:xfrm>
          <a:prstGeom prst="rect">
            <a:avLst/>
          </a:prstGeom>
          <a:noFill/>
        </p:spPr>
        <p:txBody>
          <a:bodyPr wrap="square" lIns="0" rIns="0" tIns="0" bIns="0" anchor="t">
            <a:spAutoFit/>
          </a:bodyPr>
          <a:lstStyle/>
          <a:p>
            <a:pPr algn="l">
              <a:lnSpc>
                <a:spcPct val="115000"/>
              </a:lnSpc>
            </a:pPr>
            <a:r>
              <a:rPr sz="1200" b="0" i="0">
                <a:solidFill>
                  <a:srgbClr val="64748B"/>
                </a:solidFill>
                <a:latin typeface="Aptos"/>
              </a:rPr>
              <a:t>Semati fails about 55% on a completely normal day. Any fixed threshold is wrong.</a:t>
            </a:r>
          </a:p>
        </p:txBody>
      </p:sp>
      <p:sp>
        <p:nvSpPr>
          <p:cNvPr id="6" name="Rounded Rectangle 5"/>
          <p:cNvSpPr/>
          <p:nvPr/>
        </p:nvSpPr>
        <p:spPr>
          <a:xfrm>
            <a:off x="566928" y="2011680"/>
            <a:ext cx="5440680" cy="2194560"/>
          </a:xfrm>
          <a:prstGeom prst="roundRect">
            <a:avLst>
              <a:gd name="adj" fmla="val 6000"/>
            </a:avLst>
          </a:prstGeom>
          <a:solidFill>
            <a:srgbClr val="FEF2F2"/>
          </a:solidFill>
          <a:ln w="952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2194560"/>
            <a:ext cx="4846320" cy="237744"/>
          </a:xfrm>
          <a:prstGeom prst="rect">
            <a:avLst/>
          </a:prstGeom>
          <a:noFill/>
        </p:spPr>
        <p:txBody>
          <a:bodyPr wrap="square" lIns="0" rIns="0" tIns="0" bIns="0" anchor="t">
            <a:spAutoFit/>
          </a:bodyPr>
          <a:lstStyle/>
          <a:p>
            <a:pPr algn="l">
              <a:lnSpc>
                <a:spcPct val="115000"/>
              </a:lnSpc>
            </a:pPr>
            <a:r>
              <a:rPr sz="1050" b="1" i="0">
                <a:solidFill>
                  <a:srgbClr val="B91C1C"/>
                </a:solidFill>
                <a:latin typeface="Aptos"/>
              </a:rPr>
              <a:t>FIXED THRESHOLD</a:t>
            </a:r>
          </a:p>
        </p:txBody>
      </p:sp>
      <p:sp>
        <p:nvSpPr>
          <p:cNvPr id="8" name="TextBox 7"/>
          <p:cNvSpPr txBox="1"/>
          <p:nvPr/>
        </p:nvSpPr>
        <p:spPr>
          <a:xfrm>
            <a:off x="841248" y="2542032"/>
            <a:ext cx="4937760" cy="347472"/>
          </a:xfrm>
          <a:prstGeom prst="rect">
            <a:avLst/>
          </a:prstGeom>
          <a:noFill/>
        </p:spPr>
        <p:txBody>
          <a:bodyPr wrap="square" lIns="0" rIns="0" tIns="0" bIns="0" anchor="t">
            <a:spAutoFit/>
          </a:bodyPr>
          <a:lstStyle/>
          <a:p>
            <a:pPr algn="l">
              <a:lnSpc>
                <a:spcPct val="115000"/>
              </a:lnSpc>
            </a:pPr>
            <a:r>
              <a:rPr sz="1100" b="0" i="0">
                <a:solidFill>
                  <a:srgbClr val="334155"/>
                </a:solidFill>
                <a:latin typeface="Aptos"/>
              </a:rPr>
              <a:t>· set at 10% → fires every day, forever</a:t>
            </a:r>
          </a:p>
        </p:txBody>
      </p:sp>
      <p:sp>
        <p:nvSpPr>
          <p:cNvPr id="9" name="TextBox 8"/>
          <p:cNvSpPr txBox="1"/>
          <p:nvPr/>
        </p:nvSpPr>
        <p:spPr>
          <a:xfrm>
            <a:off x="841248" y="2926079"/>
            <a:ext cx="4937760" cy="347472"/>
          </a:xfrm>
          <a:prstGeom prst="rect">
            <a:avLst/>
          </a:prstGeom>
          <a:noFill/>
        </p:spPr>
        <p:txBody>
          <a:bodyPr wrap="square" lIns="0" rIns="0" tIns="0" bIns="0" anchor="t">
            <a:spAutoFit/>
          </a:bodyPr>
          <a:lstStyle/>
          <a:p>
            <a:pPr algn="l">
              <a:lnSpc>
                <a:spcPct val="115000"/>
              </a:lnSpc>
            </a:pPr>
            <a:r>
              <a:rPr sz="1100" b="0" i="0">
                <a:solidFill>
                  <a:srgbClr val="334155"/>
                </a:solidFill>
                <a:latin typeface="Aptos"/>
              </a:rPr>
              <a:t>· set at 90% → sleeps through a real outage</a:t>
            </a:r>
          </a:p>
        </p:txBody>
      </p:sp>
      <p:sp>
        <p:nvSpPr>
          <p:cNvPr id="10" name="TextBox 9"/>
          <p:cNvSpPr txBox="1"/>
          <p:nvPr/>
        </p:nvSpPr>
        <p:spPr>
          <a:xfrm>
            <a:off x="841248" y="3310127"/>
            <a:ext cx="4937760" cy="347472"/>
          </a:xfrm>
          <a:prstGeom prst="rect">
            <a:avLst/>
          </a:prstGeom>
          <a:noFill/>
        </p:spPr>
        <p:txBody>
          <a:bodyPr wrap="square" lIns="0" rIns="0" tIns="0" bIns="0" anchor="t">
            <a:spAutoFit/>
          </a:bodyPr>
          <a:lstStyle/>
          <a:p>
            <a:pPr algn="l">
              <a:lnSpc>
                <a:spcPct val="115000"/>
              </a:lnSpc>
            </a:pPr>
            <a:r>
              <a:rPr sz="1100" b="0" i="0">
                <a:solidFill>
                  <a:srgbClr val="334155"/>
                </a:solidFill>
                <a:latin typeface="Aptos"/>
              </a:rPr>
              <a:t>· either way it gets muted within a week</a:t>
            </a:r>
          </a:p>
        </p:txBody>
      </p:sp>
      <p:sp>
        <p:nvSpPr>
          <p:cNvPr id="11" name="TextBox 10"/>
          <p:cNvSpPr txBox="1"/>
          <p:nvPr/>
        </p:nvSpPr>
        <p:spPr>
          <a:xfrm>
            <a:off x="841248" y="3749039"/>
            <a:ext cx="4937760" cy="310896"/>
          </a:xfrm>
          <a:prstGeom prst="rect">
            <a:avLst/>
          </a:prstGeom>
          <a:noFill/>
        </p:spPr>
        <p:txBody>
          <a:bodyPr wrap="square" lIns="0" rIns="0" tIns="0" bIns="0" anchor="t">
            <a:spAutoFit/>
          </a:bodyPr>
          <a:lstStyle/>
          <a:p>
            <a:pPr algn="l">
              <a:lnSpc>
                <a:spcPct val="115000"/>
              </a:lnSpc>
            </a:pPr>
            <a:r>
              <a:rPr sz="1100" b="1" i="0">
                <a:solidFill>
                  <a:srgbClr val="B91C1C"/>
                </a:solidFill>
                <a:latin typeface="Aptos"/>
              </a:rPr>
              <a:t>A muted rule is worse than no rule — it looks like coverage.</a:t>
            </a:r>
          </a:p>
        </p:txBody>
      </p:sp>
      <p:sp>
        <p:nvSpPr>
          <p:cNvPr id="12" name="Rounded Rectangle 11"/>
          <p:cNvSpPr/>
          <p:nvPr/>
        </p:nvSpPr>
        <p:spPr>
          <a:xfrm>
            <a:off x="6190488" y="2011680"/>
            <a:ext cx="5440680" cy="2194560"/>
          </a:xfrm>
          <a:prstGeom prst="roundRect">
            <a:avLst>
              <a:gd name="adj" fmla="val 6000"/>
            </a:avLst>
          </a:prstGeom>
          <a:solidFill>
            <a:srgbClr val="ECFDF3"/>
          </a:solidFill>
          <a:ln w="9525">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8" y="2194560"/>
            <a:ext cx="4846320" cy="237744"/>
          </a:xfrm>
          <a:prstGeom prst="rect">
            <a:avLst/>
          </a:prstGeom>
          <a:noFill/>
        </p:spPr>
        <p:txBody>
          <a:bodyPr wrap="square" lIns="0" rIns="0" tIns="0" bIns="0" anchor="t">
            <a:spAutoFit/>
          </a:bodyPr>
          <a:lstStyle/>
          <a:p>
            <a:pPr algn="l">
              <a:lnSpc>
                <a:spcPct val="115000"/>
              </a:lnSpc>
            </a:pPr>
            <a:r>
              <a:rPr sz="1050" b="1" i="0">
                <a:solidFill>
                  <a:srgbClr val="008A47"/>
                </a:solidFill>
                <a:latin typeface="Aptos"/>
              </a:rPr>
              <a:t>BASELINE-RELATIVE</a:t>
            </a:r>
          </a:p>
        </p:txBody>
      </p:sp>
      <p:sp>
        <p:nvSpPr>
          <p:cNvPr id="14" name="TextBox 13"/>
          <p:cNvSpPr txBox="1"/>
          <p:nvPr/>
        </p:nvSpPr>
        <p:spPr>
          <a:xfrm>
            <a:off x="6464808" y="2542032"/>
            <a:ext cx="4937760" cy="347472"/>
          </a:xfrm>
          <a:prstGeom prst="rect">
            <a:avLst/>
          </a:prstGeom>
          <a:noFill/>
        </p:spPr>
        <p:txBody>
          <a:bodyPr wrap="square" lIns="0" rIns="0" tIns="0" bIns="0" anchor="t">
            <a:spAutoFit/>
          </a:bodyPr>
          <a:lstStyle/>
          <a:p>
            <a:pPr algn="l">
              <a:lnSpc>
                <a:spcPct val="115000"/>
              </a:lnSpc>
            </a:pPr>
            <a:r>
              <a:rPr sz="1100" b="0" i="0">
                <a:solidFill>
                  <a:srgbClr val="334155"/>
                </a:solidFill>
                <a:latin typeface="Aptos"/>
              </a:rPr>
              <a:t>· compare to the same hour, recent weeks</a:t>
            </a:r>
          </a:p>
        </p:txBody>
      </p:sp>
      <p:sp>
        <p:nvSpPr>
          <p:cNvPr id="15" name="TextBox 14"/>
          <p:cNvSpPr txBox="1"/>
          <p:nvPr/>
        </p:nvSpPr>
        <p:spPr>
          <a:xfrm>
            <a:off x="6464808" y="2926079"/>
            <a:ext cx="4937760" cy="347472"/>
          </a:xfrm>
          <a:prstGeom prst="rect">
            <a:avLst/>
          </a:prstGeom>
          <a:noFill/>
        </p:spPr>
        <p:txBody>
          <a:bodyPr wrap="square" lIns="0" rIns="0" tIns="0" bIns="0" anchor="t">
            <a:spAutoFit/>
          </a:bodyPr>
          <a:lstStyle/>
          <a:p>
            <a:pPr algn="l">
              <a:lnSpc>
                <a:spcPct val="115000"/>
              </a:lnSpc>
            </a:pPr>
            <a:r>
              <a:rPr sz="1100" b="0" i="0">
                <a:solidFill>
                  <a:srgbClr val="334155"/>
                </a:solidFill>
                <a:latin typeface="Aptos"/>
              </a:rPr>
              <a:t>· alert on CHANGE from normal</a:t>
            </a:r>
          </a:p>
        </p:txBody>
      </p:sp>
      <p:sp>
        <p:nvSpPr>
          <p:cNvPr id="16" name="TextBox 15"/>
          <p:cNvSpPr txBox="1"/>
          <p:nvPr/>
        </p:nvSpPr>
        <p:spPr>
          <a:xfrm>
            <a:off x="6464808" y="3310127"/>
            <a:ext cx="4937760" cy="347472"/>
          </a:xfrm>
          <a:prstGeom prst="rect">
            <a:avLst/>
          </a:prstGeom>
          <a:noFill/>
        </p:spPr>
        <p:txBody>
          <a:bodyPr wrap="square" lIns="0" rIns="0" tIns="0" bIns="0" anchor="t">
            <a:spAutoFit/>
          </a:bodyPr>
          <a:lstStyle/>
          <a:p>
            <a:pPr algn="l">
              <a:lnSpc>
                <a:spcPct val="115000"/>
              </a:lnSpc>
            </a:pPr>
            <a:r>
              <a:rPr sz="1100" b="0" i="0">
                <a:solidFill>
                  <a:srgbClr val="334155"/>
                </a:solidFill>
                <a:latin typeface="Aptos"/>
              </a:rPr>
              <a:t>· gate with a minimum sample</a:t>
            </a:r>
          </a:p>
        </p:txBody>
      </p:sp>
      <p:sp>
        <p:nvSpPr>
          <p:cNvPr id="17" name="TextBox 16"/>
          <p:cNvSpPr txBox="1"/>
          <p:nvPr/>
        </p:nvSpPr>
        <p:spPr>
          <a:xfrm>
            <a:off x="6464808" y="3749039"/>
            <a:ext cx="4937760" cy="310896"/>
          </a:xfrm>
          <a:prstGeom prst="rect">
            <a:avLst/>
          </a:prstGeom>
          <a:noFill/>
        </p:spPr>
        <p:txBody>
          <a:bodyPr wrap="square" lIns="0" rIns="0" tIns="0" bIns="0" anchor="t">
            <a:spAutoFit/>
          </a:bodyPr>
          <a:lstStyle/>
          <a:p>
            <a:pPr algn="l">
              <a:lnSpc>
                <a:spcPct val="115000"/>
              </a:lnSpc>
            </a:pPr>
            <a:r>
              <a:rPr sz="1100" b="1" i="0">
                <a:solidFill>
                  <a:srgbClr val="008A47"/>
                </a:solidFill>
                <a:latin typeface="Aptos"/>
              </a:rPr>
              <a:t>55% belongs on the SLA page. Alerts are for what just got worse.</a:t>
            </a:r>
          </a:p>
        </p:txBody>
      </p:sp>
      <p:sp>
        <p:nvSpPr>
          <p:cNvPr id="18" name="Rounded Rectangle 17"/>
          <p:cNvSpPr/>
          <p:nvPr/>
        </p:nvSpPr>
        <p:spPr>
          <a:xfrm>
            <a:off x="566928" y="4434840"/>
            <a:ext cx="11064240" cy="310896"/>
          </a:xfrm>
          <a:prstGeom prst="roundRect">
            <a:avLst>
              <a:gd name="adj" fmla="val 6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489703"/>
            <a:ext cx="340156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Where we used a baseline</a:t>
            </a:r>
          </a:p>
        </p:txBody>
      </p:sp>
      <p:sp>
        <p:nvSpPr>
          <p:cNvPr id="20" name="TextBox 19"/>
          <p:cNvSpPr txBox="1"/>
          <p:nvPr/>
        </p:nvSpPr>
        <p:spPr>
          <a:xfrm>
            <a:off x="4251959" y="4489703"/>
            <a:ext cx="367588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Why</a:t>
            </a:r>
          </a:p>
        </p:txBody>
      </p:sp>
      <p:sp>
        <p:nvSpPr>
          <p:cNvPr id="21" name="TextBox 20"/>
          <p:cNvSpPr txBox="1"/>
          <p:nvPr/>
        </p:nvSpPr>
        <p:spPr>
          <a:xfrm>
            <a:off x="8092440" y="4489703"/>
            <a:ext cx="349300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Confirm with us</a:t>
            </a:r>
          </a:p>
        </p:txBody>
      </p:sp>
      <p:sp>
        <p:nvSpPr>
          <p:cNvPr id="22" name="TextBox 21"/>
          <p:cNvSpPr txBox="1"/>
          <p:nvPr/>
        </p:nvSpPr>
        <p:spPr>
          <a:xfrm>
            <a:off x="685800" y="4800599"/>
            <a:ext cx="34015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Semati / Nafath rates</a:t>
            </a:r>
          </a:p>
        </p:txBody>
      </p:sp>
      <p:sp>
        <p:nvSpPr>
          <p:cNvPr id="23" name="TextBox 22"/>
          <p:cNvSpPr txBox="1"/>
          <p:nvPr/>
        </p:nvSpPr>
        <p:spPr>
          <a:xfrm>
            <a:off x="4251959" y="4800599"/>
            <a:ext cx="36758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chronic upstream failure is normal</a:t>
            </a:r>
          </a:p>
        </p:txBody>
      </p:sp>
      <p:sp>
        <p:nvSpPr>
          <p:cNvPr id="24" name="TextBox 23"/>
          <p:cNvSpPr txBox="1"/>
          <p:nvPr/>
        </p:nvSpPr>
        <p:spPr>
          <a:xfrm>
            <a:off x="8092440" y="4800599"/>
            <a:ext cx="34930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is 55% still today's normal?</a:t>
            </a:r>
          </a:p>
        </p:txBody>
      </p:sp>
      <p:sp>
        <p:nvSpPr>
          <p:cNvPr id="25" name="Rounded Rectangle 24"/>
          <p:cNvSpPr/>
          <p:nvPr/>
        </p:nvSpPr>
        <p:spPr>
          <a:xfrm>
            <a:off x="566928" y="5056631"/>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111495"/>
            <a:ext cx="34015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API GW nodes</a:t>
            </a:r>
          </a:p>
        </p:txBody>
      </p:sp>
      <p:sp>
        <p:nvSpPr>
          <p:cNvPr id="27" name="TextBox 26"/>
          <p:cNvSpPr txBox="1"/>
          <p:nvPr/>
        </p:nvSpPr>
        <p:spPr>
          <a:xfrm>
            <a:off x="4251959" y="5111495"/>
            <a:ext cx="36758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2 of 4 nodes were never opened to us</a:t>
            </a:r>
          </a:p>
        </p:txBody>
      </p:sp>
      <p:sp>
        <p:nvSpPr>
          <p:cNvPr id="28" name="TextBox 27"/>
          <p:cNvSpPr txBox="1"/>
          <p:nvPr/>
        </p:nvSpPr>
        <p:spPr>
          <a:xfrm>
            <a:off x="8092440" y="5111495"/>
            <a:ext cx="34930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should we chase the other 2?</a:t>
            </a:r>
          </a:p>
        </p:txBody>
      </p:sp>
      <p:sp>
        <p:nvSpPr>
          <p:cNvPr id="29" name="TextBox 28"/>
          <p:cNvSpPr txBox="1"/>
          <p:nvPr/>
        </p:nvSpPr>
        <p:spPr>
          <a:xfrm>
            <a:off x="685800" y="5422391"/>
            <a:ext cx="34015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Anomaly detection</a:t>
            </a:r>
          </a:p>
        </p:txBody>
      </p:sp>
      <p:sp>
        <p:nvSpPr>
          <p:cNvPr id="30" name="TextBox 29"/>
          <p:cNvSpPr txBox="1"/>
          <p:nvPr/>
        </p:nvSpPr>
        <p:spPr>
          <a:xfrm>
            <a:off x="4251959" y="5422391"/>
            <a:ext cx="36758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seasonal — 3am ≠ 3pm</a:t>
            </a:r>
          </a:p>
        </p:txBody>
      </p:sp>
      <p:sp>
        <p:nvSpPr>
          <p:cNvPr id="31" name="TextBox 30"/>
          <p:cNvSpPr txBox="1"/>
          <p:nvPr/>
        </p:nvSpPr>
        <p:spPr>
          <a:xfrm>
            <a:off x="8092440" y="5422391"/>
            <a:ext cx="34930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does the seasonal band look right to you?</a:t>
            </a:r>
          </a:p>
        </p:txBody>
      </p:sp>
      <p:sp>
        <p:nvSpPr>
          <p:cNvPr id="32" name="Rounded Rectangle 31"/>
          <p:cNvSpPr/>
          <p:nvPr/>
        </p:nvSpPr>
        <p:spPr>
          <a:xfrm>
            <a:off x="566928" y="5678424"/>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733288"/>
            <a:ext cx="34015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activation_fail_storm</a:t>
            </a:r>
          </a:p>
        </p:txBody>
      </p:sp>
      <p:sp>
        <p:nvSpPr>
          <p:cNvPr id="34" name="TextBox 33"/>
          <p:cNvSpPr txBox="1"/>
          <p:nvPr/>
        </p:nvSpPr>
        <p:spPr>
          <a:xfrm>
            <a:off x="4251959" y="5733288"/>
            <a:ext cx="36758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MIXES BSS + Semati — kept insensitive on purpose</a:t>
            </a:r>
          </a:p>
        </p:txBody>
      </p:sp>
      <p:sp>
        <p:nvSpPr>
          <p:cNvPr id="35" name="TextBox 34"/>
          <p:cNvSpPr txBox="1"/>
          <p:nvPr/>
        </p:nvSpPr>
        <p:spPr>
          <a:xfrm>
            <a:off x="8092440" y="5733288"/>
            <a:ext cx="34930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agree we split rather than lower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7315200" cy="182880"/>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2.4 · CASE STUDY</a:t>
            </a:r>
          </a:p>
        </p:txBody>
      </p:sp>
      <p:sp>
        <p:nvSpPr>
          <p:cNvPr id="3" name="TextBox 2"/>
          <p:cNvSpPr txBox="1"/>
          <p:nvPr/>
        </p:nvSpPr>
        <p:spPr>
          <a:xfrm>
            <a:off x="566928" y="621792"/>
            <a:ext cx="10058400" cy="411480"/>
          </a:xfrm>
          <a:prstGeom prst="rect">
            <a:avLst/>
          </a:prstGeom>
          <a:noFill/>
        </p:spPr>
        <p:txBody>
          <a:bodyPr wrap="square" lIns="0" rIns="0" tIns="0" bIns="0" anchor="t">
            <a:spAutoFit/>
          </a:bodyPr>
          <a:lstStyle/>
          <a:p>
            <a:pPr algn="l">
              <a:lnSpc>
                <a:spcPct val="115000"/>
              </a:lnSpc>
            </a:pPr>
            <a:r>
              <a:rPr sz="2400" b="1" i="0">
                <a:solidFill>
                  <a:srgbClr val="0F172A"/>
                </a:solidFill>
                <a:latin typeface="Aptos"/>
              </a:rPr>
              <a:t>INC0016809 — a P1 ran for an hour with a green console</a:t>
            </a:r>
          </a:p>
        </p:txBody>
      </p:sp>
      <p:sp>
        <p:nvSpPr>
          <p:cNvPr id="4" name="Rectangle 3"/>
          <p:cNvSpPr/>
          <p:nvPr/>
        </p:nvSpPr>
        <p:spPr>
          <a:xfrm>
            <a:off x="566928" y="1133856"/>
            <a:ext cx="64008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16736"/>
            <a:ext cx="11064240" cy="457200"/>
          </a:xfrm>
          <a:prstGeom prst="rect">
            <a:avLst/>
          </a:prstGeom>
          <a:noFill/>
        </p:spPr>
        <p:txBody>
          <a:bodyPr wrap="square" lIns="0" rIns="0" tIns="0" bIns="0" anchor="t">
            <a:spAutoFit/>
          </a:bodyPr>
          <a:lstStyle/>
          <a:p>
            <a:pPr algn="l">
              <a:lnSpc>
                <a:spcPct val="115000"/>
              </a:lnSpc>
            </a:pPr>
            <a:r>
              <a:rPr sz="1200" b="0" i="0">
                <a:solidFill>
                  <a:srgbClr val="64748B"/>
                </a:solidFill>
                <a:latin typeface="Aptos"/>
              </a:rPr>
              <a:t>06 Aug. The most useful thing that happened this month, because it showed exactly what we were blind to.</a:t>
            </a:r>
          </a:p>
        </p:txBody>
      </p:sp>
      <p:sp>
        <p:nvSpPr>
          <p:cNvPr id="6" name="Rectangle 5"/>
          <p:cNvSpPr/>
          <p:nvPr/>
        </p:nvSpPr>
        <p:spPr>
          <a:xfrm>
            <a:off x="1097280" y="2743200"/>
            <a:ext cx="10058400" cy="201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3271" y="2689250"/>
            <a:ext cx="128016" cy="128016"/>
          </a:xfrm>
          <a:prstGeom prst="ellipse">
            <a:avLst/>
          </a:prstGeom>
          <a:solidFill>
            <a:srgbClr val="B91C1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79" y="2176272"/>
            <a:ext cx="1828800" cy="219456"/>
          </a:xfrm>
          <a:prstGeom prst="rect">
            <a:avLst/>
          </a:prstGeom>
          <a:noFill/>
        </p:spPr>
        <p:txBody>
          <a:bodyPr wrap="square" lIns="0" rIns="0" tIns="0" bIns="0" anchor="t">
            <a:spAutoFit/>
          </a:bodyPr>
          <a:lstStyle/>
          <a:p>
            <a:pPr algn="ctr">
              <a:lnSpc>
                <a:spcPct val="115000"/>
              </a:lnSpc>
            </a:pPr>
            <a:r>
              <a:rPr sz="1000" b="1" i="0">
                <a:solidFill>
                  <a:srgbClr val="0F172A"/>
                </a:solidFill>
                <a:latin typeface="Aptos"/>
              </a:rPr>
              <a:t>05:00</a:t>
            </a:r>
          </a:p>
        </p:txBody>
      </p:sp>
      <p:sp>
        <p:nvSpPr>
          <p:cNvPr id="9" name="TextBox 8"/>
          <p:cNvSpPr txBox="1"/>
          <p:nvPr/>
        </p:nvSpPr>
        <p:spPr>
          <a:xfrm>
            <a:off x="91439" y="2414016"/>
            <a:ext cx="2011680" cy="201168"/>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firewall CRQ…190352 done</a:t>
            </a:r>
          </a:p>
        </p:txBody>
      </p:sp>
      <p:sp>
        <p:nvSpPr>
          <p:cNvPr id="10" name="Oval 9"/>
          <p:cNvSpPr/>
          <p:nvPr/>
        </p:nvSpPr>
        <p:spPr>
          <a:xfrm>
            <a:off x="2843784" y="2689250"/>
            <a:ext cx="128016" cy="128016"/>
          </a:xfrm>
          <a:prstGeom prst="ellipse">
            <a:avLst/>
          </a:prstGeom>
          <a:solidFill>
            <a:srgbClr val="B91C1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93391" y="2176272"/>
            <a:ext cx="1828800" cy="219456"/>
          </a:xfrm>
          <a:prstGeom prst="rect">
            <a:avLst/>
          </a:prstGeom>
          <a:noFill/>
        </p:spPr>
        <p:txBody>
          <a:bodyPr wrap="square" lIns="0" rIns="0" tIns="0" bIns="0" anchor="t">
            <a:spAutoFit/>
          </a:bodyPr>
          <a:lstStyle/>
          <a:p>
            <a:pPr algn="ctr">
              <a:lnSpc>
                <a:spcPct val="115000"/>
              </a:lnSpc>
            </a:pPr>
            <a:r>
              <a:rPr sz="1000" b="1" i="0">
                <a:solidFill>
                  <a:srgbClr val="0F172A"/>
                </a:solidFill>
                <a:latin typeface="Aptos"/>
              </a:rPr>
              <a:t>05:00–05:30</a:t>
            </a:r>
          </a:p>
        </p:txBody>
      </p:sp>
      <p:sp>
        <p:nvSpPr>
          <p:cNvPr id="12" name="TextBox 11"/>
          <p:cNvSpPr txBox="1"/>
          <p:nvPr/>
        </p:nvSpPr>
        <p:spPr>
          <a:xfrm>
            <a:off x="1901951" y="2414016"/>
            <a:ext cx="2011680" cy="201168"/>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SOAP faults begin</a:t>
            </a:r>
          </a:p>
        </p:txBody>
      </p:sp>
      <p:sp>
        <p:nvSpPr>
          <p:cNvPr id="13" name="Oval 12"/>
          <p:cNvSpPr/>
          <p:nvPr/>
        </p:nvSpPr>
        <p:spPr>
          <a:xfrm>
            <a:off x="6062472" y="2689250"/>
            <a:ext cx="128016" cy="128016"/>
          </a:xfrm>
          <a:prstGeom prst="ellipse">
            <a:avLst/>
          </a:prstGeom>
          <a:solidFill>
            <a:srgbClr val="B91C1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2176272"/>
            <a:ext cx="1828800" cy="219456"/>
          </a:xfrm>
          <a:prstGeom prst="rect">
            <a:avLst/>
          </a:prstGeom>
          <a:noFill/>
        </p:spPr>
        <p:txBody>
          <a:bodyPr wrap="square" lIns="0" rIns="0" tIns="0" bIns="0" anchor="t">
            <a:spAutoFit/>
          </a:bodyPr>
          <a:lstStyle/>
          <a:p>
            <a:pPr algn="ctr">
              <a:lnSpc>
                <a:spcPct val="115000"/>
              </a:lnSpc>
            </a:pPr>
            <a:r>
              <a:rPr sz="1000" b="1" i="0">
                <a:solidFill>
                  <a:srgbClr val="0F172A"/>
                </a:solidFill>
                <a:latin typeface="Aptos"/>
              </a:rPr>
              <a:t>06:23</a:t>
            </a:r>
          </a:p>
        </p:txBody>
      </p:sp>
      <p:sp>
        <p:nvSpPr>
          <p:cNvPr id="15" name="TextBox 14"/>
          <p:cNvSpPr txBox="1"/>
          <p:nvPr/>
        </p:nvSpPr>
        <p:spPr>
          <a:xfrm>
            <a:off x="5120640" y="2414016"/>
            <a:ext cx="2011680" cy="201168"/>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P1 raised</a:t>
            </a:r>
          </a:p>
        </p:txBody>
      </p:sp>
      <p:sp>
        <p:nvSpPr>
          <p:cNvPr id="16" name="Oval 15"/>
          <p:cNvSpPr/>
          <p:nvPr/>
        </p:nvSpPr>
        <p:spPr>
          <a:xfrm>
            <a:off x="8275319" y="2689250"/>
            <a:ext cx="128016" cy="128016"/>
          </a:xfrm>
          <a:prstGeom prst="ellipse">
            <a:avLst/>
          </a:prstGeom>
          <a:solidFill>
            <a:srgbClr val="B91C1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24927" y="2176272"/>
            <a:ext cx="1828800" cy="219456"/>
          </a:xfrm>
          <a:prstGeom prst="rect">
            <a:avLst/>
          </a:prstGeom>
          <a:noFill/>
        </p:spPr>
        <p:txBody>
          <a:bodyPr wrap="square" lIns="0" rIns="0" tIns="0" bIns="0" anchor="t">
            <a:spAutoFit/>
          </a:bodyPr>
          <a:lstStyle/>
          <a:p>
            <a:pPr algn="ctr">
              <a:lnSpc>
                <a:spcPct val="115000"/>
              </a:lnSpc>
            </a:pPr>
            <a:r>
              <a:rPr sz="1000" b="1" i="0">
                <a:solidFill>
                  <a:srgbClr val="0F172A"/>
                </a:solidFill>
                <a:latin typeface="Aptos"/>
              </a:rPr>
              <a:t>07:07</a:t>
            </a:r>
          </a:p>
        </p:txBody>
      </p:sp>
      <p:sp>
        <p:nvSpPr>
          <p:cNvPr id="18" name="TextBox 17"/>
          <p:cNvSpPr txBox="1"/>
          <p:nvPr/>
        </p:nvSpPr>
        <p:spPr>
          <a:xfrm>
            <a:off x="7333488" y="2414016"/>
            <a:ext cx="2011680" cy="201168"/>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42 faults / 30 min</a:t>
            </a:r>
          </a:p>
        </p:txBody>
      </p:sp>
      <p:sp>
        <p:nvSpPr>
          <p:cNvPr id="19" name="Oval 18"/>
          <p:cNvSpPr/>
          <p:nvPr/>
        </p:nvSpPr>
        <p:spPr>
          <a:xfrm>
            <a:off x="11091672" y="2689250"/>
            <a:ext cx="128016" cy="128016"/>
          </a:xfrm>
          <a:prstGeom prst="ellipse">
            <a:avLst/>
          </a:prstGeom>
          <a:solidFill>
            <a:srgbClr val="B91C1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0" y="2176272"/>
            <a:ext cx="1828800" cy="219456"/>
          </a:xfrm>
          <a:prstGeom prst="rect">
            <a:avLst/>
          </a:prstGeom>
          <a:noFill/>
        </p:spPr>
        <p:txBody>
          <a:bodyPr wrap="square" lIns="0" rIns="0" tIns="0" bIns="0" anchor="t">
            <a:spAutoFit/>
          </a:bodyPr>
          <a:lstStyle/>
          <a:p>
            <a:pPr algn="ctr">
              <a:lnSpc>
                <a:spcPct val="115000"/>
              </a:lnSpc>
            </a:pPr>
            <a:r>
              <a:rPr sz="1000" b="1" i="0">
                <a:solidFill>
                  <a:srgbClr val="0F172A"/>
                </a:solidFill>
                <a:latin typeface="Aptos"/>
              </a:rPr>
              <a:t>07:49</a:t>
            </a:r>
          </a:p>
        </p:txBody>
      </p:sp>
      <p:sp>
        <p:nvSpPr>
          <p:cNvPr id="21" name="TextBox 20"/>
          <p:cNvSpPr txBox="1"/>
          <p:nvPr/>
        </p:nvSpPr>
        <p:spPr>
          <a:xfrm>
            <a:off x="10149840" y="2414016"/>
            <a:ext cx="2011680" cy="201168"/>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console: 3 alerts, none this</a:t>
            </a:r>
          </a:p>
        </p:txBody>
      </p:sp>
      <p:sp>
        <p:nvSpPr>
          <p:cNvPr id="22" name="Rounded Rectangle 21"/>
          <p:cNvSpPr/>
          <p:nvPr/>
        </p:nvSpPr>
        <p:spPr>
          <a:xfrm>
            <a:off x="566928" y="3566160"/>
            <a:ext cx="11064240" cy="914400"/>
          </a:xfrm>
          <a:prstGeom prst="roundRect">
            <a:avLst>
              <a:gd name="adj" fmla="val 6000"/>
            </a:avLst>
          </a:prstGeom>
          <a:solidFill>
            <a:srgbClr val="FEF2F2"/>
          </a:solidFill>
          <a:ln w="952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 y="3712463"/>
            <a:ext cx="10607040" cy="219456"/>
          </a:xfrm>
          <a:prstGeom prst="rect">
            <a:avLst/>
          </a:prstGeom>
          <a:noFill/>
        </p:spPr>
        <p:txBody>
          <a:bodyPr wrap="square" lIns="0" rIns="0" tIns="0" bIns="0" anchor="t">
            <a:spAutoFit/>
          </a:bodyPr>
          <a:lstStyle/>
          <a:p>
            <a:pPr algn="l">
              <a:lnSpc>
                <a:spcPct val="115000"/>
              </a:lnSpc>
            </a:pPr>
            <a:r>
              <a:rPr sz="950" b="1" i="0">
                <a:solidFill>
                  <a:srgbClr val="B91C1C"/>
                </a:solidFill>
                <a:latin typeface="Aptos"/>
              </a:rPr>
              <a:t>THE FAULT — and it was in OUR database the whole time</a:t>
            </a:r>
          </a:p>
        </p:txBody>
      </p:sp>
      <p:sp>
        <p:nvSpPr>
          <p:cNvPr id="24" name="TextBox 23"/>
          <p:cNvSpPr txBox="1"/>
          <p:nvPr/>
        </p:nvSpPr>
        <p:spPr>
          <a:xfrm>
            <a:off x="841248" y="3986784"/>
            <a:ext cx="10607040" cy="411480"/>
          </a:xfrm>
          <a:prstGeom prst="rect">
            <a:avLst/>
          </a:prstGeom>
          <a:noFill/>
        </p:spPr>
        <p:txBody>
          <a:bodyPr wrap="square" lIns="0" rIns="0" tIns="0" bIns="0" anchor="t">
            <a:spAutoFit/>
          </a:bodyPr>
          <a:lstStyle/>
          <a:p>
            <a:pPr algn="l">
              <a:lnSpc>
                <a:spcPct val="120000"/>
              </a:lnSpc>
            </a:pPr>
            <a:r>
              <a:rPr sz="1000" b="0" i="0">
                <a:solidFill>
                  <a:srgbClr val="0F172A"/>
                </a:solidFill>
                <a:latin typeface="Consolas"/>
              </a:rPr>
              <a:t>{"responseCode":"1500","responseMessage":"unexpected XML tag … expected createSubscriptionTransactionResponse but found: …Fault"}</a:t>
            </a:r>
          </a:p>
        </p:txBody>
      </p:sp>
      <p:sp>
        <p:nvSpPr>
          <p:cNvPr id="25" name="TextBox 24"/>
          <p:cNvSpPr txBox="1"/>
          <p:nvPr/>
        </p:nvSpPr>
        <p:spPr>
          <a:xfrm>
            <a:off x="566928" y="4617720"/>
            <a:ext cx="320040" cy="274320"/>
          </a:xfrm>
          <a:prstGeom prst="rect">
            <a:avLst/>
          </a:prstGeom>
          <a:noFill/>
        </p:spPr>
        <p:txBody>
          <a:bodyPr wrap="square" lIns="0" rIns="0" tIns="0" bIns="0" anchor="t">
            <a:spAutoFit/>
          </a:bodyPr>
          <a:lstStyle/>
          <a:p>
            <a:pPr algn="l">
              <a:lnSpc>
                <a:spcPct val="115000"/>
              </a:lnSpc>
            </a:pPr>
            <a:r>
              <a:rPr sz="1200" b="1" i="0">
                <a:solidFill>
                  <a:srgbClr val="B91C1C"/>
                </a:solidFill>
                <a:latin typeface="Aptos"/>
              </a:rPr>
              <a:t>1.</a:t>
            </a:r>
          </a:p>
        </p:txBody>
      </p:sp>
      <p:sp>
        <p:nvSpPr>
          <p:cNvPr id="26" name="TextBox 25"/>
          <p:cNvSpPr txBox="1"/>
          <p:nvPr/>
        </p:nvSpPr>
        <p:spPr>
          <a:xfrm>
            <a:off x="932688" y="4617720"/>
            <a:ext cx="5120640" cy="274320"/>
          </a:xfrm>
          <a:prstGeom prst="rect">
            <a:avLst/>
          </a:prstGeom>
          <a:noFill/>
        </p:spPr>
        <p:txBody>
          <a:bodyPr wrap="square" lIns="0" rIns="0" tIns="0" bIns="0" anchor="t">
            <a:spAutoFit/>
          </a:bodyPr>
          <a:lstStyle/>
          <a:p>
            <a:pPr algn="l">
              <a:lnSpc>
                <a:spcPct val="115000"/>
              </a:lnSpc>
            </a:pPr>
            <a:r>
              <a:rPr sz="1150" b="1" i="0">
                <a:solidFill>
                  <a:srgbClr val="0F172A"/>
                </a:solidFill>
                <a:latin typeface="Aptos"/>
              </a:rPr>
              <a:t>No rule read the response code</a:t>
            </a:r>
          </a:p>
        </p:txBody>
      </p:sp>
      <p:sp>
        <p:nvSpPr>
          <p:cNvPr id="27" name="TextBox 26"/>
          <p:cNvSpPr txBox="1"/>
          <p:nvPr/>
        </p:nvSpPr>
        <p:spPr>
          <a:xfrm>
            <a:off x="6309360" y="4617720"/>
            <a:ext cx="5303520" cy="457200"/>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A code that is NEVER normal appeared 42 times in 30 minutes and nothing evaluated it.</a:t>
            </a:r>
          </a:p>
        </p:txBody>
      </p:sp>
      <p:sp>
        <p:nvSpPr>
          <p:cNvPr id="28" name="TextBox 27"/>
          <p:cNvSpPr txBox="1"/>
          <p:nvPr/>
        </p:nvSpPr>
        <p:spPr>
          <a:xfrm>
            <a:off x="566928" y="5184648"/>
            <a:ext cx="320040" cy="274320"/>
          </a:xfrm>
          <a:prstGeom prst="rect">
            <a:avLst/>
          </a:prstGeom>
          <a:noFill/>
        </p:spPr>
        <p:txBody>
          <a:bodyPr wrap="square" lIns="0" rIns="0" tIns="0" bIns="0" anchor="t">
            <a:spAutoFit/>
          </a:bodyPr>
          <a:lstStyle/>
          <a:p>
            <a:pPr algn="l">
              <a:lnSpc>
                <a:spcPct val="115000"/>
              </a:lnSpc>
            </a:pPr>
            <a:r>
              <a:rPr sz="1200" b="1" i="0">
                <a:solidFill>
                  <a:srgbClr val="B91C1C"/>
                </a:solidFill>
                <a:latin typeface="Aptos"/>
              </a:rPr>
              <a:t>2.</a:t>
            </a:r>
          </a:p>
        </p:txBody>
      </p:sp>
      <p:sp>
        <p:nvSpPr>
          <p:cNvPr id="29" name="TextBox 28"/>
          <p:cNvSpPr txBox="1"/>
          <p:nvPr/>
        </p:nvSpPr>
        <p:spPr>
          <a:xfrm>
            <a:off x="932688" y="5184648"/>
            <a:ext cx="5120640" cy="274320"/>
          </a:xfrm>
          <a:prstGeom prst="rect">
            <a:avLst/>
          </a:prstGeom>
          <a:noFill/>
        </p:spPr>
        <p:txBody>
          <a:bodyPr wrap="square" lIns="0" rIns="0" tIns="0" bIns="0" anchor="t">
            <a:spAutoFit/>
          </a:bodyPr>
          <a:lstStyle/>
          <a:p>
            <a:pPr algn="l">
              <a:lnSpc>
                <a:spcPct val="115000"/>
              </a:lnSpc>
            </a:pPr>
            <a:r>
              <a:rPr sz="1150" b="1" i="0">
                <a:solidFill>
                  <a:srgbClr val="0F172A"/>
                </a:solidFill>
                <a:latin typeface="Aptos"/>
              </a:rPr>
              <a:t>The one rule that could have seen it was gated out</a:t>
            </a:r>
          </a:p>
        </p:txBody>
      </p:sp>
      <p:sp>
        <p:nvSpPr>
          <p:cNvPr id="30" name="TextBox 29"/>
          <p:cNvSpPr txBox="1"/>
          <p:nvPr/>
        </p:nvSpPr>
        <p:spPr>
          <a:xfrm>
            <a:off x="6309360" y="5184648"/>
            <a:ext cx="5303520" cy="457200"/>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activation_fail_storm needs 70% on min_sample 20. Reality: 46% on n=13.</a:t>
            </a:r>
          </a:p>
        </p:txBody>
      </p:sp>
      <p:sp>
        <p:nvSpPr>
          <p:cNvPr id="31" name="TextBox 30"/>
          <p:cNvSpPr txBox="1"/>
          <p:nvPr/>
        </p:nvSpPr>
        <p:spPr>
          <a:xfrm>
            <a:off x="566928" y="5751576"/>
            <a:ext cx="320040" cy="274320"/>
          </a:xfrm>
          <a:prstGeom prst="rect">
            <a:avLst/>
          </a:prstGeom>
          <a:noFill/>
        </p:spPr>
        <p:txBody>
          <a:bodyPr wrap="square" lIns="0" rIns="0" tIns="0" bIns="0" anchor="t">
            <a:spAutoFit/>
          </a:bodyPr>
          <a:lstStyle/>
          <a:p>
            <a:pPr algn="l">
              <a:lnSpc>
                <a:spcPct val="115000"/>
              </a:lnSpc>
            </a:pPr>
            <a:r>
              <a:rPr sz="1200" b="1" i="0">
                <a:solidFill>
                  <a:srgbClr val="B91C1C"/>
                </a:solidFill>
                <a:latin typeface="Aptos"/>
              </a:rPr>
              <a:t>3.</a:t>
            </a:r>
          </a:p>
        </p:txBody>
      </p:sp>
      <p:sp>
        <p:nvSpPr>
          <p:cNvPr id="32" name="TextBox 31"/>
          <p:cNvSpPr txBox="1"/>
          <p:nvPr/>
        </p:nvSpPr>
        <p:spPr>
          <a:xfrm>
            <a:off x="932688" y="5751576"/>
            <a:ext cx="5120640" cy="274320"/>
          </a:xfrm>
          <a:prstGeom prst="rect">
            <a:avLst/>
          </a:prstGeom>
          <a:noFill/>
        </p:spPr>
        <p:txBody>
          <a:bodyPr wrap="square" lIns="0" rIns="0" tIns="0" bIns="0" anchor="t">
            <a:spAutoFit/>
          </a:bodyPr>
          <a:lstStyle/>
          <a:p>
            <a:pPr algn="l">
              <a:lnSpc>
                <a:spcPct val="115000"/>
              </a:lnSpc>
            </a:pPr>
            <a:r>
              <a:rPr sz="1150" b="1" i="0">
                <a:solidFill>
                  <a:srgbClr val="0F172A"/>
                </a:solidFill>
                <a:latin typeface="Aptos"/>
              </a:rPr>
              <a:t>And 70% was not a mistake</a:t>
            </a:r>
          </a:p>
        </p:txBody>
      </p:sp>
      <p:sp>
        <p:nvSpPr>
          <p:cNvPr id="33" name="TextBox 32"/>
          <p:cNvSpPr txBox="1"/>
          <p:nvPr/>
        </p:nvSpPr>
        <p:spPr>
          <a:xfrm>
            <a:off x="6309360" y="5751576"/>
            <a:ext cx="5303520" cy="457200"/>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That metric mixes BSS with Semati. The threshold HAD to clear Semati's noise — which made it structurally blind.</a:t>
            </a:r>
          </a:p>
        </p:txBody>
      </p:sp>
      <p:sp>
        <p:nvSpPr>
          <p:cNvPr id="34" name="Rounded Rectangle 33"/>
          <p:cNvSpPr/>
          <p:nvPr/>
        </p:nvSpPr>
        <p:spPr>
          <a:xfrm>
            <a:off x="566928" y="6336792"/>
            <a:ext cx="11064240" cy="411480"/>
          </a:xfrm>
          <a:prstGeom prst="roundRect">
            <a:avLst>
              <a:gd name="adj" fmla="val 6000"/>
            </a:avLst>
          </a:prstGeom>
          <a:solidFill>
            <a:srgbClr val="ECFDF3"/>
          </a:solidFill>
          <a:ln w="9525">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7" y="6336792"/>
            <a:ext cx="10515600" cy="411480"/>
          </a:xfrm>
          <a:prstGeom prst="rect">
            <a:avLst/>
          </a:prstGeom>
          <a:noFill/>
        </p:spPr>
        <p:txBody>
          <a:bodyPr wrap="square" lIns="0" rIns="0" tIns="0" bIns="0" anchor="ctr">
            <a:spAutoFit/>
          </a:bodyPr>
          <a:lstStyle/>
          <a:p>
            <a:pPr algn="l">
              <a:lnSpc>
                <a:spcPct val="115000"/>
              </a:lnSpc>
            </a:pPr>
            <a:r>
              <a:rPr sz="1150" b="0" i="0">
                <a:solidFill>
                  <a:srgbClr val="0F172A"/>
                </a:solidFill>
                <a:latin typeface="Aptos"/>
              </a:rPr>
              <a:t>Four new rules came out of this. Your job today: decide whether their thresholds are right.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7315200" cy="182880"/>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2.4B · THE FIX</a:t>
            </a:r>
          </a:p>
        </p:txBody>
      </p:sp>
      <p:sp>
        <p:nvSpPr>
          <p:cNvPr id="3" name="TextBox 2"/>
          <p:cNvSpPr txBox="1"/>
          <p:nvPr/>
        </p:nvSpPr>
        <p:spPr>
          <a:xfrm>
            <a:off x="566928" y="621792"/>
            <a:ext cx="10058400" cy="411480"/>
          </a:xfrm>
          <a:prstGeom prst="rect">
            <a:avLst/>
          </a:prstGeom>
          <a:noFill/>
        </p:spPr>
        <p:txBody>
          <a:bodyPr wrap="square" lIns="0" rIns="0" tIns="0" bIns="0" anchor="t">
            <a:spAutoFit/>
          </a:bodyPr>
          <a:lstStyle/>
          <a:p>
            <a:pPr algn="l">
              <a:lnSpc>
                <a:spcPct val="115000"/>
              </a:lnSpc>
            </a:pPr>
            <a:r>
              <a:rPr sz="2400" b="1" i="0">
                <a:solidFill>
                  <a:srgbClr val="0F172A"/>
                </a:solidFill>
                <a:latin typeface="Aptos"/>
              </a:rPr>
              <a:t>Four new rules — thresholds set by me, owned by you</a:t>
            </a:r>
          </a:p>
        </p:txBody>
      </p:sp>
      <p:sp>
        <p:nvSpPr>
          <p:cNvPr id="4" name="Rectangle 3"/>
          <p:cNvSpPr/>
          <p:nvPr/>
        </p:nvSpPr>
        <p:spPr>
          <a:xfrm>
            <a:off x="566928" y="1133856"/>
            <a:ext cx="64008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16736"/>
            <a:ext cx="11064240" cy="457200"/>
          </a:xfrm>
          <a:prstGeom prst="rect">
            <a:avLst/>
          </a:prstGeom>
          <a:noFill/>
        </p:spPr>
        <p:txBody>
          <a:bodyPr wrap="square" lIns="0" rIns="0" tIns="0" bIns="0" anchor="t">
            <a:spAutoFit/>
          </a:bodyPr>
          <a:lstStyle/>
          <a:p>
            <a:pPr algn="l">
              <a:lnSpc>
                <a:spcPct val="115000"/>
              </a:lnSpc>
            </a:pPr>
            <a:r>
              <a:rPr sz="1200" b="0" i="0">
                <a:solidFill>
                  <a:srgbClr val="64748B"/>
                </a:solidFill>
                <a:latin typeface="Aptos"/>
              </a:rPr>
              <a:t>I picked these numbers from one incident. You have seen hundreds. Change them.</a:t>
            </a:r>
          </a:p>
        </p:txBody>
      </p:sp>
      <p:sp>
        <p:nvSpPr>
          <p:cNvPr id="6" name="Rounded Rectangle 5"/>
          <p:cNvSpPr/>
          <p:nvPr/>
        </p:nvSpPr>
        <p:spPr>
          <a:xfrm>
            <a:off x="566928" y="2011680"/>
            <a:ext cx="11064240" cy="310896"/>
          </a:xfrm>
          <a:prstGeom prst="roundRect">
            <a:avLst>
              <a:gd name="adj" fmla="val 6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66544"/>
            <a:ext cx="2670048" cy="237744"/>
          </a:xfrm>
          <a:prstGeom prst="rect">
            <a:avLst/>
          </a:prstGeom>
          <a:noFill/>
        </p:spPr>
        <p:txBody>
          <a:bodyPr wrap="square" lIns="0" rIns="0" tIns="0" bIns="0" anchor="t">
            <a:spAutoFit/>
          </a:bodyPr>
          <a:lstStyle/>
          <a:p>
            <a:pPr algn="l">
              <a:lnSpc>
                <a:spcPct val="115000"/>
              </a:lnSpc>
            </a:pPr>
            <a:r>
              <a:rPr sz="1019" b="1" i="0">
                <a:solidFill>
                  <a:srgbClr val="0F172A"/>
                </a:solidFill>
                <a:latin typeface="Aptos"/>
              </a:rPr>
              <a:t>Rule</a:t>
            </a:r>
          </a:p>
        </p:txBody>
      </p:sp>
      <p:sp>
        <p:nvSpPr>
          <p:cNvPr id="8" name="TextBox 7"/>
          <p:cNvSpPr txBox="1"/>
          <p:nvPr/>
        </p:nvSpPr>
        <p:spPr>
          <a:xfrm>
            <a:off x="3520440" y="2066544"/>
            <a:ext cx="475488" cy="237744"/>
          </a:xfrm>
          <a:prstGeom prst="rect">
            <a:avLst/>
          </a:prstGeom>
          <a:noFill/>
        </p:spPr>
        <p:txBody>
          <a:bodyPr wrap="square" lIns="0" rIns="0" tIns="0" bIns="0" anchor="t">
            <a:spAutoFit/>
          </a:bodyPr>
          <a:lstStyle/>
          <a:p>
            <a:pPr algn="l">
              <a:lnSpc>
                <a:spcPct val="115000"/>
              </a:lnSpc>
            </a:pPr>
            <a:r>
              <a:rPr sz="1019" b="1" i="0">
                <a:solidFill>
                  <a:srgbClr val="0F172A"/>
                </a:solidFill>
                <a:latin typeface="Aptos"/>
              </a:rPr>
              <a:t>Sev</a:t>
            </a:r>
          </a:p>
        </p:txBody>
      </p:sp>
      <p:sp>
        <p:nvSpPr>
          <p:cNvPr id="9" name="TextBox 8"/>
          <p:cNvSpPr txBox="1"/>
          <p:nvPr/>
        </p:nvSpPr>
        <p:spPr>
          <a:xfrm>
            <a:off x="4160520" y="2066544"/>
            <a:ext cx="2578608" cy="237744"/>
          </a:xfrm>
          <a:prstGeom prst="rect">
            <a:avLst/>
          </a:prstGeom>
          <a:noFill/>
        </p:spPr>
        <p:txBody>
          <a:bodyPr wrap="square" lIns="0" rIns="0" tIns="0" bIns="0" anchor="t">
            <a:spAutoFit/>
          </a:bodyPr>
          <a:lstStyle/>
          <a:p>
            <a:pPr algn="l">
              <a:lnSpc>
                <a:spcPct val="115000"/>
              </a:lnSpc>
            </a:pPr>
            <a:r>
              <a:rPr sz="1019" b="1" i="0">
                <a:solidFill>
                  <a:srgbClr val="0F172A"/>
                </a:solidFill>
                <a:latin typeface="Aptos"/>
              </a:rPr>
              <a:t>Fires when</a:t>
            </a:r>
          </a:p>
        </p:txBody>
      </p:sp>
      <p:sp>
        <p:nvSpPr>
          <p:cNvPr id="10" name="TextBox 9"/>
          <p:cNvSpPr txBox="1"/>
          <p:nvPr/>
        </p:nvSpPr>
        <p:spPr>
          <a:xfrm>
            <a:off x="6903720" y="2066544"/>
            <a:ext cx="2944368" cy="237744"/>
          </a:xfrm>
          <a:prstGeom prst="rect">
            <a:avLst/>
          </a:prstGeom>
          <a:noFill/>
        </p:spPr>
        <p:txBody>
          <a:bodyPr wrap="square" lIns="0" rIns="0" tIns="0" bIns="0" anchor="t">
            <a:spAutoFit/>
          </a:bodyPr>
          <a:lstStyle/>
          <a:p>
            <a:pPr algn="l">
              <a:lnSpc>
                <a:spcPct val="115000"/>
              </a:lnSpc>
            </a:pPr>
            <a:r>
              <a:rPr sz="1019" b="1" i="0">
                <a:solidFill>
                  <a:srgbClr val="0F172A"/>
                </a:solidFill>
                <a:latin typeface="Aptos"/>
              </a:rPr>
              <a:t>Why this number</a:t>
            </a:r>
          </a:p>
        </p:txBody>
      </p:sp>
      <p:sp>
        <p:nvSpPr>
          <p:cNvPr id="11" name="TextBox 10"/>
          <p:cNvSpPr txBox="1"/>
          <p:nvPr/>
        </p:nvSpPr>
        <p:spPr>
          <a:xfrm>
            <a:off x="10012680" y="2066544"/>
            <a:ext cx="1572768" cy="237744"/>
          </a:xfrm>
          <a:prstGeom prst="rect">
            <a:avLst/>
          </a:prstGeom>
          <a:noFill/>
        </p:spPr>
        <p:txBody>
          <a:bodyPr wrap="square" lIns="0" rIns="0" tIns="0" bIns="0" anchor="t">
            <a:spAutoFit/>
          </a:bodyPr>
          <a:lstStyle/>
          <a:p>
            <a:pPr algn="l">
              <a:lnSpc>
                <a:spcPct val="115000"/>
              </a:lnSpc>
            </a:pPr>
            <a:r>
              <a:rPr sz="1019" b="1" i="0">
                <a:solidFill>
                  <a:srgbClr val="0F172A"/>
                </a:solidFill>
                <a:latin typeface="Aptos"/>
              </a:rPr>
              <a:t>Your call</a:t>
            </a:r>
          </a:p>
        </p:txBody>
      </p:sp>
      <p:sp>
        <p:nvSpPr>
          <p:cNvPr id="12" name="TextBox 11"/>
          <p:cNvSpPr txBox="1"/>
          <p:nvPr/>
        </p:nvSpPr>
        <p:spPr>
          <a:xfrm>
            <a:off x="685800" y="2377440"/>
            <a:ext cx="267004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bss_soap_fault_1500</a:t>
            </a:r>
          </a:p>
        </p:txBody>
      </p:sp>
      <p:sp>
        <p:nvSpPr>
          <p:cNvPr id="13" name="TextBox 12"/>
          <p:cNvSpPr txBox="1"/>
          <p:nvPr/>
        </p:nvSpPr>
        <p:spPr>
          <a:xfrm>
            <a:off x="3520440" y="2377440"/>
            <a:ext cx="47548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P1</a:t>
            </a:r>
          </a:p>
        </p:txBody>
      </p:sp>
      <p:sp>
        <p:nvSpPr>
          <p:cNvPr id="14" name="TextBox 13"/>
          <p:cNvSpPr txBox="1"/>
          <p:nvPr/>
        </p:nvSpPr>
        <p:spPr>
          <a:xfrm>
            <a:off x="4160520" y="2377440"/>
            <a:ext cx="25786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≥5 SOAP faults / 30 min</a:t>
            </a:r>
          </a:p>
        </p:txBody>
      </p:sp>
      <p:sp>
        <p:nvSpPr>
          <p:cNvPr id="15" name="TextBox 14"/>
          <p:cNvSpPr txBox="1"/>
          <p:nvPr/>
        </p:nvSpPr>
        <p:spPr>
          <a:xfrm>
            <a:off x="6903720" y="2377440"/>
            <a:ext cx="294436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the fault is never normal</a:t>
            </a:r>
          </a:p>
        </p:txBody>
      </p:sp>
      <p:sp>
        <p:nvSpPr>
          <p:cNvPr id="16" name="TextBox 15"/>
          <p:cNvSpPr txBox="1"/>
          <p:nvPr/>
        </p:nvSpPr>
        <p:spPr>
          <a:xfrm>
            <a:off x="10012680" y="2377440"/>
            <a:ext cx="157276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5 · 10 · 20?</a:t>
            </a:r>
          </a:p>
        </p:txBody>
      </p:sp>
      <p:sp>
        <p:nvSpPr>
          <p:cNvPr id="17" name="Rounded Rectangle 16"/>
          <p:cNvSpPr/>
          <p:nvPr/>
        </p:nvSpPr>
        <p:spPr>
          <a:xfrm>
            <a:off x="566928" y="2633472"/>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688336"/>
            <a:ext cx="267004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bss_degraded</a:t>
            </a:r>
          </a:p>
        </p:txBody>
      </p:sp>
      <p:sp>
        <p:nvSpPr>
          <p:cNvPr id="19" name="TextBox 18"/>
          <p:cNvSpPr txBox="1"/>
          <p:nvPr/>
        </p:nvSpPr>
        <p:spPr>
          <a:xfrm>
            <a:off x="3520440" y="2688336"/>
            <a:ext cx="47548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P2</a:t>
            </a:r>
          </a:p>
        </p:txBody>
      </p:sp>
      <p:sp>
        <p:nvSpPr>
          <p:cNvPr id="20" name="TextBox 19"/>
          <p:cNvSpPr txBox="1"/>
          <p:nvPr/>
        </p:nvSpPr>
        <p:spPr>
          <a:xfrm>
            <a:off x="4160520" y="2688336"/>
            <a:ext cx="25786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≥25% BSS failure / 1h</a:t>
            </a:r>
          </a:p>
        </p:txBody>
      </p:sp>
      <p:sp>
        <p:nvSpPr>
          <p:cNvPr id="21" name="TextBox 20"/>
          <p:cNvSpPr txBox="1"/>
          <p:nvPr/>
        </p:nvSpPr>
        <p:spPr>
          <a:xfrm>
            <a:off x="6903720" y="2688336"/>
            <a:ext cx="294436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clean baseline once Semati excluded</a:t>
            </a:r>
          </a:p>
        </p:txBody>
      </p:sp>
      <p:sp>
        <p:nvSpPr>
          <p:cNvPr id="22" name="TextBox 21"/>
          <p:cNvSpPr txBox="1"/>
          <p:nvPr/>
        </p:nvSpPr>
        <p:spPr>
          <a:xfrm>
            <a:off x="10012680" y="2688336"/>
            <a:ext cx="157276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25% right?</a:t>
            </a:r>
          </a:p>
        </p:txBody>
      </p:sp>
      <p:sp>
        <p:nvSpPr>
          <p:cNvPr id="23" name="TextBox 22"/>
          <p:cNvSpPr txBox="1"/>
          <p:nvPr/>
        </p:nvSpPr>
        <p:spPr>
          <a:xfrm>
            <a:off x="685800" y="2999232"/>
            <a:ext cx="267004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bss_fail_burst</a:t>
            </a:r>
          </a:p>
        </p:txBody>
      </p:sp>
      <p:sp>
        <p:nvSpPr>
          <p:cNvPr id="24" name="TextBox 23"/>
          <p:cNvSpPr txBox="1"/>
          <p:nvPr/>
        </p:nvSpPr>
        <p:spPr>
          <a:xfrm>
            <a:off x="3520440" y="2999232"/>
            <a:ext cx="47548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P2</a:t>
            </a:r>
          </a:p>
        </p:txBody>
      </p:sp>
      <p:sp>
        <p:nvSpPr>
          <p:cNvPr id="25" name="TextBox 24"/>
          <p:cNvSpPr txBox="1"/>
          <p:nvPr/>
        </p:nvSpPr>
        <p:spPr>
          <a:xfrm>
            <a:off x="4160520" y="2999232"/>
            <a:ext cx="25786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≥6 BSS failures / 30 min</a:t>
            </a:r>
          </a:p>
        </p:txBody>
      </p:sp>
      <p:sp>
        <p:nvSpPr>
          <p:cNvPr id="26" name="TextBox 25"/>
          <p:cNvSpPr txBox="1"/>
          <p:nvPr/>
        </p:nvSpPr>
        <p:spPr>
          <a:xfrm>
            <a:off x="6903720" y="2999232"/>
            <a:ext cx="294436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counts, so low volume still alerts</a:t>
            </a:r>
          </a:p>
        </p:txBody>
      </p:sp>
      <p:sp>
        <p:nvSpPr>
          <p:cNvPr id="27" name="TextBox 26"/>
          <p:cNvSpPr txBox="1"/>
          <p:nvPr/>
        </p:nvSpPr>
        <p:spPr>
          <a:xfrm>
            <a:off x="10012680" y="2999232"/>
            <a:ext cx="157276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6 · 10?</a:t>
            </a:r>
          </a:p>
        </p:txBody>
      </p:sp>
      <p:sp>
        <p:nvSpPr>
          <p:cNvPr id="28" name="Rounded Rectangle 27"/>
          <p:cNvSpPr/>
          <p:nvPr/>
        </p:nvSpPr>
        <p:spPr>
          <a:xfrm>
            <a:off x="566928" y="3255264"/>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3310128"/>
            <a:ext cx="267004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bss_error_dominant</a:t>
            </a:r>
          </a:p>
        </p:txBody>
      </p:sp>
      <p:sp>
        <p:nvSpPr>
          <p:cNvPr id="30" name="TextBox 29"/>
          <p:cNvSpPr txBox="1"/>
          <p:nvPr/>
        </p:nvSpPr>
        <p:spPr>
          <a:xfrm>
            <a:off x="3520440" y="3310128"/>
            <a:ext cx="47548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P3</a:t>
            </a:r>
          </a:p>
        </p:txBody>
      </p:sp>
      <p:sp>
        <p:nvSpPr>
          <p:cNvPr id="31" name="TextBox 30"/>
          <p:cNvSpPr txBox="1"/>
          <p:nvPr/>
        </p:nvSpPr>
        <p:spPr>
          <a:xfrm>
            <a:off x="4160520" y="3310128"/>
            <a:ext cx="257860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one code ≥60% of failures</a:t>
            </a:r>
          </a:p>
        </p:txBody>
      </p:sp>
      <p:sp>
        <p:nvSpPr>
          <p:cNvPr id="32" name="TextBox 31"/>
          <p:cNvSpPr txBox="1"/>
          <p:nvPr/>
        </p:nvSpPr>
        <p:spPr>
          <a:xfrm>
            <a:off x="6903720" y="3310128"/>
            <a:ext cx="294436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one code = upstream fault</a:t>
            </a:r>
          </a:p>
        </p:txBody>
      </p:sp>
      <p:sp>
        <p:nvSpPr>
          <p:cNvPr id="33" name="TextBox 32"/>
          <p:cNvSpPr txBox="1"/>
          <p:nvPr/>
        </p:nvSpPr>
        <p:spPr>
          <a:xfrm>
            <a:off x="10012680" y="3310128"/>
            <a:ext cx="1572768" cy="237744"/>
          </a:xfrm>
          <a:prstGeom prst="rect">
            <a:avLst/>
          </a:prstGeom>
          <a:noFill/>
        </p:spPr>
        <p:txBody>
          <a:bodyPr wrap="square" lIns="0" rIns="0" tIns="0" bIns="0" anchor="t">
            <a:spAutoFit/>
          </a:bodyPr>
          <a:lstStyle/>
          <a:p>
            <a:pPr algn="l">
              <a:lnSpc>
                <a:spcPct val="115000"/>
              </a:lnSpc>
            </a:pPr>
            <a:r>
              <a:rPr sz="1019" b="0" i="0">
                <a:solidFill>
                  <a:srgbClr val="334155"/>
                </a:solidFill>
                <a:latin typeface="Aptos"/>
              </a:rPr>
              <a:t>60% right?</a:t>
            </a:r>
          </a:p>
        </p:txBody>
      </p:sp>
      <p:sp>
        <p:nvSpPr>
          <p:cNvPr id="34" name="Rounded Rectangle 33"/>
          <p:cNvSpPr/>
          <p:nvPr/>
        </p:nvSpPr>
        <p:spPr>
          <a:xfrm>
            <a:off x="566928" y="4114800"/>
            <a:ext cx="11064240" cy="1234440"/>
          </a:xfrm>
          <a:prstGeom prst="roundRect">
            <a:avLst>
              <a:gd name="adj" fmla="val 6000"/>
            </a:avLst>
          </a:prstGeom>
          <a:solidFill>
            <a:srgbClr val="ECFDF3"/>
          </a:solidFill>
          <a:ln w="9525">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8" y="4279392"/>
            <a:ext cx="10607040" cy="237744"/>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THE DESIGN DECISION WORTH ARGUING WITH</a:t>
            </a:r>
          </a:p>
        </p:txBody>
      </p:sp>
      <p:sp>
        <p:nvSpPr>
          <p:cNvPr id="36" name="TextBox 35"/>
          <p:cNvSpPr txBox="1"/>
          <p:nvPr/>
        </p:nvSpPr>
        <p:spPr>
          <a:xfrm>
            <a:off x="841248" y="4553712"/>
            <a:ext cx="10607040" cy="685800"/>
          </a:xfrm>
          <a:prstGeom prst="rect">
            <a:avLst/>
          </a:prstGeom>
          <a:noFill/>
        </p:spPr>
        <p:txBody>
          <a:bodyPr wrap="square" lIns="0" rIns="0" tIns="0" bIns="0" anchor="t">
            <a:spAutoFit/>
          </a:bodyPr>
          <a:lstStyle/>
          <a:p>
            <a:pPr algn="l">
              <a:lnSpc>
                <a:spcPct val="125000"/>
              </a:lnSpc>
            </a:pPr>
            <a:r>
              <a:rPr sz="1150" b="0" i="0">
                <a:solidFill>
                  <a:srgbClr val="334155"/>
                </a:solidFill>
                <a:latin typeface="Aptos"/>
              </a:rPr>
              <a:t>bss_fail_burst COUNTS failures instead of rating them. A rate needs a denominator, and at 07:00 KSA the denominator was 13 — every rate rule sat the incident out. A count has nothing to be starved of: six failures is six failures at 03:00 and at 13:00 alike.</a:t>
            </a:r>
          </a:p>
        </p:txBody>
      </p:sp>
      <p:sp>
        <p:nvSpPr>
          <p:cNvPr id="37" name="Rounded Rectangle 36"/>
          <p:cNvSpPr/>
          <p:nvPr/>
        </p:nvSpPr>
        <p:spPr>
          <a:xfrm>
            <a:off x="566928" y="5532120"/>
            <a:ext cx="11064240" cy="1051560"/>
          </a:xfrm>
          <a:prstGeom prst="roundRect">
            <a:avLst>
              <a:gd name="adj" fmla="val 6000"/>
            </a:avLst>
          </a:prstGeom>
          <a:solidFill>
            <a:srgbClr val="FFFBEB"/>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650992"/>
            <a:ext cx="5387644" cy="201168"/>
          </a:xfrm>
          <a:prstGeom prst="rect">
            <a:avLst/>
          </a:prstGeom>
          <a:noFill/>
        </p:spPr>
        <p:txBody>
          <a:bodyPr wrap="square" lIns="0" rIns="0" tIns="0" bIns="0" anchor="t">
            <a:spAutoFit/>
          </a:bodyPr>
          <a:lstStyle/>
          <a:p>
            <a:pPr algn="l">
              <a:lnSpc>
                <a:spcPct val="115000"/>
              </a:lnSpc>
            </a:pPr>
            <a:r>
              <a:rPr sz="900" b="1" i="0">
                <a:solidFill>
                  <a:srgbClr val="B45309"/>
                </a:solidFill>
                <a:latin typeface="Aptos"/>
              </a:rPr>
              <a:t>DECISION</a:t>
            </a:r>
          </a:p>
        </p:txBody>
      </p:sp>
      <p:sp>
        <p:nvSpPr>
          <p:cNvPr id="39" name="TextBox 38"/>
          <p:cNvSpPr txBox="1"/>
          <p:nvPr/>
        </p:nvSpPr>
        <p:spPr>
          <a:xfrm>
            <a:off x="822960" y="5861304"/>
            <a:ext cx="5387644" cy="612647"/>
          </a:xfrm>
          <a:prstGeom prst="rect">
            <a:avLst/>
          </a:prstGeom>
          <a:noFill/>
        </p:spPr>
        <p:txBody>
          <a:bodyPr wrap="square" lIns="0" rIns="0" tIns="0" bIns="0" anchor="t">
            <a:spAutoFit/>
          </a:bodyPr>
          <a:lstStyle/>
          <a:p>
            <a:pPr algn="l">
              <a:lnSpc>
                <a:spcPct val="115000"/>
              </a:lnSpc>
            </a:pPr>
            <a:r>
              <a:rPr sz="1250" b="1" i="0">
                <a:solidFill>
                  <a:srgbClr val="0F172A"/>
                </a:solidFill>
                <a:latin typeface="Aptos"/>
              </a:rPr>
              <a:t>Are these four thresholds right for how the platform actually behaves?</a:t>
            </a:r>
          </a:p>
        </p:txBody>
      </p:sp>
      <p:sp>
        <p:nvSpPr>
          <p:cNvPr id="40" name="Rounded Rectangle 39"/>
          <p:cNvSpPr/>
          <p:nvPr/>
        </p:nvSpPr>
        <p:spPr>
          <a:xfrm>
            <a:off x="6320332" y="5856731"/>
            <a:ext cx="1599590" cy="402336"/>
          </a:xfrm>
          <a:prstGeom prst="roundRect">
            <a:avLst>
              <a:gd name="adj" fmla="val 6000"/>
            </a:avLst>
          </a:prstGeom>
          <a:solidFill>
            <a:srgbClr val="FFFFFF"/>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75196" y="5856731"/>
            <a:ext cx="1489862" cy="402336"/>
          </a:xfrm>
          <a:prstGeom prst="rect">
            <a:avLst/>
          </a:prstGeom>
          <a:noFill/>
        </p:spPr>
        <p:txBody>
          <a:bodyPr wrap="square" lIns="0" rIns="0" tIns="0" bIns="0" anchor="ctr">
            <a:spAutoFit/>
          </a:bodyPr>
          <a:lstStyle/>
          <a:p>
            <a:pPr algn="ctr">
              <a:lnSpc>
                <a:spcPct val="115000"/>
              </a:lnSpc>
            </a:pPr>
            <a:r>
              <a:rPr sz="1000" b="1" i="0">
                <a:solidFill>
                  <a:srgbClr val="B45309"/>
                </a:solidFill>
                <a:latin typeface="Aptos"/>
              </a:rPr>
              <a:t>Accept as-is</a:t>
            </a:r>
          </a:p>
        </p:txBody>
      </p:sp>
      <p:sp>
        <p:nvSpPr>
          <p:cNvPr id="42" name="Rounded Rectangle 41"/>
          <p:cNvSpPr/>
          <p:nvPr/>
        </p:nvSpPr>
        <p:spPr>
          <a:xfrm>
            <a:off x="8047939" y="5856731"/>
            <a:ext cx="1599590" cy="402336"/>
          </a:xfrm>
          <a:prstGeom prst="roundRect">
            <a:avLst>
              <a:gd name="adj" fmla="val 6000"/>
            </a:avLst>
          </a:prstGeom>
          <a:solidFill>
            <a:srgbClr val="FFFFFF"/>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02803" y="5856731"/>
            <a:ext cx="1489862" cy="402336"/>
          </a:xfrm>
          <a:prstGeom prst="rect">
            <a:avLst/>
          </a:prstGeom>
          <a:noFill/>
        </p:spPr>
        <p:txBody>
          <a:bodyPr wrap="square" lIns="0" rIns="0" tIns="0" bIns="0" anchor="ctr">
            <a:spAutoFit/>
          </a:bodyPr>
          <a:lstStyle/>
          <a:p>
            <a:pPr algn="ctr">
              <a:lnSpc>
                <a:spcPct val="115000"/>
              </a:lnSpc>
            </a:pPr>
            <a:r>
              <a:rPr sz="1000" b="1" i="0">
                <a:solidFill>
                  <a:srgbClr val="B45309"/>
                </a:solidFill>
                <a:latin typeface="Aptos"/>
              </a:rPr>
              <a:t>Adjust today</a:t>
            </a:r>
          </a:p>
        </p:txBody>
      </p:sp>
      <p:sp>
        <p:nvSpPr>
          <p:cNvPr id="44" name="Rounded Rectangle 43"/>
          <p:cNvSpPr/>
          <p:nvPr/>
        </p:nvSpPr>
        <p:spPr>
          <a:xfrm>
            <a:off x="9775545" y="5856731"/>
            <a:ext cx="1599590" cy="402336"/>
          </a:xfrm>
          <a:prstGeom prst="roundRect">
            <a:avLst>
              <a:gd name="adj" fmla="val 6000"/>
            </a:avLst>
          </a:prstGeom>
          <a:solidFill>
            <a:srgbClr val="FFFFFF"/>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830409" y="5856731"/>
            <a:ext cx="1489862" cy="402336"/>
          </a:xfrm>
          <a:prstGeom prst="rect">
            <a:avLst/>
          </a:prstGeom>
          <a:noFill/>
        </p:spPr>
        <p:txBody>
          <a:bodyPr wrap="square" lIns="0" rIns="0" tIns="0" bIns="0" anchor="ctr">
            <a:spAutoFit/>
          </a:bodyPr>
          <a:lstStyle/>
          <a:p>
            <a:pPr algn="ctr">
              <a:lnSpc>
                <a:spcPct val="115000"/>
              </a:lnSpc>
            </a:pPr>
            <a:r>
              <a:rPr sz="1000" b="1" i="0">
                <a:solidFill>
                  <a:srgbClr val="B45309"/>
                </a:solidFill>
                <a:latin typeface="Aptos"/>
              </a:rPr>
              <a:t>Watch a week, then decide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7315200" cy="182880"/>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2.5 · CORRELATION, ESCALATION, SLA</a:t>
            </a:r>
          </a:p>
        </p:txBody>
      </p:sp>
      <p:sp>
        <p:nvSpPr>
          <p:cNvPr id="3" name="TextBox 2"/>
          <p:cNvSpPr txBox="1"/>
          <p:nvPr/>
        </p:nvSpPr>
        <p:spPr>
          <a:xfrm>
            <a:off x="566928" y="621792"/>
            <a:ext cx="10058400" cy="411480"/>
          </a:xfrm>
          <a:prstGeom prst="rect">
            <a:avLst/>
          </a:prstGeom>
          <a:noFill/>
        </p:spPr>
        <p:txBody>
          <a:bodyPr wrap="square" lIns="0" rIns="0" tIns="0" bIns="0" anchor="t">
            <a:spAutoFit/>
          </a:bodyPr>
          <a:lstStyle/>
          <a:p>
            <a:pPr algn="l">
              <a:lnSpc>
                <a:spcPct val="115000"/>
              </a:lnSpc>
            </a:pPr>
            <a:r>
              <a:rPr sz="2400" b="1" i="0">
                <a:solidFill>
                  <a:srgbClr val="0F172A"/>
                </a:solidFill>
                <a:latin typeface="Aptos"/>
              </a:rPr>
              <a:t>One outage should page once</a:t>
            </a:r>
          </a:p>
        </p:txBody>
      </p:sp>
      <p:sp>
        <p:nvSpPr>
          <p:cNvPr id="4" name="Rectangle 3"/>
          <p:cNvSpPr/>
          <p:nvPr/>
        </p:nvSpPr>
        <p:spPr>
          <a:xfrm>
            <a:off x="566928" y="1133856"/>
            <a:ext cx="64008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16736"/>
            <a:ext cx="11064240" cy="457200"/>
          </a:xfrm>
          <a:prstGeom prst="rect">
            <a:avLst/>
          </a:prstGeom>
          <a:noFill/>
        </p:spPr>
        <p:txBody>
          <a:bodyPr wrap="square" lIns="0" rIns="0" tIns="0" bIns="0" anchor="t">
            <a:spAutoFit/>
          </a:bodyPr>
          <a:lstStyle/>
          <a:p>
            <a:pPr algn="l">
              <a:lnSpc>
                <a:spcPct val="115000"/>
              </a:lnSpc>
            </a:pPr>
            <a:r>
              <a:rPr sz="1200" b="0" i="0">
                <a:solidFill>
                  <a:srgbClr val="64748B"/>
                </a:solidFill>
                <a:latin typeface="Aptos"/>
              </a:rPr>
              <a:t>And when it pages, the ladder should climb without anyone remembering to climb it.</a:t>
            </a:r>
          </a:p>
        </p:txBody>
      </p:sp>
      <p:sp>
        <p:nvSpPr>
          <p:cNvPr id="6" name="Rounded Rectangle 5"/>
          <p:cNvSpPr/>
          <p:nvPr/>
        </p:nvSpPr>
        <p:spPr>
          <a:xfrm>
            <a:off x="822960" y="2286000"/>
            <a:ext cx="2377440" cy="822960"/>
          </a:xfrm>
          <a:prstGeom prst="roundRect">
            <a:avLst>
              <a:gd name="adj" fmla="val 6000"/>
            </a:avLst>
          </a:prstGeom>
          <a:solidFill>
            <a:srgbClr val="FEF2F2"/>
          </a:solidFill>
          <a:ln w="1397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441448"/>
            <a:ext cx="2377440" cy="237744"/>
          </a:xfrm>
          <a:prstGeom prst="rect">
            <a:avLst/>
          </a:prstGeom>
          <a:noFill/>
        </p:spPr>
        <p:txBody>
          <a:bodyPr wrap="square" lIns="0" rIns="0" tIns="0" bIns="0" anchor="t">
            <a:spAutoFit/>
          </a:bodyPr>
          <a:lstStyle/>
          <a:p>
            <a:pPr algn="ctr">
              <a:lnSpc>
                <a:spcPct val="115000"/>
              </a:lnSpc>
            </a:pPr>
            <a:r>
              <a:rPr sz="1100" b="1" i="0">
                <a:solidFill>
                  <a:srgbClr val="B91C1C"/>
                </a:solidFill>
                <a:latin typeface="Aptos"/>
              </a:rPr>
              <a:t>Semati down</a:t>
            </a:r>
          </a:p>
        </p:txBody>
      </p:sp>
      <p:sp>
        <p:nvSpPr>
          <p:cNvPr id="8" name="TextBox 7"/>
          <p:cNvSpPr txBox="1"/>
          <p:nvPr/>
        </p:nvSpPr>
        <p:spPr>
          <a:xfrm>
            <a:off x="822960" y="2706624"/>
            <a:ext cx="2377440" cy="219456"/>
          </a:xfrm>
          <a:prstGeom prst="rect">
            <a:avLst/>
          </a:prstGeom>
          <a:noFill/>
        </p:spPr>
        <p:txBody>
          <a:bodyPr wrap="square" lIns="0" rIns="0" tIns="0" bIns="0" anchor="t">
            <a:spAutoFit/>
          </a:bodyPr>
          <a:lstStyle/>
          <a:p>
            <a:pPr algn="ctr">
              <a:lnSpc>
                <a:spcPct val="115000"/>
              </a:lnSpc>
            </a:pPr>
            <a:r>
              <a:rPr sz="850" b="0" i="0">
                <a:solidFill>
                  <a:srgbClr val="64748B"/>
                </a:solidFill>
                <a:latin typeface="Aptos"/>
              </a:rPr>
              <a:t>root cause</a:t>
            </a:r>
          </a:p>
        </p:txBody>
      </p:sp>
      <p:sp>
        <p:nvSpPr>
          <p:cNvPr id="9" name="Rounded Rectangle 8"/>
          <p:cNvSpPr/>
          <p:nvPr/>
        </p:nvSpPr>
        <p:spPr>
          <a:xfrm>
            <a:off x="4937760" y="1965960"/>
            <a:ext cx="2651760" cy="457200"/>
          </a:xfrm>
          <a:prstGeom prst="roundRect">
            <a:avLst>
              <a:gd name="adj" fmla="val 6000"/>
            </a:avLst>
          </a:prstGeom>
          <a:solidFill>
            <a:srgbClr val="F8FAFC"/>
          </a:solidFill>
          <a:ln w="1397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0" y="2075688"/>
            <a:ext cx="2651760" cy="237744"/>
          </a:xfrm>
          <a:prstGeom prst="rect">
            <a:avLst/>
          </a:prstGeom>
          <a:noFill/>
        </p:spPr>
        <p:txBody>
          <a:bodyPr wrap="square" lIns="0" rIns="0" tIns="0" bIns="0" anchor="ctr">
            <a:spAutoFit/>
          </a:bodyPr>
          <a:lstStyle/>
          <a:p>
            <a:pPr algn="ctr">
              <a:lnSpc>
                <a:spcPct val="115000"/>
              </a:lnSpc>
            </a:pPr>
            <a:r>
              <a:rPr sz="950" b="1" i="0">
                <a:solidFill>
                  <a:srgbClr val="0F172A"/>
                </a:solidFill>
                <a:latin typeface="Aptos"/>
              </a:rPr>
              <a:t>eligibility fail</a:t>
            </a:r>
          </a:p>
        </p:txBody>
      </p:sp>
      <p:cxnSp>
        <p:nvCxnSpPr>
          <p:cNvPr id="11" name="Connector 10"/>
          <p:cNvCxnSpPr/>
          <p:nvPr/>
        </p:nvCxnSpPr>
        <p:spPr>
          <a:xfrm flipV="1">
            <a:off x="3246120" y="2194560"/>
            <a:ext cx="1645920" cy="502920"/>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937760" y="2532888"/>
            <a:ext cx="2651760" cy="457200"/>
          </a:xfrm>
          <a:prstGeom prst="roundRect">
            <a:avLst>
              <a:gd name="adj" fmla="val 6000"/>
            </a:avLst>
          </a:prstGeom>
          <a:solidFill>
            <a:srgbClr val="F8FAFC"/>
          </a:solidFill>
          <a:ln w="1397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37760" y="2642616"/>
            <a:ext cx="2651760" cy="237744"/>
          </a:xfrm>
          <a:prstGeom prst="rect">
            <a:avLst/>
          </a:prstGeom>
          <a:noFill/>
        </p:spPr>
        <p:txBody>
          <a:bodyPr wrap="square" lIns="0" rIns="0" tIns="0" bIns="0" anchor="ctr">
            <a:spAutoFit/>
          </a:bodyPr>
          <a:lstStyle/>
          <a:p>
            <a:pPr algn="ctr">
              <a:lnSpc>
                <a:spcPct val="115000"/>
              </a:lnSpc>
            </a:pPr>
            <a:r>
              <a:rPr sz="950" b="1" i="0">
                <a:solidFill>
                  <a:srgbClr val="0F172A"/>
                </a:solidFill>
                <a:latin typeface="Aptos"/>
              </a:rPr>
              <a:t>activation fail</a:t>
            </a:r>
          </a:p>
        </p:txBody>
      </p:sp>
      <p:cxnSp>
        <p:nvCxnSpPr>
          <p:cNvPr id="14" name="Connector 13"/>
          <p:cNvCxnSpPr/>
          <p:nvPr/>
        </p:nvCxnSpPr>
        <p:spPr>
          <a:xfrm>
            <a:off x="3246120" y="2697480"/>
            <a:ext cx="1645920" cy="64008"/>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60" y="3099815"/>
            <a:ext cx="2651760" cy="457200"/>
          </a:xfrm>
          <a:prstGeom prst="roundRect">
            <a:avLst>
              <a:gd name="adj" fmla="val 6000"/>
            </a:avLst>
          </a:prstGeom>
          <a:solidFill>
            <a:srgbClr val="F8FAFC"/>
          </a:solidFill>
          <a:ln w="1397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37760" y="3209544"/>
            <a:ext cx="2651760" cy="237744"/>
          </a:xfrm>
          <a:prstGeom prst="rect">
            <a:avLst/>
          </a:prstGeom>
          <a:noFill/>
        </p:spPr>
        <p:txBody>
          <a:bodyPr wrap="square" lIns="0" rIns="0" tIns="0" bIns="0" anchor="ctr">
            <a:spAutoFit/>
          </a:bodyPr>
          <a:lstStyle/>
          <a:p>
            <a:pPr algn="ctr">
              <a:lnSpc>
                <a:spcPct val="115000"/>
              </a:lnSpc>
            </a:pPr>
            <a:r>
              <a:rPr sz="950" b="1" i="0">
                <a:solidFill>
                  <a:srgbClr val="0F172A"/>
                </a:solidFill>
                <a:latin typeface="Aptos"/>
              </a:rPr>
              <a:t>MNP blocked</a:t>
            </a:r>
          </a:p>
        </p:txBody>
      </p:sp>
      <p:cxnSp>
        <p:nvCxnSpPr>
          <p:cNvPr id="17" name="Connector 16"/>
          <p:cNvCxnSpPr/>
          <p:nvPr/>
        </p:nvCxnSpPr>
        <p:spPr>
          <a:xfrm>
            <a:off x="3246120" y="2697480"/>
            <a:ext cx="1645920" cy="630935"/>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937760" y="3666744"/>
            <a:ext cx="2651760" cy="457200"/>
          </a:xfrm>
          <a:prstGeom prst="roundRect">
            <a:avLst>
              <a:gd name="adj" fmla="val 6000"/>
            </a:avLst>
          </a:prstGeom>
          <a:solidFill>
            <a:srgbClr val="F8FAFC"/>
          </a:solidFill>
          <a:ln w="1397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0" y="3776472"/>
            <a:ext cx="2651760" cy="237744"/>
          </a:xfrm>
          <a:prstGeom prst="rect">
            <a:avLst/>
          </a:prstGeom>
          <a:noFill/>
        </p:spPr>
        <p:txBody>
          <a:bodyPr wrap="square" lIns="0" rIns="0" tIns="0" bIns="0" anchor="ctr">
            <a:spAutoFit/>
          </a:bodyPr>
          <a:lstStyle/>
          <a:p>
            <a:pPr algn="ctr">
              <a:lnSpc>
                <a:spcPct val="115000"/>
              </a:lnSpc>
            </a:pPr>
            <a:r>
              <a:rPr sz="950" b="1" i="0">
                <a:solidFill>
                  <a:srgbClr val="0F172A"/>
                </a:solidFill>
                <a:latin typeface="Aptos"/>
              </a:rPr>
              <a:t>change plan</a:t>
            </a:r>
          </a:p>
        </p:txBody>
      </p:sp>
      <p:cxnSp>
        <p:nvCxnSpPr>
          <p:cNvPr id="20" name="Connector 19"/>
          <p:cNvCxnSpPr/>
          <p:nvPr/>
        </p:nvCxnSpPr>
        <p:spPr>
          <a:xfrm>
            <a:off x="3246120" y="2697480"/>
            <a:ext cx="1645920" cy="1197864"/>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937760" y="4233672"/>
            <a:ext cx="2651760" cy="457200"/>
          </a:xfrm>
          <a:prstGeom prst="roundRect">
            <a:avLst>
              <a:gd name="adj" fmla="val 6000"/>
            </a:avLst>
          </a:prstGeom>
          <a:solidFill>
            <a:srgbClr val="F8FAFC"/>
          </a:solidFill>
          <a:ln w="1397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0" y="4343400"/>
            <a:ext cx="2651760" cy="237744"/>
          </a:xfrm>
          <a:prstGeom prst="rect">
            <a:avLst/>
          </a:prstGeom>
          <a:noFill/>
        </p:spPr>
        <p:txBody>
          <a:bodyPr wrap="square" lIns="0" rIns="0" tIns="0" bIns="0" anchor="ctr">
            <a:spAutoFit/>
          </a:bodyPr>
          <a:lstStyle/>
          <a:p>
            <a:pPr algn="ctr">
              <a:lnSpc>
                <a:spcPct val="115000"/>
              </a:lnSpc>
            </a:pPr>
            <a:r>
              <a:rPr sz="950" b="1" i="0">
                <a:solidFill>
                  <a:srgbClr val="0F172A"/>
                </a:solidFill>
                <a:latin typeface="Aptos"/>
              </a:rPr>
              <a:t>SIM swap</a:t>
            </a:r>
          </a:p>
        </p:txBody>
      </p:sp>
      <p:cxnSp>
        <p:nvCxnSpPr>
          <p:cNvPr id="23" name="Connector 22"/>
          <p:cNvCxnSpPr/>
          <p:nvPr/>
        </p:nvCxnSpPr>
        <p:spPr>
          <a:xfrm>
            <a:off x="3246120" y="2697480"/>
            <a:ext cx="1645920" cy="1764792"/>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60" y="4800600"/>
            <a:ext cx="2651760" cy="457200"/>
          </a:xfrm>
          <a:prstGeom prst="roundRect">
            <a:avLst>
              <a:gd name="adj" fmla="val 6000"/>
            </a:avLst>
          </a:prstGeom>
          <a:solidFill>
            <a:srgbClr val="F8FAFC"/>
          </a:solidFill>
          <a:ln w="1397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37760" y="4910328"/>
            <a:ext cx="2651760" cy="237744"/>
          </a:xfrm>
          <a:prstGeom prst="rect">
            <a:avLst/>
          </a:prstGeom>
          <a:noFill/>
        </p:spPr>
        <p:txBody>
          <a:bodyPr wrap="square" lIns="0" rIns="0" tIns="0" bIns="0" anchor="ctr">
            <a:spAutoFit/>
          </a:bodyPr>
          <a:lstStyle/>
          <a:p>
            <a:pPr algn="ctr">
              <a:lnSpc>
                <a:spcPct val="115000"/>
              </a:lnSpc>
            </a:pPr>
            <a:r>
              <a:rPr sz="950" b="1" i="0">
                <a:solidFill>
                  <a:srgbClr val="0F172A"/>
                </a:solidFill>
                <a:latin typeface="Aptos"/>
              </a:rPr>
              <a:t>checkout drop</a:t>
            </a:r>
          </a:p>
        </p:txBody>
      </p:sp>
      <p:cxnSp>
        <p:nvCxnSpPr>
          <p:cNvPr id="26" name="Connector 25"/>
          <p:cNvCxnSpPr/>
          <p:nvPr/>
        </p:nvCxnSpPr>
        <p:spPr>
          <a:xfrm>
            <a:off x="3246120" y="2697480"/>
            <a:ext cx="1645920" cy="2331720"/>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863840" y="2194560"/>
            <a:ext cx="3749039" cy="219456"/>
          </a:xfrm>
          <a:prstGeom prst="rect">
            <a:avLst/>
          </a:prstGeom>
          <a:noFill/>
        </p:spPr>
        <p:txBody>
          <a:bodyPr wrap="square" lIns="0" rIns="0" tIns="0" bIns="0" anchor="t">
            <a:spAutoFit/>
          </a:bodyPr>
          <a:lstStyle/>
          <a:p>
            <a:pPr algn="l">
              <a:lnSpc>
                <a:spcPct val="115000"/>
              </a:lnSpc>
            </a:pPr>
            <a:r>
              <a:rPr sz="1000" b="1" i="0">
                <a:solidFill>
                  <a:srgbClr val="008A47"/>
                </a:solidFill>
                <a:latin typeface="Aptos"/>
              </a:rPr>
              <a:t>SUPPRESSED</a:t>
            </a:r>
          </a:p>
        </p:txBody>
      </p:sp>
      <p:sp>
        <p:nvSpPr>
          <p:cNvPr id="28" name="TextBox 27"/>
          <p:cNvSpPr txBox="1"/>
          <p:nvPr/>
        </p:nvSpPr>
        <p:spPr>
          <a:xfrm>
            <a:off x="7863840" y="2468880"/>
            <a:ext cx="3749039" cy="1005840"/>
          </a:xfrm>
          <a:prstGeom prst="rect">
            <a:avLst/>
          </a:prstGeom>
          <a:noFill/>
        </p:spPr>
        <p:txBody>
          <a:bodyPr wrap="square" lIns="0" rIns="0" tIns="0" bIns="0" anchor="t">
            <a:spAutoFit/>
          </a:bodyPr>
          <a:lstStyle/>
          <a:p>
            <a:pPr algn="l">
              <a:lnSpc>
                <a:spcPct val="125000"/>
              </a:lnSpc>
            </a:pPr>
            <a:r>
              <a:rPr sz="1100" b="0" i="0">
                <a:solidFill>
                  <a:srgbClr val="334155"/>
                </a:solidFill>
                <a:latin typeface="Aptos"/>
              </a:rPr>
              <a:t>Six symptoms, one page. Without this you get ten alerts, ten acknowledgements, and a bridge call arguing about which is real.</a:t>
            </a:r>
          </a:p>
        </p:txBody>
      </p:sp>
      <p:sp>
        <p:nvSpPr>
          <p:cNvPr id="29" name="Rounded Rectangle 28"/>
          <p:cNvSpPr/>
          <p:nvPr/>
        </p:nvSpPr>
        <p:spPr>
          <a:xfrm>
            <a:off x="7863840" y="3657600"/>
            <a:ext cx="3767328" cy="1600200"/>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92440" y="3803904"/>
            <a:ext cx="3291840" cy="219456"/>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ESCALATION LADDER</a:t>
            </a:r>
          </a:p>
        </p:txBody>
      </p:sp>
      <p:sp>
        <p:nvSpPr>
          <p:cNvPr id="31" name="TextBox 30"/>
          <p:cNvSpPr txBox="1"/>
          <p:nvPr/>
        </p:nvSpPr>
        <p:spPr>
          <a:xfrm>
            <a:off x="8092440" y="4096512"/>
            <a:ext cx="3383280" cy="256032"/>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 fires → owner</a:t>
            </a:r>
          </a:p>
        </p:txBody>
      </p:sp>
      <p:sp>
        <p:nvSpPr>
          <p:cNvPr id="32" name="TextBox 31"/>
          <p:cNvSpPr txBox="1"/>
          <p:nvPr/>
        </p:nvSpPr>
        <p:spPr>
          <a:xfrm>
            <a:off x="8092440" y="4389120"/>
            <a:ext cx="3383280" cy="256032"/>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 +15 min unacked → L2 lead</a:t>
            </a:r>
          </a:p>
        </p:txBody>
      </p:sp>
      <p:sp>
        <p:nvSpPr>
          <p:cNvPr id="33" name="TextBox 32"/>
          <p:cNvSpPr txBox="1"/>
          <p:nvPr/>
        </p:nvSpPr>
        <p:spPr>
          <a:xfrm>
            <a:off x="8092440" y="4681728"/>
            <a:ext cx="3383280" cy="256032"/>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 +30 min → duty manager</a:t>
            </a:r>
          </a:p>
        </p:txBody>
      </p:sp>
      <p:sp>
        <p:nvSpPr>
          <p:cNvPr id="34" name="TextBox 33"/>
          <p:cNvSpPr txBox="1"/>
          <p:nvPr/>
        </p:nvSpPr>
        <p:spPr>
          <a:xfrm>
            <a:off x="8092440" y="4974336"/>
            <a:ext cx="3383280" cy="256032"/>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 ack STOPS the climb</a:t>
            </a:r>
          </a:p>
        </p:txBody>
      </p:sp>
      <p:sp>
        <p:nvSpPr>
          <p:cNvPr id="35" name="Rounded Rectangle 34"/>
          <p:cNvSpPr/>
          <p:nvPr/>
        </p:nvSpPr>
        <p:spPr>
          <a:xfrm>
            <a:off x="566928" y="5486400"/>
            <a:ext cx="7040880" cy="310896"/>
          </a:xfrm>
          <a:prstGeom prst="roundRect">
            <a:avLst>
              <a:gd name="adj" fmla="val 6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541264"/>
            <a:ext cx="2029967"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SLA view</a:t>
            </a:r>
          </a:p>
        </p:txBody>
      </p:sp>
      <p:sp>
        <p:nvSpPr>
          <p:cNvPr id="37" name="TextBox 36"/>
          <p:cNvSpPr txBox="1"/>
          <p:nvPr/>
        </p:nvSpPr>
        <p:spPr>
          <a:xfrm>
            <a:off x="2880360" y="5541264"/>
            <a:ext cx="468172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Means</a:t>
            </a:r>
          </a:p>
        </p:txBody>
      </p:sp>
      <p:sp>
        <p:nvSpPr>
          <p:cNvPr id="38" name="TextBox 37"/>
          <p:cNvSpPr txBox="1"/>
          <p:nvPr/>
        </p:nvSpPr>
        <p:spPr>
          <a:xfrm>
            <a:off x="685800" y="5852159"/>
            <a:ext cx="2029967"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Met</a:t>
            </a:r>
          </a:p>
        </p:txBody>
      </p:sp>
      <p:sp>
        <p:nvSpPr>
          <p:cNvPr id="39" name="TextBox 38"/>
          <p:cNvSpPr txBox="1"/>
          <p:nvPr/>
        </p:nvSpPr>
        <p:spPr>
          <a:xfrm>
            <a:off x="2880360" y="5852159"/>
            <a:ext cx="468172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within target, budget intact</a:t>
            </a:r>
          </a:p>
        </p:txBody>
      </p:sp>
      <p:sp>
        <p:nvSpPr>
          <p:cNvPr id="40" name="Rounded Rectangle 39"/>
          <p:cNvSpPr/>
          <p:nvPr/>
        </p:nvSpPr>
        <p:spPr>
          <a:xfrm>
            <a:off x="566928" y="6108192"/>
            <a:ext cx="704088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6163055"/>
            <a:ext cx="2029967"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At risk</a:t>
            </a:r>
          </a:p>
        </p:txBody>
      </p:sp>
      <p:sp>
        <p:nvSpPr>
          <p:cNvPr id="42" name="TextBox 41"/>
          <p:cNvSpPr txBox="1"/>
          <p:nvPr/>
        </p:nvSpPr>
        <p:spPr>
          <a:xfrm>
            <a:off x="2880360" y="6163055"/>
            <a:ext cx="468172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still met — error budget nearly spent</a:t>
            </a:r>
          </a:p>
        </p:txBody>
      </p:sp>
      <p:sp>
        <p:nvSpPr>
          <p:cNvPr id="43" name="TextBox 42"/>
          <p:cNvSpPr txBox="1"/>
          <p:nvPr/>
        </p:nvSpPr>
        <p:spPr>
          <a:xfrm>
            <a:off x="685800" y="6473951"/>
            <a:ext cx="2029967"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Breached</a:t>
            </a:r>
          </a:p>
        </p:txBody>
      </p:sp>
      <p:sp>
        <p:nvSpPr>
          <p:cNvPr id="44" name="TextBox 43"/>
          <p:cNvSpPr txBox="1"/>
          <p:nvPr/>
        </p:nvSpPr>
        <p:spPr>
          <a:xfrm>
            <a:off x="2880360" y="6473951"/>
            <a:ext cx="468172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target missed for the period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7315200" cy="182880"/>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SESSION 2 · REVIEW BLOCK</a:t>
            </a:r>
          </a:p>
        </p:txBody>
      </p:sp>
      <p:sp>
        <p:nvSpPr>
          <p:cNvPr id="3" name="TextBox 2"/>
          <p:cNvSpPr txBox="1"/>
          <p:nvPr/>
        </p:nvSpPr>
        <p:spPr>
          <a:xfrm>
            <a:off x="566928" y="621792"/>
            <a:ext cx="10058400" cy="411480"/>
          </a:xfrm>
          <a:prstGeom prst="rect">
            <a:avLst/>
          </a:prstGeom>
          <a:noFill/>
        </p:spPr>
        <p:txBody>
          <a:bodyPr wrap="square" lIns="0" rIns="0" tIns="0" bIns="0" anchor="t">
            <a:spAutoFit/>
          </a:bodyPr>
          <a:lstStyle/>
          <a:p>
            <a:pPr algn="l">
              <a:lnSpc>
                <a:spcPct val="115000"/>
              </a:lnSpc>
            </a:pPr>
            <a:r>
              <a:rPr sz="2400" b="1" i="0">
                <a:solidFill>
                  <a:srgbClr val="0F172A"/>
                </a:solidFill>
                <a:latin typeface="Aptos"/>
              </a:rPr>
              <a:t>Sign off every threshold</a:t>
            </a:r>
          </a:p>
        </p:txBody>
      </p:sp>
      <p:sp>
        <p:nvSpPr>
          <p:cNvPr id="4" name="Rectangle 3"/>
          <p:cNvSpPr/>
          <p:nvPr/>
        </p:nvSpPr>
        <p:spPr>
          <a:xfrm>
            <a:off x="566928" y="1133856"/>
            <a:ext cx="64008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16736"/>
            <a:ext cx="11064240" cy="457200"/>
          </a:xfrm>
          <a:prstGeom prst="rect">
            <a:avLst/>
          </a:prstGeom>
          <a:noFill/>
        </p:spPr>
        <p:txBody>
          <a:bodyPr wrap="square" lIns="0" rIns="0" tIns="0" bIns="0" anchor="t">
            <a:spAutoFit/>
          </a:bodyPr>
          <a:lstStyle/>
          <a:p>
            <a:pPr algn="l">
              <a:lnSpc>
                <a:spcPct val="115000"/>
              </a:lnSpc>
            </a:pPr>
            <a:r>
              <a:rPr sz="1200" b="0" i="0">
                <a:solidFill>
                  <a:srgbClr val="64748B"/>
                </a:solidFill>
                <a:latin typeface="Aptos"/>
              </a:rPr>
              <a:t>We go through the rule list together. Each one gets a verdict — keep, change, or delete.</a:t>
            </a:r>
          </a:p>
        </p:txBody>
      </p:sp>
      <p:sp>
        <p:nvSpPr>
          <p:cNvPr id="6" name="Rounded Rectangle 5"/>
          <p:cNvSpPr/>
          <p:nvPr/>
        </p:nvSpPr>
        <p:spPr>
          <a:xfrm>
            <a:off x="566928" y="1965960"/>
            <a:ext cx="11064240" cy="310896"/>
          </a:xfrm>
          <a:prstGeom prst="roundRect">
            <a:avLst>
              <a:gd name="adj" fmla="val 6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20824"/>
            <a:ext cx="157276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Verdict</a:t>
            </a:r>
          </a:p>
        </p:txBody>
      </p:sp>
      <p:sp>
        <p:nvSpPr>
          <p:cNvPr id="8" name="TextBox 7"/>
          <p:cNvSpPr txBox="1"/>
          <p:nvPr/>
        </p:nvSpPr>
        <p:spPr>
          <a:xfrm>
            <a:off x="2423160" y="2020824"/>
            <a:ext cx="376732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Means</a:t>
            </a:r>
          </a:p>
        </p:txBody>
      </p:sp>
      <p:sp>
        <p:nvSpPr>
          <p:cNvPr id="9" name="TextBox 8"/>
          <p:cNvSpPr txBox="1"/>
          <p:nvPr/>
        </p:nvSpPr>
        <p:spPr>
          <a:xfrm>
            <a:off x="6355080" y="2020824"/>
            <a:ext cx="523036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What happens next</a:t>
            </a:r>
          </a:p>
        </p:txBody>
      </p:sp>
      <p:sp>
        <p:nvSpPr>
          <p:cNvPr id="10" name="TextBox 9"/>
          <p:cNvSpPr txBox="1"/>
          <p:nvPr/>
        </p:nvSpPr>
        <p:spPr>
          <a:xfrm>
            <a:off x="685800" y="2331720"/>
            <a:ext cx="15727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KEEP</a:t>
            </a:r>
          </a:p>
        </p:txBody>
      </p:sp>
      <p:sp>
        <p:nvSpPr>
          <p:cNvPr id="11" name="TextBox 10"/>
          <p:cNvSpPr txBox="1"/>
          <p:nvPr/>
        </p:nvSpPr>
        <p:spPr>
          <a:xfrm>
            <a:off x="2423160" y="2331720"/>
            <a:ext cx="376732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threshold matches reality</a:t>
            </a:r>
          </a:p>
        </p:txBody>
      </p:sp>
      <p:sp>
        <p:nvSpPr>
          <p:cNvPr id="12" name="TextBox 11"/>
          <p:cNvSpPr txBox="1"/>
          <p:nvPr/>
        </p:nvSpPr>
        <p:spPr>
          <a:xfrm>
            <a:off x="6355080" y="2331720"/>
            <a:ext cx="52303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nothing — it is now yours</a:t>
            </a:r>
          </a:p>
        </p:txBody>
      </p:sp>
      <p:sp>
        <p:nvSpPr>
          <p:cNvPr id="13" name="Rounded Rectangle 12"/>
          <p:cNvSpPr/>
          <p:nvPr/>
        </p:nvSpPr>
        <p:spPr>
          <a:xfrm>
            <a:off x="566928" y="2587752"/>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642616"/>
            <a:ext cx="15727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CHANGE</a:t>
            </a:r>
          </a:p>
        </p:txBody>
      </p:sp>
      <p:sp>
        <p:nvSpPr>
          <p:cNvPr id="15" name="TextBox 14"/>
          <p:cNvSpPr txBox="1"/>
          <p:nvPr/>
        </p:nvSpPr>
        <p:spPr>
          <a:xfrm>
            <a:off x="2423160" y="2642616"/>
            <a:ext cx="376732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right idea, wrong number</a:t>
            </a:r>
          </a:p>
        </p:txBody>
      </p:sp>
      <p:sp>
        <p:nvSpPr>
          <p:cNvPr id="16" name="TextBox 15"/>
          <p:cNvSpPr txBox="1"/>
          <p:nvPr/>
        </p:nvSpPr>
        <p:spPr>
          <a:xfrm>
            <a:off x="6355080" y="2642616"/>
            <a:ext cx="52303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changed live in the session, with the metric chart open</a:t>
            </a:r>
          </a:p>
        </p:txBody>
      </p:sp>
      <p:sp>
        <p:nvSpPr>
          <p:cNvPr id="17" name="TextBox 16"/>
          <p:cNvSpPr txBox="1"/>
          <p:nvPr/>
        </p:nvSpPr>
        <p:spPr>
          <a:xfrm>
            <a:off x="685800" y="2953512"/>
            <a:ext cx="15727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DELETE</a:t>
            </a:r>
          </a:p>
        </p:txBody>
      </p:sp>
      <p:sp>
        <p:nvSpPr>
          <p:cNvPr id="18" name="TextBox 17"/>
          <p:cNvSpPr txBox="1"/>
          <p:nvPr/>
        </p:nvSpPr>
        <p:spPr>
          <a:xfrm>
            <a:off x="2423160" y="2953512"/>
            <a:ext cx="376732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will never be actionable</a:t>
            </a:r>
          </a:p>
        </p:txBody>
      </p:sp>
      <p:sp>
        <p:nvSpPr>
          <p:cNvPr id="19" name="TextBox 18"/>
          <p:cNvSpPr txBox="1"/>
          <p:nvPr/>
        </p:nvSpPr>
        <p:spPr>
          <a:xfrm>
            <a:off x="6355080" y="2953512"/>
            <a:ext cx="52303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disabled — better than a muted rule pretending to be coverage</a:t>
            </a:r>
          </a:p>
        </p:txBody>
      </p:sp>
      <p:sp>
        <p:nvSpPr>
          <p:cNvPr id="20" name="Rounded Rectangle 19"/>
          <p:cNvSpPr/>
          <p:nvPr/>
        </p:nvSpPr>
        <p:spPr>
          <a:xfrm>
            <a:off x="566928" y="3209544"/>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264408"/>
            <a:ext cx="15727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MISSING</a:t>
            </a:r>
          </a:p>
        </p:txBody>
      </p:sp>
      <p:sp>
        <p:nvSpPr>
          <p:cNvPr id="22" name="TextBox 21"/>
          <p:cNvSpPr txBox="1"/>
          <p:nvPr/>
        </p:nvSpPr>
        <p:spPr>
          <a:xfrm>
            <a:off x="2423160" y="3264408"/>
            <a:ext cx="376732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an incident this would not catch</a:t>
            </a:r>
          </a:p>
        </p:txBody>
      </p:sp>
      <p:sp>
        <p:nvSpPr>
          <p:cNvPr id="23" name="TextBox 22"/>
          <p:cNvSpPr txBox="1"/>
          <p:nvPr/>
        </p:nvSpPr>
        <p:spPr>
          <a:xfrm>
            <a:off x="6355080" y="3264408"/>
            <a:ext cx="52303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new rule drafted before session 3</a:t>
            </a:r>
          </a:p>
        </p:txBody>
      </p:sp>
      <p:sp>
        <p:nvSpPr>
          <p:cNvPr id="24" name="TextBox 23"/>
          <p:cNvSpPr txBox="1"/>
          <p:nvPr/>
        </p:nvSpPr>
        <p:spPr>
          <a:xfrm>
            <a:off x="566928" y="3749039"/>
            <a:ext cx="5486400" cy="237744"/>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BY THE END OF THE SESSION</a:t>
            </a:r>
          </a:p>
        </p:txBody>
      </p:sp>
      <p:sp>
        <p:nvSpPr>
          <p:cNvPr id="25" name="Rounded Rectangle 24"/>
          <p:cNvSpPr/>
          <p:nvPr/>
        </p:nvSpPr>
        <p:spPr>
          <a:xfrm>
            <a:off x="566928" y="4096511"/>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059935"/>
            <a:ext cx="5120640"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All 15 P1 rules reviewed and owned</a:t>
            </a:r>
          </a:p>
        </p:txBody>
      </p:sp>
      <p:sp>
        <p:nvSpPr>
          <p:cNvPr id="27" name="Rounded Rectangle 26"/>
          <p:cNvSpPr/>
          <p:nvPr/>
        </p:nvSpPr>
        <p:spPr>
          <a:xfrm>
            <a:off x="566928" y="4480559"/>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4443983"/>
            <a:ext cx="5120640"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The 4 new BSS thresholds accepted or changed</a:t>
            </a:r>
          </a:p>
        </p:txBody>
      </p:sp>
      <p:sp>
        <p:nvSpPr>
          <p:cNvPr id="29" name="Rounded Rectangle 28"/>
          <p:cNvSpPr/>
          <p:nvPr/>
        </p:nvSpPr>
        <p:spPr>
          <a:xfrm>
            <a:off x="566928" y="4864607"/>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4828031"/>
            <a:ext cx="5120640"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Every noisy rule identified by name</a:t>
            </a:r>
          </a:p>
        </p:txBody>
      </p:sp>
      <p:sp>
        <p:nvSpPr>
          <p:cNvPr id="31" name="Rounded Rectangle 30"/>
          <p:cNvSpPr/>
          <p:nvPr/>
        </p:nvSpPr>
        <p:spPr>
          <a:xfrm>
            <a:off x="566928" y="5248655"/>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12079"/>
            <a:ext cx="5120640"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Every missing detection written down</a:t>
            </a:r>
          </a:p>
        </p:txBody>
      </p:sp>
      <p:sp>
        <p:nvSpPr>
          <p:cNvPr id="33" name="TextBox 32"/>
          <p:cNvSpPr txBox="1"/>
          <p:nvPr/>
        </p:nvSpPr>
        <p:spPr>
          <a:xfrm>
            <a:off x="6309360" y="3749039"/>
            <a:ext cx="5303520" cy="237744"/>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AND</a:t>
            </a:r>
          </a:p>
        </p:txBody>
      </p:sp>
      <p:sp>
        <p:nvSpPr>
          <p:cNvPr id="34" name="Rounded Rectangle 33"/>
          <p:cNvSpPr/>
          <p:nvPr/>
        </p:nvSpPr>
        <p:spPr>
          <a:xfrm>
            <a:off x="6309360" y="4096511"/>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38544" y="4059935"/>
            <a:ext cx="4937759"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Escalation contacts confirmed per severity</a:t>
            </a:r>
          </a:p>
        </p:txBody>
      </p:sp>
      <p:sp>
        <p:nvSpPr>
          <p:cNvPr id="36" name="Rounded Rectangle 35"/>
          <p:cNvSpPr/>
          <p:nvPr/>
        </p:nvSpPr>
        <p:spPr>
          <a:xfrm>
            <a:off x="6309360" y="4480559"/>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38544" y="4443983"/>
            <a:ext cx="4937759"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Correlation pairs agreed</a:t>
            </a:r>
          </a:p>
        </p:txBody>
      </p:sp>
      <p:sp>
        <p:nvSpPr>
          <p:cNvPr id="38" name="Rounded Rectangle 37"/>
          <p:cNvSpPr/>
          <p:nvPr/>
        </p:nvSpPr>
        <p:spPr>
          <a:xfrm>
            <a:off x="6309360" y="4864607"/>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38544" y="4828031"/>
            <a:ext cx="4937759"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Someone owns rule tuning going forward</a:t>
            </a:r>
          </a:p>
        </p:txBody>
      </p:sp>
      <p:sp>
        <p:nvSpPr>
          <p:cNvPr id="40" name="Rounded Rectangle 39"/>
          <p:cNvSpPr/>
          <p:nvPr/>
        </p:nvSpPr>
        <p:spPr>
          <a:xfrm>
            <a:off x="566928" y="5623560"/>
            <a:ext cx="11064240" cy="822960"/>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1248" y="5779008"/>
            <a:ext cx="10607040" cy="219456"/>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HOMEWORK BEFORE SESSION 3</a:t>
            </a:r>
          </a:p>
        </p:txBody>
      </p:sp>
      <p:sp>
        <p:nvSpPr>
          <p:cNvPr id="42" name="TextBox 41"/>
          <p:cNvSpPr txBox="1"/>
          <p:nvPr/>
        </p:nvSpPr>
        <p:spPr>
          <a:xfrm>
            <a:off x="841248" y="6053328"/>
            <a:ext cx="10607040" cy="347472"/>
          </a:xfrm>
          <a:prstGeom prst="rect">
            <a:avLst/>
          </a:prstGeom>
          <a:noFill/>
        </p:spPr>
        <p:txBody>
          <a:bodyPr wrap="square" lIns="0" rIns="0" tIns="0" bIns="0" anchor="t">
            <a:spAutoFit/>
          </a:bodyPr>
          <a:lstStyle/>
          <a:p>
            <a:pPr algn="l">
              <a:lnSpc>
                <a:spcPct val="120000"/>
              </a:lnSpc>
            </a:pPr>
            <a:r>
              <a:rPr sz="1150" b="0" i="0">
                <a:solidFill>
                  <a:srgbClr val="334155"/>
                </a:solidFill>
                <a:latin typeface="Aptos"/>
              </a:rPr>
              <a:t>For every alert that fires before we next meet, mark it actionable or noise. That single column is how we tune for the next six months.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566928" y="1371600"/>
            <a:ext cx="5486400" cy="320040"/>
          </a:xfrm>
          <a:prstGeom prst="rect">
            <a:avLst/>
          </a:prstGeom>
          <a:noFill/>
        </p:spPr>
        <p:txBody>
          <a:bodyPr wrap="square" lIns="0" rIns="0" tIns="0" bIns="0" anchor="t">
            <a:spAutoFit/>
          </a:bodyPr>
          <a:lstStyle/>
          <a:p>
            <a:pPr algn="l">
              <a:lnSpc>
                <a:spcPct val="115000"/>
              </a:lnSpc>
            </a:pPr>
            <a:r>
              <a:rPr sz="1200" b="1" i="0">
                <a:solidFill>
                  <a:srgbClr val="008A47"/>
                </a:solidFill>
                <a:latin typeface="Aptos"/>
              </a:rPr>
              <a:t>SESSION 3 · DAY 3</a:t>
            </a:r>
          </a:p>
        </p:txBody>
      </p:sp>
      <p:sp>
        <p:nvSpPr>
          <p:cNvPr id="3" name="TextBox 2"/>
          <p:cNvSpPr txBox="1"/>
          <p:nvPr/>
        </p:nvSpPr>
        <p:spPr>
          <a:xfrm>
            <a:off x="566928" y="1737360"/>
            <a:ext cx="10515600" cy="731520"/>
          </a:xfrm>
          <a:prstGeom prst="rect">
            <a:avLst/>
          </a:prstGeom>
          <a:noFill/>
        </p:spPr>
        <p:txBody>
          <a:bodyPr wrap="square" lIns="0" rIns="0" tIns="0" bIns="0" anchor="t">
            <a:spAutoFit/>
          </a:bodyPr>
          <a:lstStyle/>
          <a:p>
            <a:pPr algn="l">
              <a:lnSpc>
                <a:spcPct val="115000"/>
              </a:lnSpc>
            </a:pPr>
            <a:r>
              <a:rPr sz="3400" b="1" i="0">
                <a:solidFill>
                  <a:srgbClr val="FFFFFF"/>
                </a:solidFill>
                <a:latin typeface="Aptos"/>
              </a:rPr>
              <a:t>Is it useful in a real incident?</a:t>
            </a:r>
          </a:p>
        </p:txBody>
      </p:sp>
      <p:sp>
        <p:nvSpPr>
          <p:cNvPr id="4" name="Rectangle 3"/>
          <p:cNvSpPr/>
          <p:nvPr/>
        </p:nvSpPr>
        <p:spPr>
          <a:xfrm>
            <a:off x="566928" y="2697480"/>
            <a:ext cx="100584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926080"/>
            <a:ext cx="9601200" cy="411480"/>
          </a:xfrm>
          <a:prstGeom prst="rect">
            <a:avLst/>
          </a:prstGeom>
          <a:noFill/>
        </p:spPr>
        <p:txBody>
          <a:bodyPr wrap="square" lIns="0" rIns="0" tIns="0" bIns="0" anchor="t">
            <a:spAutoFit/>
          </a:bodyPr>
          <a:lstStyle/>
          <a:p>
            <a:pPr algn="l">
              <a:lnSpc>
                <a:spcPct val="115000"/>
              </a:lnSpc>
            </a:pPr>
            <a:r>
              <a:rPr sz="1400" b="0" i="0">
                <a:solidFill>
                  <a:srgbClr val="E2E8F0"/>
                </a:solidFill>
                <a:latin typeface="Aptos"/>
              </a:rPr>
              <a:t>Not a demo — three real incidents, replayed, with you driving</a:t>
            </a:r>
          </a:p>
        </p:txBody>
      </p:sp>
      <p:sp>
        <p:nvSpPr>
          <p:cNvPr id="6" name="Rounded Rectangle 5"/>
          <p:cNvSpPr/>
          <p:nvPr/>
        </p:nvSpPr>
        <p:spPr>
          <a:xfrm>
            <a:off x="566928" y="3456432"/>
            <a:ext cx="10515600" cy="438912"/>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3584448"/>
            <a:ext cx="822960" cy="219456"/>
          </a:xfrm>
          <a:prstGeom prst="rect">
            <a:avLst/>
          </a:prstGeom>
          <a:noFill/>
        </p:spPr>
        <p:txBody>
          <a:bodyPr wrap="square" lIns="0" rIns="0" tIns="0" bIns="0" anchor="t">
            <a:spAutoFit/>
          </a:bodyPr>
          <a:lstStyle/>
          <a:p>
            <a:pPr algn="l">
              <a:lnSpc>
                <a:spcPct val="115000"/>
              </a:lnSpc>
            </a:pPr>
            <a:r>
              <a:rPr sz="1050" b="1" i="0">
                <a:solidFill>
                  <a:srgbClr val="008A47"/>
                </a:solidFill>
                <a:latin typeface="Aptos"/>
              </a:rPr>
              <a:t>3.1</a:t>
            </a:r>
          </a:p>
        </p:txBody>
      </p:sp>
      <p:sp>
        <p:nvSpPr>
          <p:cNvPr id="8" name="TextBox 7"/>
          <p:cNvSpPr txBox="1"/>
          <p:nvPr/>
        </p:nvSpPr>
        <p:spPr>
          <a:xfrm>
            <a:off x="1691640" y="3584448"/>
            <a:ext cx="7680960" cy="219456"/>
          </a:xfrm>
          <a:prstGeom prst="rect">
            <a:avLst/>
          </a:prstGeom>
          <a:noFill/>
        </p:spPr>
        <p:txBody>
          <a:bodyPr wrap="square" lIns="0" rIns="0" tIns="0" bIns="0" anchor="t">
            <a:spAutoFit/>
          </a:bodyPr>
          <a:lstStyle/>
          <a:p>
            <a:pPr algn="l">
              <a:lnSpc>
                <a:spcPct val="115000"/>
              </a:lnSpc>
            </a:pPr>
            <a:r>
              <a:rPr sz="1150" b="0" i="0">
                <a:solidFill>
                  <a:srgbClr val="E2E8F0"/>
                </a:solidFill>
                <a:latin typeface="Aptos"/>
              </a:rPr>
              <a:t>Troubleshoot board — from symptom to cause</a:t>
            </a:r>
          </a:p>
        </p:txBody>
      </p:sp>
      <p:sp>
        <p:nvSpPr>
          <p:cNvPr id="9" name="TextBox 8"/>
          <p:cNvSpPr txBox="1"/>
          <p:nvPr/>
        </p:nvSpPr>
        <p:spPr>
          <a:xfrm>
            <a:off x="9601200" y="3584448"/>
            <a:ext cx="1280160" cy="219456"/>
          </a:xfrm>
          <a:prstGeom prst="rect">
            <a:avLst/>
          </a:prstGeom>
          <a:noFill/>
        </p:spPr>
        <p:txBody>
          <a:bodyPr wrap="square" lIns="0" rIns="0" tIns="0" bIns="0" anchor="t">
            <a:spAutoFit/>
          </a:bodyPr>
          <a:lstStyle/>
          <a:p>
            <a:pPr algn="r">
              <a:lnSpc>
                <a:spcPct val="115000"/>
              </a:lnSpc>
            </a:pPr>
            <a:r>
              <a:rPr sz="1000" b="0" i="0">
                <a:solidFill>
                  <a:srgbClr val="94A3B8"/>
                </a:solidFill>
                <a:latin typeface="Aptos"/>
              </a:rPr>
              <a:t/>
            </a:r>
          </a:p>
        </p:txBody>
      </p:sp>
      <p:sp>
        <p:nvSpPr>
          <p:cNvPr id="10" name="Rounded Rectangle 9"/>
          <p:cNvSpPr/>
          <p:nvPr/>
        </p:nvSpPr>
        <p:spPr>
          <a:xfrm>
            <a:off x="566928" y="3968496"/>
            <a:ext cx="10515600" cy="438912"/>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4096511"/>
            <a:ext cx="822960" cy="219456"/>
          </a:xfrm>
          <a:prstGeom prst="rect">
            <a:avLst/>
          </a:prstGeom>
          <a:noFill/>
        </p:spPr>
        <p:txBody>
          <a:bodyPr wrap="square" lIns="0" rIns="0" tIns="0" bIns="0" anchor="t">
            <a:spAutoFit/>
          </a:bodyPr>
          <a:lstStyle/>
          <a:p>
            <a:pPr algn="l">
              <a:lnSpc>
                <a:spcPct val="115000"/>
              </a:lnSpc>
            </a:pPr>
            <a:r>
              <a:rPr sz="1050" b="1" i="0">
                <a:solidFill>
                  <a:srgbClr val="008A47"/>
                </a:solidFill>
                <a:latin typeface="Aptos"/>
              </a:rPr>
              <a:t>3.2</a:t>
            </a:r>
          </a:p>
        </p:txBody>
      </p:sp>
      <p:sp>
        <p:nvSpPr>
          <p:cNvPr id="12" name="TextBox 11"/>
          <p:cNvSpPr txBox="1"/>
          <p:nvPr/>
        </p:nvSpPr>
        <p:spPr>
          <a:xfrm>
            <a:off x="1691640" y="4096511"/>
            <a:ext cx="7680960" cy="219456"/>
          </a:xfrm>
          <a:prstGeom prst="rect">
            <a:avLst/>
          </a:prstGeom>
          <a:noFill/>
        </p:spPr>
        <p:txBody>
          <a:bodyPr wrap="square" lIns="0" rIns="0" tIns="0" bIns="0" anchor="t">
            <a:spAutoFit/>
          </a:bodyPr>
          <a:lstStyle/>
          <a:p>
            <a:pPr algn="l">
              <a:lnSpc>
                <a:spcPct val="115000"/>
              </a:lnSpc>
            </a:pPr>
            <a:r>
              <a:rPr sz="1150" b="0" i="0">
                <a:solidFill>
                  <a:srgbClr val="E2E8F0"/>
                </a:solidFill>
                <a:latin typeface="Aptos"/>
              </a:rPr>
              <a:t>Timeline &amp; Subscriber 360 — one customer, end to end</a:t>
            </a:r>
          </a:p>
        </p:txBody>
      </p:sp>
      <p:sp>
        <p:nvSpPr>
          <p:cNvPr id="13" name="TextBox 12"/>
          <p:cNvSpPr txBox="1"/>
          <p:nvPr/>
        </p:nvSpPr>
        <p:spPr>
          <a:xfrm>
            <a:off x="9601200" y="4096511"/>
            <a:ext cx="1280160" cy="219456"/>
          </a:xfrm>
          <a:prstGeom prst="rect">
            <a:avLst/>
          </a:prstGeom>
          <a:noFill/>
        </p:spPr>
        <p:txBody>
          <a:bodyPr wrap="square" lIns="0" rIns="0" tIns="0" bIns="0" anchor="t">
            <a:spAutoFit/>
          </a:bodyPr>
          <a:lstStyle/>
          <a:p>
            <a:pPr algn="r">
              <a:lnSpc>
                <a:spcPct val="115000"/>
              </a:lnSpc>
            </a:pPr>
            <a:r>
              <a:rPr sz="1000" b="0" i="0">
                <a:solidFill>
                  <a:srgbClr val="94A3B8"/>
                </a:solidFill>
                <a:latin typeface="Aptos"/>
              </a:rPr>
              <a:t/>
            </a:r>
          </a:p>
        </p:txBody>
      </p:sp>
      <p:sp>
        <p:nvSpPr>
          <p:cNvPr id="14" name="Rounded Rectangle 13"/>
          <p:cNvSpPr/>
          <p:nvPr/>
        </p:nvSpPr>
        <p:spPr>
          <a:xfrm>
            <a:off x="566928" y="4480560"/>
            <a:ext cx="10515600" cy="438912"/>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4608576"/>
            <a:ext cx="822960" cy="219456"/>
          </a:xfrm>
          <a:prstGeom prst="rect">
            <a:avLst/>
          </a:prstGeom>
          <a:noFill/>
        </p:spPr>
        <p:txBody>
          <a:bodyPr wrap="square" lIns="0" rIns="0" tIns="0" bIns="0" anchor="t">
            <a:spAutoFit/>
          </a:bodyPr>
          <a:lstStyle/>
          <a:p>
            <a:pPr algn="l">
              <a:lnSpc>
                <a:spcPct val="115000"/>
              </a:lnSpc>
            </a:pPr>
            <a:r>
              <a:rPr sz="1050" b="1" i="0">
                <a:solidFill>
                  <a:srgbClr val="008A47"/>
                </a:solidFill>
                <a:latin typeface="Aptos"/>
              </a:rPr>
              <a:t>3.3</a:t>
            </a:r>
          </a:p>
        </p:txBody>
      </p:sp>
      <p:sp>
        <p:nvSpPr>
          <p:cNvPr id="16" name="TextBox 15"/>
          <p:cNvSpPr txBox="1"/>
          <p:nvPr/>
        </p:nvSpPr>
        <p:spPr>
          <a:xfrm>
            <a:off x="1691640" y="4608576"/>
            <a:ext cx="7680960" cy="219456"/>
          </a:xfrm>
          <a:prstGeom prst="rect">
            <a:avLst/>
          </a:prstGeom>
          <a:noFill/>
        </p:spPr>
        <p:txBody>
          <a:bodyPr wrap="square" lIns="0" rIns="0" tIns="0" bIns="0" anchor="t">
            <a:spAutoFit/>
          </a:bodyPr>
          <a:lstStyle/>
          <a:p>
            <a:pPr algn="l">
              <a:lnSpc>
                <a:spcPct val="115000"/>
              </a:lnSpc>
            </a:pPr>
            <a:r>
              <a:rPr sz="1150" b="0" i="0">
                <a:solidFill>
                  <a:srgbClr val="E2E8F0"/>
                </a:solidFill>
                <a:latin typeface="Aptos"/>
              </a:rPr>
              <a:t>Replay: INC0016809 (BSS 1500)</a:t>
            </a:r>
          </a:p>
        </p:txBody>
      </p:sp>
      <p:sp>
        <p:nvSpPr>
          <p:cNvPr id="17" name="TextBox 16"/>
          <p:cNvSpPr txBox="1"/>
          <p:nvPr/>
        </p:nvSpPr>
        <p:spPr>
          <a:xfrm>
            <a:off x="9601200" y="4608576"/>
            <a:ext cx="1280160" cy="219456"/>
          </a:xfrm>
          <a:prstGeom prst="rect">
            <a:avLst/>
          </a:prstGeom>
          <a:noFill/>
        </p:spPr>
        <p:txBody>
          <a:bodyPr wrap="square" lIns="0" rIns="0" tIns="0" bIns="0" anchor="t">
            <a:spAutoFit/>
          </a:bodyPr>
          <a:lstStyle/>
          <a:p>
            <a:pPr algn="r">
              <a:lnSpc>
                <a:spcPct val="115000"/>
              </a:lnSpc>
            </a:pPr>
            <a:r>
              <a:rPr sz="1000" b="0" i="0">
                <a:solidFill>
                  <a:srgbClr val="94A3B8"/>
                </a:solidFill>
                <a:latin typeface="Aptos"/>
              </a:rPr>
              <a:t/>
            </a:r>
          </a:p>
        </p:txBody>
      </p:sp>
      <p:sp>
        <p:nvSpPr>
          <p:cNvPr id="18" name="Rounded Rectangle 17"/>
          <p:cNvSpPr/>
          <p:nvPr/>
        </p:nvSpPr>
        <p:spPr>
          <a:xfrm>
            <a:off x="566928" y="4992624"/>
            <a:ext cx="10515600" cy="438912"/>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5120640"/>
            <a:ext cx="822960" cy="219456"/>
          </a:xfrm>
          <a:prstGeom prst="rect">
            <a:avLst/>
          </a:prstGeom>
          <a:noFill/>
        </p:spPr>
        <p:txBody>
          <a:bodyPr wrap="square" lIns="0" rIns="0" tIns="0" bIns="0" anchor="t">
            <a:spAutoFit/>
          </a:bodyPr>
          <a:lstStyle/>
          <a:p>
            <a:pPr algn="l">
              <a:lnSpc>
                <a:spcPct val="115000"/>
              </a:lnSpc>
            </a:pPr>
            <a:r>
              <a:rPr sz="1050" b="1" i="0">
                <a:solidFill>
                  <a:srgbClr val="008A47"/>
                </a:solidFill>
                <a:latin typeface="Aptos"/>
              </a:rPr>
              <a:t>3.4</a:t>
            </a:r>
          </a:p>
        </p:txBody>
      </p:sp>
      <p:sp>
        <p:nvSpPr>
          <p:cNvPr id="20" name="TextBox 19"/>
          <p:cNvSpPr txBox="1"/>
          <p:nvPr/>
        </p:nvSpPr>
        <p:spPr>
          <a:xfrm>
            <a:off x="1691640" y="5120640"/>
            <a:ext cx="7680960" cy="219456"/>
          </a:xfrm>
          <a:prstGeom prst="rect">
            <a:avLst/>
          </a:prstGeom>
          <a:noFill/>
        </p:spPr>
        <p:txBody>
          <a:bodyPr wrap="square" lIns="0" rIns="0" tIns="0" bIns="0" anchor="t">
            <a:spAutoFit/>
          </a:bodyPr>
          <a:lstStyle/>
          <a:p>
            <a:pPr algn="l">
              <a:lnSpc>
                <a:spcPct val="115000"/>
              </a:lnSpc>
            </a:pPr>
            <a:r>
              <a:rPr sz="1150" b="0" i="0">
                <a:solidFill>
                  <a:srgbClr val="E2E8F0"/>
                </a:solidFill>
                <a:latin typeface="Aptos"/>
              </a:rPr>
              <a:t>Replay: UPG down, masked by failover</a:t>
            </a:r>
          </a:p>
        </p:txBody>
      </p:sp>
      <p:sp>
        <p:nvSpPr>
          <p:cNvPr id="21" name="TextBox 20"/>
          <p:cNvSpPr txBox="1"/>
          <p:nvPr/>
        </p:nvSpPr>
        <p:spPr>
          <a:xfrm>
            <a:off x="9601200" y="5120640"/>
            <a:ext cx="1280160" cy="219456"/>
          </a:xfrm>
          <a:prstGeom prst="rect">
            <a:avLst/>
          </a:prstGeom>
          <a:noFill/>
        </p:spPr>
        <p:txBody>
          <a:bodyPr wrap="square" lIns="0" rIns="0" tIns="0" bIns="0" anchor="t">
            <a:spAutoFit/>
          </a:bodyPr>
          <a:lstStyle/>
          <a:p>
            <a:pPr algn="r">
              <a:lnSpc>
                <a:spcPct val="115000"/>
              </a:lnSpc>
            </a:pPr>
            <a:r>
              <a:rPr sz="1000" b="0" i="0">
                <a:solidFill>
                  <a:srgbClr val="94A3B8"/>
                </a:solidFill>
                <a:latin typeface="Aptos"/>
              </a:rPr>
              <a:t/>
            </a:r>
          </a:p>
        </p:txBody>
      </p:sp>
      <p:sp>
        <p:nvSpPr>
          <p:cNvPr id="22" name="Rounded Rectangle 21"/>
          <p:cNvSpPr/>
          <p:nvPr/>
        </p:nvSpPr>
        <p:spPr>
          <a:xfrm>
            <a:off x="566928" y="5504688"/>
            <a:ext cx="10515600" cy="438912"/>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5632703"/>
            <a:ext cx="822960" cy="219456"/>
          </a:xfrm>
          <a:prstGeom prst="rect">
            <a:avLst/>
          </a:prstGeom>
          <a:noFill/>
        </p:spPr>
        <p:txBody>
          <a:bodyPr wrap="square" lIns="0" rIns="0" tIns="0" bIns="0" anchor="t">
            <a:spAutoFit/>
          </a:bodyPr>
          <a:lstStyle/>
          <a:p>
            <a:pPr algn="l">
              <a:lnSpc>
                <a:spcPct val="115000"/>
              </a:lnSpc>
            </a:pPr>
            <a:r>
              <a:rPr sz="1050" b="1" i="0">
                <a:solidFill>
                  <a:srgbClr val="008A47"/>
                </a:solidFill>
                <a:latin typeface="Aptos"/>
              </a:rPr>
              <a:t>3.5</a:t>
            </a:r>
          </a:p>
        </p:txBody>
      </p:sp>
      <p:sp>
        <p:nvSpPr>
          <p:cNvPr id="24" name="TextBox 23"/>
          <p:cNvSpPr txBox="1"/>
          <p:nvPr/>
        </p:nvSpPr>
        <p:spPr>
          <a:xfrm>
            <a:off x="1691640" y="5632703"/>
            <a:ext cx="7680960" cy="219456"/>
          </a:xfrm>
          <a:prstGeom prst="rect">
            <a:avLst/>
          </a:prstGeom>
          <a:noFill/>
        </p:spPr>
        <p:txBody>
          <a:bodyPr wrap="square" lIns="0" rIns="0" tIns="0" bIns="0" anchor="t">
            <a:spAutoFit/>
          </a:bodyPr>
          <a:lstStyle/>
          <a:p>
            <a:pPr algn="l">
              <a:lnSpc>
                <a:spcPct val="115000"/>
              </a:lnSpc>
            </a:pPr>
            <a:r>
              <a:rPr sz="1150" b="0" i="0">
                <a:solidFill>
                  <a:srgbClr val="E2E8F0"/>
                </a:solidFill>
                <a:latin typeface="Aptos"/>
              </a:rPr>
              <a:t>Replay: Semati flapping — alert or ignore?</a:t>
            </a:r>
          </a:p>
        </p:txBody>
      </p:sp>
      <p:sp>
        <p:nvSpPr>
          <p:cNvPr id="25" name="TextBox 24"/>
          <p:cNvSpPr txBox="1"/>
          <p:nvPr/>
        </p:nvSpPr>
        <p:spPr>
          <a:xfrm>
            <a:off x="9601200" y="5632703"/>
            <a:ext cx="1280160" cy="219456"/>
          </a:xfrm>
          <a:prstGeom prst="rect">
            <a:avLst/>
          </a:prstGeom>
          <a:noFill/>
        </p:spPr>
        <p:txBody>
          <a:bodyPr wrap="square" lIns="0" rIns="0" tIns="0" bIns="0" anchor="t">
            <a:spAutoFit/>
          </a:bodyPr>
          <a:lstStyle/>
          <a:p>
            <a:pPr algn="r">
              <a:lnSpc>
                <a:spcPct val="115000"/>
              </a:lnSpc>
            </a:pPr>
            <a:r>
              <a:rPr sz="1000" b="0" i="0">
                <a:solidFill>
                  <a:srgbClr val="94A3B8"/>
                </a:solidFill>
                <a:latin typeface="Aptos"/>
              </a:rPr>
              <a:t/>
            </a:r>
          </a:p>
        </p:txBody>
      </p:sp>
      <p:sp>
        <p:nvSpPr>
          <p:cNvPr id="26" name="Rounded Rectangle 25"/>
          <p:cNvSpPr/>
          <p:nvPr/>
        </p:nvSpPr>
        <p:spPr>
          <a:xfrm>
            <a:off x="566928" y="6016752"/>
            <a:ext cx="10515600" cy="438912"/>
          </a:xfrm>
          <a:prstGeom prst="roundRect">
            <a:avLst>
              <a:gd name="adj" fmla="val 6000"/>
            </a:avLst>
          </a:prstGeom>
          <a:solidFill>
            <a:srgbClr val="151721"/>
          </a:solidFill>
          <a:ln w="9525">
            <a:solidFill>
              <a:srgbClr val="27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6144768"/>
            <a:ext cx="822960" cy="219456"/>
          </a:xfrm>
          <a:prstGeom prst="rect">
            <a:avLst/>
          </a:prstGeom>
          <a:noFill/>
        </p:spPr>
        <p:txBody>
          <a:bodyPr wrap="square" lIns="0" rIns="0" tIns="0" bIns="0" anchor="t">
            <a:spAutoFit/>
          </a:bodyPr>
          <a:lstStyle/>
          <a:p>
            <a:pPr algn="l">
              <a:lnSpc>
                <a:spcPct val="115000"/>
              </a:lnSpc>
            </a:pPr>
            <a:r>
              <a:rPr sz="1050" b="1" i="0">
                <a:solidFill>
                  <a:srgbClr val="008A47"/>
                </a:solidFill>
                <a:latin typeface="Aptos"/>
              </a:rPr>
              <a:t/>
            </a:r>
          </a:p>
        </p:txBody>
      </p:sp>
      <p:sp>
        <p:nvSpPr>
          <p:cNvPr id="28" name="TextBox 27"/>
          <p:cNvSpPr txBox="1"/>
          <p:nvPr/>
        </p:nvSpPr>
        <p:spPr>
          <a:xfrm>
            <a:off x="1691640" y="6144768"/>
            <a:ext cx="7680960" cy="219456"/>
          </a:xfrm>
          <a:prstGeom prst="rect">
            <a:avLst/>
          </a:prstGeom>
          <a:noFill/>
        </p:spPr>
        <p:txBody>
          <a:bodyPr wrap="square" lIns="0" rIns="0" tIns="0" bIns="0" anchor="t">
            <a:spAutoFit/>
          </a:bodyPr>
          <a:lstStyle/>
          <a:p>
            <a:pPr algn="l">
              <a:lnSpc>
                <a:spcPct val="115000"/>
              </a:lnSpc>
            </a:pPr>
            <a:r>
              <a:rPr sz="1150" b="0" i="0">
                <a:solidFill>
                  <a:srgbClr val="E2E8F0"/>
                </a:solidFill>
                <a:latin typeface="Aptos"/>
              </a:rPr>
              <a:t>VERDICT + ranked backlog + who owns what</a:t>
            </a:r>
          </a:p>
        </p:txBody>
      </p:sp>
      <p:sp>
        <p:nvSpPr>
          <p:cNvPr id="29" name="TextBox 28"/>
          <p:cNvSpPr txBox="1"/>
          <p:nvPr/>
        </p:nvSpPr>
        <p:spPr>
          <a:xfrm>
            <a:off x="9601200" y="6144768"/>
            <a:ext cx="1280160" cy="219456"/>
          </a:xfrm>
          <a:prstGeom prst="rect">
            <a:avLst/>
          </a:prstGeom>
          <a:noFill/>
        </p:spPr>
        <p:txBody>
          <a:bodyPr wrap="square" lIns="0" rIns="0" tIns="0" bIns="0" anchor="t">
            <a:spAutoFit/>
          </a:bodyPr>
          <a:lstStyle/>
          <a:p>
            <a:pPr algn="r">
              <a:lnSpc>
                <a:spcPct val="115000"/>
              </a:lnSpc>
            </a:pPr>
            <a:r>
              <a:rPr sz="1000" b="0" i="0">
                <a:solidFill>
                  <a:srgbClr val="94A3B8"/>
                </a:solidFill>
                <a:latin typeface="Aptos"/>
              </a:rPr>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7315200" cy="182880"/>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3.1 · TROUBLESHOOT</a:t>
            </a:r>
          </a:p>
        </p:txBody>
      </p:sp>
      <p:sp>
        <p:nvSpPr>
          <p:cNvPr id="3" name="TextBox 2"/>
          <p:cNvSpPr txBox="1"/>
          <p:nvPr/>
        </p:nvSpPr>
        <p:spPr>
          <a:xfrm>
            <a:off x="566928" y="621792"/>
            <a:ext cx="10058400" cy="411480"/>
          </a:xfrm>
          <a:prstGeom prst="rect">
            <a:avLst/>
          </a:prstGeom>
          <a:noFill/>
        </p:spPr>
        <p:txBody>
          <a:bodyPr wrap="square" lIns="0" rIns="0" tIns="0" bIns="0" anchor="t">
            <a:spAutoFit/>
          </a:bodyPr>
          <a:lstStyle/>
          <a:p>
            <a:pPr algn="l">
              <a:lnSpc>
                <a:spcPct val="115000"/>
              </a:lnSpc>
            </a:pPr>
            <a:r>
              <a:rPr sz="2400" b="1" i="0">
                <a:solidFill>
                  <a:srgbClr val="0F172A"/>
                </a:solidFill>
                <a:latin typeface="Aptos"/>
              </a:rPr>
              <a:t>From symptom to cause</a:t>
            </a:r>
          </a:p>
        </p:txBody>
      </p:sp>
      <p:sp>
        <p:nvSpPr>
          <p:cNvPr id="4" name="Rectangle 3"/>
          <p:cNvSpPr/>
          <p:nvPr/>
        </p:nvSpPr>
        <p:spPr>
          <a:xfrm>
            <a:off x="566928" y="1133856"/>
            <a:ext cx="64008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16736"/>
            <a:ext cx="11064240" cy="457200"/>
          </a:xfrm>
          <a:prstGeom prst="rect">
            <a:avLst/>
          </a:prstGeom>
          <a:noFill/>
        </p:spPr>
        <p:txBody>
          <a:bodyPr wrap="square" lIns="0" rIns="0" tIns="0" bIns="0" anchor="t">
            <a:spAutoFit/>
          </a:bodyPr>
          <a:lstStyle/>
          <a:p>
            <a:pPr algn="l">
              <a:lnSpc>
                <a:spcPct val="115000"/>
              </a:lnSpc>
            </a:pPr>
            <a:r>
              <a:rPr sz="1200" b="0" i="0">
                <a:solidFill>
                  <a:srgbClr val="64748B"/>
                </a:solidFill>
                <a:latin typeface="Aptos"/>
              </a:rPr>
              <a:t>The board answers one question: what is failing right now, and for how many people?</a:t>
            </a:r>
          </a:p>
        </p:txBody>
      </p:sp>
      <p:sp>
        <p:nvSpPr>
          <p:cNvPr id="6" name="Rounded Rectangle 5"/>
          <p:cNvSpPr/>
          <p:nvPr/>
        </p:nvSpPr>
        <p:spPr>
          <a:xfrm>
            <a:off x="566928" y="2011680"/>
            <a:ext cx="11064240" cy="914400"/>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176272"/>
            <a:ext cx="365760" cy="27432"/>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59152"/>
            <a:ext cx="10424160" cy="237744"/>
          </a:xfrm>
          <a:prstGeom prst="rect">
            <a:avLst/>
          </a:prstGeom>
          <a:noFill/>
        </p:spPr>
        <p:txBody>
          <a:bodyPr wrap="square" lIns="0" rIns="0" tIns="0" bIns="0" anchor="t">
            <a:spAutoFit/>
          </a:bodyPr>
          <a:lstStyle/>
          <a:p>
            <a:pPr algn="l">
              <a:lnSpc>
                <a:spcPct val="115000"/>
              </a:lnSpc>
            </a:pPr>
            <a:r>
              <a:rPr sz="1250" b="1" i="0">
                <a:solidFill>
                  <a:srgbClr val="0F172A"/>
                </a:solidFill>
                <a:latin typeface="Aptos"/>
              </a:rPr>
              <a:t>1 · Category tiles</a:t>
            </a:r>
          </a:p>
        </p:txBody>
      </p:sp>
      <p:sp>
        <p:nvSpPr>
          <p:cNvPr id="9" name="TextBox 8"/>
          <p:cNvSpPr txBox="1"/>
          <p:nvPr/>
        </p:nvSpPr>
        <p:spPr>
          <a:xfrm>
            <a:off x="822960" y="2633472"/>
            <a:ext cx="10424160"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Ten failure families. The tile that is red tells you which pipeline stage broke.</a:t>
            </a:r>
          </a:p>
        </p:txBody>
      </p:sp>
      <p:sp>
        <p:nvSpPr>
          <p:cNvPr id="10" name="Rounded Rectangle 9"/>
          <p:cNvSpPr/>
          <p:nvPr/>
        </p:nvSpPr>
        <p:spPr>
          <a:xfrm>
            <a:off x="566928" y="3063240"/>
            <a:ext cx="11064240" cy="914400"/>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3227832"/>
            <a:ext cx="365760" cy="27432"/>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410712"/>
            <a:ext cx="10424160" cy="237744"/>
          </a:xfrm>
          <a:prstGeom prst="rect">
            <a:avLst/>
          </a:prstGeom>
          <a:noFill/>
        </p:spPr>
        <p:txBody>
          <a:bodyPr wrap="square" lIns="0" rIns="0" tIns="0" bIns="0" anchor="t">
            <a:spAutoFit/>
          </a:bodyPr>
          <a:lstStyle/>
          <a:p>
            <a:pPr algn="l">
              <a:lnSpc>
                <a:spcPct val="115000"/>
              </a:lnSpc>
            </a:pPr>
            <a:r>
              <a:rPr sz="1250" b="1" i="0">
                <a:solidFill>
                  <a:srgbClr val="0F172A"/>
                </a:solidFill>
                <a:latin typeface="Aptos"/>
              </a:rPr>
              <a:t>2 · Live feed</a:t>
            </a:r>
          </a:p>
        </p:txBody>
      </p:sp>
      <p:sp>
        <p:nvSpPr>
          <p:cNvPr id="13" name="TextBox 12"/>
          <p:cNvSpPr txBox="1"/>
          <p:nvPr/>
        </p:nvSpPr>
        <p:spPr>
          <a:xfrm>
            <a:off x="822960" y="3685032"/>
            <a:ext cx="10424160"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The actual failing rows — order ref, customer, gateway, error code, timestamp.</a:t>
            </a:r>
          </a:p>
        </p:txBody>
      </p:sp>
      <p:sp>
        <p:nvSpPr>
          <p:cNvPr id="14" name="Rounded Rectangle 13"/>
          <p:cNvSpPr/>
          <p:nvPr/>
        </p:nvSpPr>
        <p:spPr>
          <a:xfrm>
            <a:off x="566928" y="4114800"/>
            <a:ext cx="11064240" cy="914400"/>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4279392"/>
            <a:ext cx="365760" cy="27432"/>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462272"/>
            <a:ext cx="10424160" cy="237744"/>
          </a:xfrm>
          <a:prstGeom prst="rect">
            <a:avLst/>
          </a:prstGeom>
          <a:noFill/>
        </p:spPr>
        <p:txBody>
          <a:bodyPr wrap="square" lIns="0" rIns="0" tIns="0" bIns="0" anchor="t">
            <a:spAutoFit/>
          </a:bodyPr>
          <a:lstStyle/>
          <a:p>
            <a:pPr algn="l">
              <a:lnSpc>
                <a:spcPct val="115000"/>
              </a:lnSpc>
            </a:pPr>
            <a:r>
              <a:rPr sz="1250" b="1" i="0">
                <a:solidFill>
                  <a:srgbClr val="0F172A"/>
                </a:solidFill>
                <a:latin typeface="Aptos"/>
              </a:rPr>
              <a:t>3 · Drill-down</a:t>
            </a:r>
          </a:p>
        </p:txBody>
      </p:sp>
      <p:sp>
        <p:nvSpPr>
          <p:cNvPr id="17" name="TextBox 16"/>
          <p:cNvSpPr txBox="1"/>
          <p:nvPr/>
        </p:nvSpPr>
        <p:spPr>
          <a:xfrm>
            <a:off x="822960" y="4736592"/>
            <a:ext cx="10424160"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The vendor's own response text. What UPG or BSS actually said, not our paraphrase.</a:t>
            </a:r>
          </a:p>
        </p:txBody>
      </p:sp>
      <p:sp>
        <p:nvSpPr>
          <p:cNvPr id="18" name="Rounded Rectangle 17"/>
          <p:cNvSpPr/>
          <p:nvPr/>
        </p:nvSpPr>
        <p:spPr>
          <a:xfrm>
            <a:off x="566928" y="5166360"/>
            <a:ext cx="11064240" cy="914400"/>
          </a:xfrm>
          <a:prstGeom prst="roundRect">
            <a:avLst>
              <a:gd name="adj" fmla="val 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 y="5330952"/>
            <a:ext cx="365760" cy="27432"/>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513832"/>
            <a:ext cx="10424160" cy="237744"/>
          </a:xfrm>
          <a:prstGeom prst="rect">
            <a:avLst/>
          </a:prstGeom>
          <a:noFill/>
        </p:spPr>
        <p:txBody>
          <a:bodyPr wrap="square" lIns="0" rIns="0" tIns="0" bIns="0" anchor="t">
            <a:spAutoFit/>
          </a:bodyPr>
          <a:lstStyle/>
          <a:p>
            <a:pPr algn="l">
              <a:lnSpc>
                <a:spcPct val="115000"/>
              </a:lnSpc>
            </a:pPr>
            <a:r>
              <a:rPr sz="1250" b="1" i="0">
                <a:solidFill>
                  <a:srgbClr val="0F172A"/>
                </a:solidFill>
                <a:latin typeface="Aptos"/>
              </a:rPr>
              <a:t>4 · Timeline</a:t>
            </a:r>
          </a:p>
        </p:txBody>
      </p:sp>
      <p:sp>
        <p:nvSpPr>
          <p:cNvPr id="21" name="TextBox 20"/>
          <p:cNvSpPr txBox="1"/>
          <p:nvPr/>
        </p:nvSpPr>
        <p:spPr>
          <a:xfrm>
            <a:off x="822960" y="5788152"/>
            <a:ext cx="10424160"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One order, every step, with the gap where it stopped.</a:t>
            </a:r>
          </a:p>
        </p:txBody>
      </p:sp>
      <p:sp>
        <p:nvSpPr>
          <p:cNvPr id="22" name="Rounded Rectangle 21"/>
          <p:cNvSpPr/>
          <p:nvPr/>
        </p:nvSpPr>
        <p:spPr>
          <a:xfrm>
            <a:off x="566928" y="6309360"/>
            <a:ext cx="11064240" cy="411480"/>
          </a:xfrm>
          <a:prstGeom prst="roundRect">
            <a:avLst>
              <a:gd name="adj" fmla="val 6000"/>
            </a:avLst>
          </a:prstGeom>
          <a:solidFill>
            <a:srgbClr val="ECFDF3"/>
          </a:solidFill>
          <a:ln w="9525">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6455664"/>
            <a:ext cx="10588752" cy="219456"/>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THE TEST</a:t>
            </a:r>
          </a:p>
        </p:txBody>
      </p:sp>
      <p:sp>
        <p:nvSpPr>
          <p:cNvPr id="24" name="TextBox 23"/>
          <p:cNvSpPr txBox="1"/>
          <p:nvPr/>
        </p:nvSpPr>
        <p:spPr>
          <a:xfrm>
            <a:off x="804672" y="6729984"/>
            <a:ext cx="10588752" cy="-155448"/>
          </a:xfrm>
          <a:prstGeom prst="rect">
            <a:avLst/>
          </a:prstGeom>
          <a:noFill/>
        </p:spPr>
        <p:txBody>
          <a:bodyPr wrap="square" lIns="0" rIns="0" tIns="0" bIns="0" anchor="t">
            <a:spAutoFit/>
          </a:bodyPr>
          <a:lstStyle/>
          <a:p>
            <a:pPr algn="l">
              <a:lnSpc>
                <a:spcPct val="122000"/>
              </a:lnSpc>
            </a:pPr>
            <a:r>
              <a:rPr sz="1150" b="0" i="0">
                <a:solidFill>
                  <a:srgbClr val="0F172A"/>
                </a:solidFill>
                <a:latin typeface="Aptos"/>
              </a:rPr>
              <a:t>Can you answer 'is this one customer or an incident?' in under 60 seconds?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7315200" cy="182880"/>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3.3 · REPLAY</a:t>
            </a:r>
          </a:p>
        </p:txBody>
      </p:sp>
      <p:sp>
        <p:nvSpPr>
          <p:cNvPr id="3" name="TextBox 2"/>
          <p:cNvSpPr txBox="1"/>
          <p:nvPr/>
        </p:nvSpPr>
        <p:spPr>
          <a:xfrm>
            <a:off x="566928" y="621792"/>
            <a:ext cx="10058400" cy="411480"/>
          </a:xfrm>
          <a:prstGeom prst="rect">
            <a:avLst/>
          </a:prstGeom>
          <a:noFill/>
        </p:spPr>
        <p:txBody>
          <a:bodyPr wrap="square" lIns="0" rIns="0" tIns="0" bIns="0" anchor="t">
            <a:spAutoFit/>
          </a:bodyPr>
          <a:lstStyle/>
          <a:p>
            <a:pPr algn="l">
              <a:lnSpc>
                <a:spcPct val="115000"/>
              </a:lnSpc>
            </a:pPr>
            <a:r>
              <a:rPr sz="2400" b="1" i="0">
                <a:solidFill>
                  <a:srgbClr val="0F172A"/>
                </a:solidFill>
                <a:latin typeface="Aptos"/>
              </a:rPr>
              <a:t>INC0016809 — you drive</a:t>
            </a:r>
          </a:p>
        </p:txBody>
      </p:sp>
      <p:sp>
        <p:nvSpPr>
          <p:cNvPr id="4" name="Rectangle 3"/>
          <p:cNvSpPr/>
          <p:nvPr/>
        </p:nvSpPr>
        <p:spPr>
          <a:xfrm>
            <a:off x="566928" y="1133856"/>
            <a:ext cx="64008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16736"/>
            <a:ext cx="11064240" cy="457200"/>
          </a:xfrm>
          <a:prstGeom prst="rect">
            <a:avLst/>
          </a:prstGeom>
          <a:noFill/>
        </p:spPr>
        <p:txBody>
          <a:bodyPr wrap="square" lIns="0" rIns="0" tIns="0" bIns="0" anchor="t">
            <a:spAutoFit/>
          </a:bodyPr>
          <a:lstStyle/>
          <a:p>
            <a:pPr algn="l">
              <a:lnSpc>
                <a:spcPct val="115000"/>
              </a:lnSpc>
            </a:pPr>
            <a:r>
              <a:rPr sz="1200" b="0" i="0">
                <a:solidFill>
                  <a:srgbClr val="64748B"/>
                </a:solidFill>
                <a:latin typeface="Aptos"/>
              </a:rPr>
              <a:t>Simulate replay against 05:00–06:00 KSA. Same data, same rules, no hindsight.</a:t>
            </a:r>
          </a:p>
        </p:txBody>
      </p:sp>
      <p:sp>
        <p:nvSpPr>
          <p:cNvPr id="6" name="Rounded Rectangle 5"/>
          <p:cNvSpPr/>
          <p:nvPr/>
        </p:nvSpPr>
        <p:spPr>
          <a:xfrm>
            <a:off x="566928" y="2011680"/>
            <a:ext cx="11064240" cy="310896"/>
          </a:xfrm>
          <a:prstGeom prst="roundRect">
            <a:avLst>
              <a:gd name="adj" fmla="val 6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66544"/>
            <a:ext cx="74980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Step</a:t>
            </a:r>
          </a:p>
        </p:txBody>
      </p:sp>
      <p:sp>
        <p:nvSpPr>
          <p:cNvPr id="8" name="TextBox 7"/>
          <p:cNvSpPr txBox="1"/>
          <p:nvPr/>
        </p:nvSpPr>
        <p:spPr>
          <a:xfrm>
            <a:off x="1600200" y="2066544"/>
            <a:ext cx="550468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What you do</a:t>
            </a:r>
          </a:p>
        </p:txBody>
      </p:sp>
      <p:sp>
        <p:nvSpPr>
          <p:cNvPr id="9" name="TextBox 8"/>
          <p:cNvSpPr txBox="1"/>
          <p:nvPr/>
        </p:nvSpPr>
        <p:spPr>
          <a:xfrm>
            <a:off x="7269480" y="2066544"/>
            <a:ext cx="431596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What we are testing</a:t>
            </a:r>
          </a:p>
        </p:txBody>
      </p:sp>
      <p:sp>
        <p:nvSpPr>
          <p:cNvPr id="10" name="TextBox 9"/>
          <p:cNvSpPr txBox="1"/>
          <p:nvPr/>
        </p:nvSpPr>
        <p:spPr>
          <a:xfrm>
            <a:off x="685800" y="2377440"/>
            <a:ext cx="7498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1</a:t>
            </a:r>
          </a:p>
        </p:txBody>
      </p:sp>
      <p:sp>
        <p:nvSpPr>
          <p:cNvPr id="11" name="TextBox 10"/>
          <p:cNvSpPr txBox="1"/>
          <p:nvPr/>
        </p:nvSpPr>
        <p:spPr>
          <a:xfrm>
            <a:off x="1600200" y="2377440"/>
            <a:ext cx="55046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Set the window to 05:00–06:00, hit Simulate replay</a:t>
            </a:r>
          </a:p>
        </p:txBody>
      </p:sp>
      <p:sp>
        <p:nvSpPr>
          <p:cNvPr id="12" name="TextBox 11"/>
          <p:cNvSpPr txBox="1"/>
          <p:nvPr/>
        </p:nvSpPr>
        <p:spPr>
          <a:xfrm>
            <a:off x="7269480" y="2377440"/>
            <a:ext cx="43159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does the P1 fire, and when?</a:t>
            </a:r>
          </a:p>
        </p:txBody>
      </p:sp>
      <p:sp>
        <p:nvSpPr>
          <p:cNvPr id="13" name="Rounded Rectangle 12"/>
          <p:cNvSpPr/>
          <p:nvPr/>
        </p:nvSpPr>
        <p:spPr>
          <a:xfrm>
            <a:off x="566928" y="2633472"/>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688336"/>
            <a:ext cx="7498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2</a:t>
            </a:r>
          </a:p>
        </p:txBody>
      </p:sp>
      <p:sp>
        <p:nvSpPr>
          <p:cNvPr id="15" name="TextBox 14"/>
          <p:cNvSpPr txBox="1"/>
          <p:nvPr/>
        </p:nvSpPr>
        <p:spPr>
          <a:xfrm>
            <a:off x="1600200" y="2688336"/>
            <a:ext cx="55046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Open the alert — read the runbook on it</a:t>
            </a:r>
          </a:p>
        </p:txBody>
      </p:sp>
      <p:sp>
        <p:nvSpPr>
          <p:cNvPr id="16" name="TextBox 15"/>
          <p:cNvSpPr txBox="1"/>
          <p:nvPr/>
        </p:nvSpPr>
        <p:spPr>
          <a:xfrm>
            <a:off x="7269480" y="2688336"/>
            <a:ext cx="43159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is the runbook enough to act without asking anyone?</a:t>
            </a:r>
          </a:p>
        </p:txBody>
      </p:sp>
      <p:sp>
        <p:nvSpPr>
          <p:cNvPr id="17" name="TextBox 16"/>
          <p:cNvSpPr txBox="1"/>
          <p:nvPr/>
        </p:nvSpPr>
        <p:spPr>
          <a:xfrm>
            <a:off x="685800" y="2999232"/>
            <a:ext cx="7498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3</a:t>
            </a:r>
          </a:p>
        </p:txBody>
      </p:sp>
      <p:sp>
        <p:nvSpPr>
          <p:cNvPr id="18" name="TextBox 17"/>
          <p:cNvSpPr txBox="1"/>
          <p:nvPr/>
        </p:nvSpPr>
        <p:spPr>
          <a:xfrm>
            <a:off x="1600200" y="2999232"/>
            <a:ext cx="55046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Troubleshoot → Activation (BSS), find the dominant code</a:t>
            </a:r>
          </a:p>
        </p:txBody>
      </p:sp>
      <p:sp>
        <p:nvSpPr>
          <p:cNvPr id="19" name="TextBox 18"/>
          <p:cNvSpPr txBox="1"/>
          <p:nvPr/>
        </p:nvSpPr>
        <p:spPr>
          <a:xfrm>
            <a:off x="7269480" y="2999232"/>
            <a:ext cx="43159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can you get to '1500' without help?</a:t>
            </a:r>
          </a:p>
        </p:txBody>
      </p:sp>
      <p:sp>
        <p:nvSpPr>
          <p:cNvPr id="20" name="Rounded Rectangle 19"/>
          <p:cNvSpPr/>
          <p:nvPr/>
        </p:nvSpPr>
        <p:spPr>
          <a:xfrm>
            <a:off x="566928" y="3255264"/>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310128"/>
            <a:ext cx="7498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4</a:t>
            </a:r>
          </a:p>
        </p:txBody>
      </p:sp>
      <p:sp>
        <p:nvSpPr>
          <p:cNvPr id="22" name="TextBox 21"/>
          <p:cNvSpPr txBox="1"/>
          <p:nvPr/>
        </p:nvSpPr>
        <p:spPr>
          <a:xfrm>
            <a:off x="1600200" y="3310128"/>
            <a:ext cx="55046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Say the blast radius out loud</a:t>
            </a:r>
          </a:p>
        </p:txBody>
      </p:sp>
      <p:sp>
        <p:nvSpPr>
          <p:cNvPr id="23" name="TextBox 22"/>
          <p:cNvSpPr txBox="1"/>
          <p:nvPr/>
        </p:nvSpPr>
        <p:spPr>
          <a:xfrm>
            <a:off x="7269480" y="3310128"/>
            <a:ext cx="43159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activation + plan renew + login — is that visible?</a:t>
            </a:r>
          </a:p>
        </p:txBody>
      </p:sp>
      <p:sp>
        <p:nvSpPr>
          <p:cNvPr id="24" name="TextBox 23"/>
          <p:cNvSpPr txBox="1"/>
          <p:nvPr/>
        </p:nvSpPr>
        <p:spPr>
          <a:xfrm>
            <a:off x="685800" y="3621024"/>
            <a:ext cx="7498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5</a:t>
            </a:r>
          </a:p>
        </p:txBody>
      </p:sp>
      <p:sp>
        <p:nvSpPr>
          <p:cNvPr id="25" name="TextBox 24"/>
          <p:cNvSpPr txBox="1"/>
          <p:nvPr/>
        </p:nvSpPr>
        <p:spPr>
          <a:xfrm>
            <a:off x="1600200" y="3621024"/>
            <a:ext cx="550468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Draft the message you'd send to the bridge</a:t>
            </a:r>
          </a:p>
        </p:txBody>
      </p:sp>
      <p:sp>
        <p:nvSpPr>
          <p:cNvPr id="26" name="TextBox 25"/>
          <p:cNvSpPr txBox="1"/>
          <p:nvPr/>
        </p:nvSpPr>
        <p:spPr>
          <a:xfrm>
            <a:off x="7269480" y="3621024"/>
            <a:ext cx="431596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does the console give you the numbers for it?</a:t>
            </a:r>
          </a:p>
        </p:txBody>
      </p:sp>
      <p:sp>
        <p:nvSpPr>
          <p:cNvPr id="27" name="Rounded Rectangle 26"/>
          <p:cNvSpPr/>
          <p:nvPr/>
        </p:nvSpPr>
        <p:spPr>
          <a:xfrm>
            <a:off x="566928" y="4480560"/>
            <a:ext cx="11064240" cy="914400"/>
          </a:xfrm>
          <a:prstGeom prst="roundRect">
            <a:avLst>
              <a:gd name="adj" fmla="val 6000"/>
            </a:avLst>
          </a:prstGeom>
          <a:solidFill>
            <a:srgbClr val="FFFBEB"/>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599432"/>
            <a:ext cx="5387644" cy="201168"/>
          </a:xfrm>
          <a:prstGeom prst="rect">
            <a:avLst/>
          </a:prstGeom>
          <a:noFill/>
        </p:spPr>
        <p:txBody>
          <a:bodyPr wrap="square" lIns="0" rIns="0" tIns="0" bIns="0" anchor="t">
            <a:spAutoFit/>
          </a:bodyPr>
          <a:lstStyle/>
          <a:p>
            <a:pPr algn="l">
              <a:lnSpc>
                <a:spcPct val="115000"/>
              </a:lnSpc>
            </a:pPr>
            <a:r>
              <a:rPr sz="900" b="1" i="0">
                <a:solidFill>
                  <a:srgbClr val="B45309"/>
                </a:solidFill>
                <a:latin typeface="Aptos"/>
              </a:rPr>
              <a:t>VERDICT</a:t>
            </a:r>
          </a:p>
        </p:txBody>
      </p:sp>
      <p:sp>
        <p:nvSpPr>
          <p:cNvPr id="29" name="TextBox 28"/>
          <p:cNvSpPr txBox="1"/>
          <p:nvPr/>
        </p:nvSpPr>
        <p:spPr>
          <a:xfrm>
            <a:off x="822960" y="4809744"/>
            <a:ext cx="5387644" cy="475488"/>
          </a:xfrm>
          <a:prstGeom prst="rect">
            <a:avLst/>
          </a:prstGeom>
          <a:noFill/>
        </p:spPr>
        <p:txBody>
          <a:bodyPr wrap="square" lIns="0" rIns="0" tIns="0" bIns="0" anchor="t">
            <a:spAutoFit/>
          </a:bodyPr>
          <a:lstStyle/>
          <a:p>
            <a:pPr algn="l">
              <a:lnSpc>
                <a:spcPct val="115000"/>
              </a:lnSpc>
            </a:pPr>
            <a:r>
              <a:rPr sz="1250" b="1" i="0">
                <a:solidFill>
                  <a:srgbClr val="0F172A"/>
                </a:solidFill>
                <a:latin typeface="Aptos"/>
              </a:rPr>
              <a:t>Would this have saved you time on the real bridge call?</a:t>
            </a:r>
          </a:p>
        </p:txBody>
      </p:sp>
      <p:sp>
        <p:nvSpPr>
          <p:cNvPr id="30" name="Rounded Rectangle 29"/>
          <p:cNvSpPr/>
          <p:nvPr/>
        </p:nvSpPr>
        <p:spPr>
          <a:xfrm>
            <a:off x="6320332" y="4736592"/>
            <a:ext cx="1599590" cy="402336"/>
          </a:xfrm>
          <a:prstGeom prst="roundRect">
            <a:avLst>
              <a:gd name="adj" fmla="val 6000"/>
            </a:avLst>
          </a:prstGeom>
          <a:solidFill>
            <a:srgbClr val="FFFFFF"/>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75196" y="4736592"/>
            <a:ext cx="1489862" cy="402336"/>
          </a:xfrm>
          <a:prstGeom prst="rect">
            <a:avLst/>
          </a:prstGeom>
          <a:noFill/>
        </p:spPr>
        <p:txBody>
          <a:bodyPr wrap="square" lIns="0" rIns="0" tIns="0" bIns="0" anchor="ctr">
            <a:spAutoFit/>
          </a:bodyPr>
          <a:lstStyle/>
          <a:p>
            <a:pPr algn="ctr">
              <a:lnSpc>
                <a:spcPct val="115000"/>
              </a:lnSpc>
            </a:pPr>
            <a:r>
              <a:rPr sz="1000" b="1" i="0">
                <a:solidFill>
                  <a:srgbClr val="B45309"/>
                </a:solidFill>
                <a:latin typeface="Aptos"/>
              </a:rPr>
              <a:t>Yes, an hour</a:t>
            </a:r>
          </a:p>
        </p:txBody>
      </p:sp>
      <p:sp>
        <p:nvSpPr>
          <p:cNvPr id="32" name="Rounded Rectangle 31"/>
          <p:cNvSpPr/>
          <p:nvPr/>
        </p:nvSpPr>
        <p:spPr>
          <a:xfrm>
            <a:off x="8047939" y="4736592"/>
            <a:ext cx="1599590" cy="402336"/>
          </a:xfrm>
          <a:prstGeom prst="roundRect">
            <a:avLst>
              <a:gd name="adj" fmla="val 6000"/>
            </a:avLst>
          </a:prstGeom>
          <a:solidFill>
            <a:srgbClr val="FFFFFF"/>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02803" y="4736592"/>
            <a:ext cx="1489862" cy="402336"/>
          </a:xfrm>
          <a:prstGeom prst="rect">
            <a:avLst/>
          </a:prstGeom>
          <a:noFill/>
        </p:spPr>
        <p:txBody>
          <a:bodyPr wrap="square" lIns="0" rIns="0" tIns="0" bIns="0" anchor="ctr">
            <a:spAutoFit/>
          </a:bodyPr>
          <a:lstStyle/>
          <a:p>
            <a:pPr algn="ctr">
              <a:lnSpc>
                <a:spcPct val="115000"/>
              </a:lnSpc>
            </a:pPr>
            <a:r>
              <a:rPr sz="1000" b="1" i="0">
                <a:solidFill>
                  <a:srgbClr val="B45309"/>
                </a:solidFill>
                <a:latin typeface="Aptos"/>
              </a:rPr>
              <a:t>Some</a:t>
            </a:r>
          </a:p>
        </p:txBody>
      </p:sp>
      <p:sp>
        <p:nvSpPr>
          <p:cNvPr id="34" name="Rounded Rectangle 33"/>
          <p:cNvSpPr/>
          <p:nvPr/>
        </p:nvSpPr>
        <p:spPr>
          <a:xfrm>
            <a:off x="9775545" y="4736592"/>
            <a:ext cx="1599590" cy="402336"/>
          </a:xfrm>
          <a:prstGeom prst="roundRect">
            <a:avLst>
              <a:gd name="adj" fmla="val 6000"/>
            </a:avLst>
          </a:prstGeom>
          <a:solidFill>
            <a:srgbClr val="FFFFFF"/>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30409" y="4736592"/>
            <a:ext cx="1489862" cy="402336"/>
          </a:xfrm>
          <a:prstGeom prst="rect">
            <a:avLst/>
          </a:prstGeom>
          <a:noFill/>
        </p:spPr>
        <p:txBody>
          <a:bodyPr wrap="square" lIns="0" rIns="0" tIns="0" bIns="0" anchor="ctr">
            <a:spAutoFit/>
          </a:bodyPr>
          <a:lstStyle/>
          <a:p>
            <a:pPr algn="ctr">
              <a:lnSpc>
                <a:spcPct val="115000"/>
              </a:lnSpc>
            </a:pPr>
            <a:r>
              <a:rPr sz="1000" b="1" i="0">
                <a:solidFill>
                  <a:srgbClr val="B45309"/>
                </a:solidFill>
                <a:latin typeface="Aptos"/>
              </a:rPr>
              <a:t>No — here is what was missing</a:t>
            </a:r>
          </a:p>
        </p:txBody>
      </p:sp>
      <p:sp>
        <p:nvSpPr>
          <p:cNvPr id="36" name="Rounded Rectangle 35"/>
          <p:cNvSpPr/>
          <p:nvPr/>
        </p:nvSpPr>
        <p:spPr>
          <a:xfrm>
            <a:off x="566928" y="5623560"/>
            <a:ext cx="11064240" cy="960120"/>
          </a:xfrm>
          <a:prstGeom prst="roundRect">
            <a:avLst>
              <a:gd name="adj" fmla="val 6000"/>
            </a:avLst>
          </a:prstGeom>
          <a:solidFill>
            <a:srgbClr val="FFFBEB"/>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769864"/>
            <a:ext cx="10588752" cy="219456"/>
          </a:xfrm>
          <a:prstGeom prst="rect">
            <a:avLst/>
          </a:prstGeom>
          <a:noFill/>
        </p:spPr>
        <p:txBody>
          <a:bodyPr wrap="square" lIns="0" rIns="0" tIns="0" bIns="0" anchor="t">
            <a:spAutoFit/>
          </a:bodyPr>
          <a:lstStyle/>
          <a:p>
            <a:pPr algn="l">
              <a:lnSpc>
                <a:spcPct val="115000"/>
              </a:lnSpc>
            </a:pPr>
            <a:r>
              <a:rPr sz="950" b="1" i="0">
                <a:solidFill>
                  <a:srgbClr val="B45309"/>
                </a:solidFill>
                <a:latin typeface="Aptos"/>
              </a:rPr>
              <a:t>BE HARSH HERE</a:t>
            </a:r>
          </a:p>
        </p:txBody>
      </p:sp>
      <p:sp>
        <p:nvSpPr>
          <p:cNvPr id="38" name="TextBox 37"/>
          <p:cNvSpPr txBox="1"/>
          <p:nvPr/>
        </p:nvSpPr>
        <p:spPr>
          <a:xfrm>
            <a:off x="804672" y="6044184"/>
            <a:ext cx="10588752" cy="393192"/>
          </a:xfrm>
          <a:prstGeom prst="rect">
            <a:avLst/>
          </a:prstGeom>
          <a:noFill/>
        </p:spPr>
        <p:txBody>
          <a:bodyPr wrap="square" lIns="0" rIns="0" tIns="0" bIns="0" anchor="t">
            <a:spAutoFit/>
          </a:bodyPr>
          <a:lstStyle/>
          <a:p>
            <a:pPr algn="l">
              <a:lnSpc>
                <a:spcPct val="122000"/>
              </a:lnSpc>
            </a:pPr>
            <a:r>
              <a:rPr sz="1150" b="0" i="0">
                <a:solidFill>
                  <a:srgbClr val="0F172A"/>
                </a:solidFill>
                <a:latin typeface="Aptos"/>
              </a:rPr>
              <a:t>A polite 'yes it's useful' is worth nothing to me. The useful answer is the specific click that was missing, the number you had to go elsewhere for, the screen you would not have opened.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7315200" cy="182880"/>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3.6 · AFTER THIS WEEK</a:t>
            </a:r>
          </a:p>
        </p:txBody>
      </p:sp>
      <p:sp>
        <p:nvSpPr>
          <p:cNvPr id="3" name="TextBox 2"/>
          <p:cNvSpPr txBox="1"/>
          <p:nvPr/>
        </p:nvSpPr>
        <p:spPr>
          <a:xfrm>
            <a:off x="566928" y="621792"/>
            <a:ext cx="10058400" cy="411480"/>
          </a:xfrm>
          <a:prstGeom prst="rect">
            <a:avLst/>
          </a:prstGeom>
          <a:noFill/>
        </p:spPr>
        <p:txBody>
          <a:bodyPr wrap="square" lIns="0" rIns="0" tIns="0" bIns="0" anchor="t">
            <a:spAutoFit/>
          </a:bodyPr>
          <a:lstStyle/>
          <a:p>
            <a:pPr algn="l">
              <a:lnSpc>
                <a:spcPct val="115000"/>
              </a:lnSpc>
            </a:pPr>
            <a:r>
              <a:rPr sz="2400" b="1" i="0">
                <a:solidFill>
                  <a:srgbClr val="0F172A"/>
                </a:solidFill>
                <a:latin typeface="Aptos"/>
              </a:rPr>
              <a:t>Who owns what</a:t>
            </a:r>
          </a:p>
        </p:txBody>
      </p:sp>
      <p:sp>
        <p:nvSpPr>
          <p:cNvPr id="4" name="Rectangle 3"/>
          <p:cNvSpPr/>
          <p:nvPr/>
        </p:nvSpPr>
        <p:spPr>
          <a:xfrm>
            <a:off x="566928" y="1133856"/>
            <a:ext cx="64008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16736"/>
            <a:ext cx="11064240" cy="457200"/>
          </a:xfrm>
          <a:prstGeom prst="rect">
            <a:avLst/>
          </a:prstGeom>
          <a:noFill/>
        </p:spPr>
        <p:txBody>
          <a:bodyPr wrap="square" lIns="0" rIns="0" tIns="0" bIns="0" anchor="t">
            <a:spAutoFit/>
          </a:bodyPr>
          <a:lstStyle/>
          <a:p>
            <a:pPr algn="l">
              <a:lnSpc>
                <a:spcPct val="115000"/>
              </a:lnSpc>
            </a:pPr>
            <a:r>
              <a:rPr sz="1200" b="0" i="0">
                <a:solidFill>
                  <a:srgbClr val="64748B"/>
                </a:solidFill>
                <a:latin typeface="Aptos"/>
              </a:rPr>
              <a:t>The console stops being mine at the end of session 3. That is the point of doing L2 first.</a:t>
            </a:r>
          </a:p>
        </p:txBody>
      </p:sp>
      <p:sp>
        <p:nvSpPr>
          <p:cNvPr id="6" name="Rounded Rectangle 5"/>
          <p:cNvSpPr/>
          <p:nvPr/>
        </p:nvSpPr>
        <p:spPr>
          <a:xfrm>
            <a:off x="566928" y="2011680"/>
            <a:ext cx="11064240" cy="310896"/>
          </a:xfrm>
          <a:prstGeom prst="roundRect">
            <a:avLst>
              <a:gd name="adj" fmla="val 6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66544"/>
            <a:ext cx="404164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Area</a:t>
            </a:r>
          </a:p>
        </p:txBody>
      </p:sp>
      <p:sp>
        <p:nvSpPr>
          <p:cNvPr id="8" name="TextBox 7"/>
          <p:cNvSpPr txBox="1"/>
          <p:nvPr/>
        </p:nvSpPr>
        <p:spPr>
          <a:xfrm>
            <a:off x="4892040" y="2066544"/>
            <a:ext cx="349300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Owner after this week</a:t>
            </a:r>
          </a:p>
        </p:txBody>
      </p:sp>
      <p:sp>
        <p:nvSpPr>
          <p:cNvPr id="9" name="TextBox 8"/>
          <p:cNvSpPr txBox="1"/>
          <p:nvPr/>
        </p:nvSpPr>
        <p:spPr>
          <a:xfrm>
            <a:off x="8549640" y="2066544"/>
            <a:ext cx="3035808" cy="237744"/>
          </a:xfrm>
          <a:prstGeom prst="rect">
            <a:avLst/>
          </a:prstGeom>
          <a:noFill/>
        </p:spPr>
        <p:txBody>
          <a:bodyPr wrap="square" lIns="0" rIns="0" tIns="0" bIns="0" anchor="t">
            <a:spAutoFit/>
          </a:bodyPr>
          <a:lstStyle/>
          <a:p>
            <a:pPr algn="l">
              <a:lnSpc>
                <a:spcPct val="115000"/>
              </a:lnSpc>
            </a:pPr>
            <a:r>
              <a:rPr sz="1050" b="1" i="0">
                <a:solidFill>
                  <a:srgbClr val="0F172A"/>
                </a:solidFill>
                <a:latin typeface="Aptos"/>
              </a:rPr>
              <a:t>Cadence</a:t>
            </a:r>
          </a:p>
        </p:txBody>
      </p:sp>
      <p:sp>
        <p:nvSpPr>
          <p:cNvPr id="10" name="TextBox 9"/>
          <p:cNvSpPr txBox="1"/>
          <p:nvPr/>
        </p:nvSpPr>
        <p:spPr>
          <a:xfrm>
            <a:off x="685800" y="2377440"/>
            <a:ext cx="404164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Daily health — is the data fresh and sane?</a:t>
            </a:r>
          </a:p>
        </p:txBody>
      </p:sp>
      <p:sp>
        <p:nvSpPr>
          <p:cNvPr id="11" name="TextBox 10"/>
          <p:cNvSpPr txBox="1"/>
          <p:nvPr/>
        </p:nvSpPr>
        <p:spPr>
          <a:xfrm>
            <a:off x="4892040" y="2377440"/>
            <a:ext cx="34930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L2 on duty</a:t>
            </a:r>
          </a:p>
        </p:txBody>
      </p:sp>
      <p:sp>
        <p:nvSpPr>
          <p:cNvPr id="12" name="TextBox 11"/>
          <p:cNvSpPr txBox="1"/>
          <p:nvPr/>
        </p:nvSpPr>
        <p:spPr>
          <a:xfrm>
            <a:off x="8549640" y="2377440"/>
            <a:ext cx="30358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each morning, 2 minutes</a:t>
            </a:r>
          </a:p>
        </p:txBody>
      </p:sp>
      <p:sp>
        <p:nvSpPr>
          <p:cNvPr id="13" name="Rounded Rectangle 12"/>
          <p:cNvSpPr/>
          <p:nvPr/>
        </p:nvSpPr>
        <p:spPr>
          <a:xfrm>
            <a:off x="566928" y="2633472"/>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688336"/>
            <a:ext cx="404164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Alert tuning — thresholds, noise, gaps</a:t>
            </a:r>
          </a:p>
        </p:txBody>
      </p:sp>
      <p:sp>
        <p:nvSpPr>
          <p:cNvPr id="15" name="TextBox 14"/>
          <p:cNvSpPr txBox="1"/>
          <p:nvPr/>
        </p:nvSpPr>
        <p:spPr>
          <a:xfrm>
            <a:off x="4892040" y="2688336"/>
            <a:ext cx="34930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L2 lead + console owner</a:t>
            </a:r>
          </a:p>
        </p:txBody>
      </p:sp>
      <p:sp>
        <p:nvSpPr>
          <p:cNvPr id="16" name="TextBox 15"/>
          <p:cNvSpPr txBox="1"/>
          <p:nvPr/>
        </p:nvSpPr>
        <p:spPr>
          <a:xfrm>
            <a:off x="8549640" y="2688336"/>
            <a:ext cx="30358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weekly, with the metric charts open</a:t>
            </a:r>
          </a:p>
        </p:txBody>
      </p:sp>
      <p:sp>
        <p:nvSpPr>
          <p:cNvPr id="17" name="TextBox 16"/>
          <p:cNvSpPr txBox="1"/>
          <p:nvPr/>
        </p:nvSpPr>
        <p:spPr>
          <a:xfrm>
            <a:off x="685800" y="2999232"/>
            <a:ext cx="404164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New detections after an incident</a:t>
            </a:r>
          </a:p>
        </p:txBody>
      </p:sp>
      <p:sp>
        <p:nvSpPr>
          <p:cNvPr id="18" name="TextBox 17"/>
          <p:cNvSpPr txBox="1"/>
          <p:nvPr/>
        </p:nvSpPr>
        <p:spPr>
          <a:xfrm>
            <a:off x="4892040" y="2999232"/>
            <a:ext cx="34930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whoever ran the incident</a:t>
            </a:r>
          </a:p>
        </p:txBody>
      </p:sp>
      <p:sp>
        <p:nvSpPr>
          <p:cNvPr id="19" name="TextBox 18"/>
          <p:cNvSpPr txBox="1"/>
          <p:nvPr/>
        </p:nvSpPr>
        <p:spPr>
          <a:xfrm>
            <a:off x="8549640" y="2999232"/>
            <a:ext cx="30358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written up within 48h</a:t>
            </a:r>
          </a:p>
        </p:txBody>
      </p:sp>
      <p:sp>
        <p:nvSpPr>
          <p:cNvPr id="20" name="Rounded Rectangle 19"/>
          <p:cNvSpPr/>
          <p:nvPr/>
        </p:nvSpPr>
        <p:spPr>
          <a:xfrm>
            <a:off x="566928" y="3255264"/>
            <a:ext cx="11064240" cy="310896"/>
          </a:xfrm>
          <a:prstGeom prst="roundRect">
            <a:avLst>
              <a:gd name="adj" fmla="val 6000"/>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310128"/>
            <a:ext cx="404164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Definitions — what a KPI counts</a:t>
            </a:r>
          </a:p>
        </p:txBody>
      </p:sp>
      <p:sp>
        <p:nvSpPr>
          <p:cNvPr id="22" name="TextBox 21"/>
          <p:cNvSpPr txBox="1"/>
          <p:nvPr/>
        </p:nvSpPr>
        <p:spPr>
          <a:xfrm>
            <a:off x="4892040" y="3310128"/>
            <a:ext cx="34930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L2 agree, owner implements</a:t>
            </a:r>
          </a:p>
        </p:txBody>
      </p:sp>
      <p:sp>
        <p:nvSpPr>
          <p:cNvPr id="23" name="TextBox 22"/>
          <p:cNvSpPr txBox="1"/>
          <p:nvPr/>
        </p:nvSpPr>
        <p:spPr>
          <a:xfrm>
            <a:off x="8549640" y="3310128"/>
            <a:ext cx="30358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on change</a:t>
            </a:r>
          </a:p>
        </p:txBody>
      </p:sp>
      <p:sp>
        <p:nvSpPr>
          <p:cNvPr id="24" name="TextBox 23"/>
          <p:cNvSpPr txBox="1"/>
          <p:nvPr/>
        </p:nvSpPr>
        <p:spPr>
          <a:xfrm>
            <a:off x="685800" y="3621024"/>
            <a:ext cx="404164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Training L1</a:t>
            </a:r>
          </a:p>
        </p:txBody>
      </p:sp>
      <p:sp>
        <p:nvSpPr>
          <p:cNvPr id="25" name="TextBox 24"/>
          <p:cNvSpPr txBox="1"/>
          <p:nvPr/>
        </p:nvSpPr>
        <p:spPr>
          <a:xfrm>
            <a:off x="4892040" y="3621024"/>
            <a:ext cx="34930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L2, once this review closes</a:t>
            </a:r>
          </a:p>
        </p:txBody>
      </p:sp>
      <p:sp>
        <p:nvSpPr>
          <p:cNvPr id="26" name="TextBox 25"/>
          <p:cNvSpPr txBox="1"/>
          <p:nvPr/>
        </p:nvSpPr>
        <p:spPr>
          <a:xfrm>
            <a:off x="8549640" y="3621024"/>
            <a:ext cx="3035808" cy="237744"/>
          </a:xfrm>
          <a:prstGeom prst="rect">
            <a:avLst/>
          </a:prstGeom>
          <a:noFill/>
        </p:spPr>
        <p:txBody>
          <a:bodyPr wrap="square" lIns="0" rIns="0" tIns="0" bIns="0" anchor="t">
            <a:spAutoFit/>
          </a:bodyPr>
          <a:lstStyle/>
          <a:p>
            <a:pPr algn="l">
              <a:lnSpc>
                <a:spcPct val="115000"/>
              </a:lnSpc>
            </a:pPr>
            <a:r>
              <a:rPr sz="1050" b="0" i="0">
                <a:solidFill>
                  <a:srgbClr val="334155"/>
                </a:solidFill>
                <a:latin typeface="Aptos"/>
              </a:rPr>
              <a:t>next series</a:t>
            </a:r>
          </a:p>
        </p:txBody>
      </p:sp>
      <p:sp>
        <p:nvSpPr>
          <p:cNvPr id="27" name="TextBox 26"/>
          <p:cNvSpPr txBox="1"/>
          <p:nvPr/>
        </p:nvSpPr>
        <p:spPr>
          <a:xfrm>
            <a:off x="566928" y="4114800"/>
            <a:ext cx="11064240" cy="237744"/>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BEFORE ANYONE LEAVES THE ROOM</a:t>
            </a:r>
          </a:p>
        </p:txBody>
      </p:sp>
      <p:sp>
        <p:nvSpPr>
          <p:cNvPr id="28" name="Rounded Rectangle 27"/>
          <p:cNvSpPr/>
          <p:nvPr/>
        </p:nvSpPr>
        <p:spPr>
          <a:xfrm>
            <a:off x="566928" y="4462272"/>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6112" y="4425696"/>
            <a:ext cx="10698480"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Three things we agreed to change this week, with names against them</a:t>
            </a:r>
          </a:p>
        </p:txBody>
      </p:sp>
      <p:sp>
        <p:nvSpPr>
          <p:cNvPr id="30" name="Rounded Rectangle 29"/>
          <p:cNvSpPr/>
          <p:nvPr/>
        </p:nvSpPr>
        <p:spPr>
          <a:xfrm>
            <a:off x="566928" y="4846320"/>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4809744"/>
            <a:ext cx="10698480"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The ranked backlog of what is still missing</a:t>
            </a:r>
          </a:p>
        </p:txBody>
      </p:sp>
      <p:sp>
        <p:nvSpPr>
          <p:cNvPr id="32" name="Rounded Rectangle 31"/>
          <p:cNvSpPr/>
          <p:nvPr/>
        </p:nvSpPr>
        <p:spPr>
          <a:xfrm>
            <a:off x="566928" y="5230368"/>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6112" y="5193792"/>
            <a:ext cx="10698480"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Who opens the console each morning, and what they check</a:t>
            </a:r>
          </a:p>
        </p:txBody>
      </p:sp>
      <p:sp>
        <p:nvSpPr>
          <p:cNvPr id="34" name="Rounded Rectangle 33"/>
          <p:cNvSpPr/>
          <p:nvPr/>
        </p:nvSpPr>
        <p:spPr>
          <a:xfrm>
            <a:off x="566928" y="5614416"/>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 y="5577840"/>
            <a:ext cx="10698480"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When we review the rules again, in the calendar before we leave</a:t>
            </a:r>
          </a:p>
        </p:txBody>
      </p:sp>
      <p:sp>
        <p:nvSpPr>
          <p:cNvPr id="36" name="Rounded Rectangle 35"/>
          <p:cNvSpPr/>
          <p:nvPr/>
        </p:nvSpPr>
        <p:spPr>
          <a:xfrm>
            <a:off x="566928" y="5998464"/>
            <a:ext cx="219456" cy="219456"/>
          </a:xfrm>
          <a:prstGeom prst="roundRect">
            <a:avLst>
              <a:gd name="adj" fmla="val 15000"/>
            </a:avLst>
          </a:prstGeom>
          <a:solidFill>
            <a:srgbClr val="FFFFFF"/>
          </a:solidFill>
          <a:ln w="13970">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6112" y="5961888"/>
            <a:ext cx="10698480" cy="338328"/>
          </a:xfrm>
          <a:prstGeom prst="rect">
            <a:avLst/>
          </a:prstGeom>
          <a:noFill/>
        </p:spPr>
        <p:txBody>
          <a:bodyPr wrap="square" lIns="0" rIns="0" tIns="0" bIns="0" anchor="t">
            <a:spAutoFit/>
          </a:bodyPr>
          <a:lstStyle/>
          <a:p>
            <a:pPr algn="l">
              <a:lnSpc>
                <a:spcPct val="115000"/>
              </a:lnSpc>
            </a:pPr>
            <a:r>
              <a:rPr sz="1150" b="0" i="0">
                <a:solidFill>
                  <a:srgbClr val="0F172A"/>
                </a:solidFill>
                <a:latin typeface="Aptos"/>
              </a:rPr>
              <a:t>Green light (or not) for the L1 workshops</a:t>
            </a:r>
          </a:p>
        </p:txBody>
      </p:sp>
      <p:sp>
        <p:nvSpPr>
          <p:cNvPr id="38" name="Rounded Rectangle 37"/>
          <p:cNvSpPr/>
          <p:nvPr/>
        </p:nvSpPr>
        <p:spPr>
          <a:xfrm>
            <a:off x="566928" y="6172200"/>
            <a:ext cx="11064240" cy="658368"/>
          </a:xfrm>
          <a:prstGeom prst="roundRect">
            <a:avLst>
              <a:gd name="adj" fmla="val 6000"/>
            </a:avLst>
          </a:prstGeom>
          <a:solidFill>
            <a:srgbClr val="FFFBEB"/>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6291072"/>
            <a:ext cx="5387644" cy="201168"/>
          </a:xfrm>
          <a:prstGeom prst="rect">
            <a:avLst/>
          </a:prstGeom>
          <a:noFill/>
        </p:spPr>
        <p:txBody>
          <a:bodyPr wrap="square" lIns="0" rIns="0" tIns="0" bIns="0" anchor="t">
            <a:spAutoFit/>
          </a:bodyPr>
          <a:lstStyle/>
          <a:p>
            <a:pPr algn="l">
              <a:lnSpc>
                <a:spcPct val="115000"/>
              </a:lnSpc>
            </a:pPr>
            <a:r>
              <a:rPr sz="900" b="1" i="0">
                <a:solidFill>
                  <a:srgbClr val="B45309"/>
                </a:solidFill>
                <a:latin typeface="Aptos"/>
              </a:rPr>
              <a:t>THE ONLY QUESTION THAT MATTERS</a:t>
            </a:r>
          </a:p>
        </p:txBody>
      </p:sp>
      <p:sp>
        <p:nvSpPr>
          <p:cNvPr id="40" name="TextBox 39"/>
          <p:cNvSpPr txBox="1"/>
          <p:nvPr/>
        </p:nvSpPr>
        <p:spPr>
          <a:xfrm>
            <a:off x="822960" y="6501384"/>
            <a:ext cx="5387644" cy="219456"/>
          </a:xfrm>
          <a:prstGeom prst="rect">
            <a:avLst/>
          </a:prstGeom>
          <a:noFill/>
        </p:spPr>
        <p:txBody>
          <a:bodyPr wrap="square" lIns="0" rIns="0" tIns="0" bIns="0" anchor="t">
            <a:spAutoFit/>
          </a:bodyPr>
          <a:lstStyle/>
          <a:p>
            <a:pPr algn="l">
              <a:lnSpc>
                <a:spcPct val="115000"/>
              </a:lnSpc>
            </a:pPr>
            <a:r>
              <a:rPr sz="1250" b="1" i="0">
                <a:solidFill>
                  <a:srgbClr val="0F172A"/>
                </a:solidFill>
                <a:latin typeface="Aptos"/>
              </a:rPr>
              <a:t>Is this ready for L1?</a:t>
            </a:r>
          </a:p>
        </p:txBody>
      </p:sp>
      <p:sp>
        <p:nvSpPr>
          <p:cNvPr id="41" name="Rounded Rectangle 40"/>
          <p:cNvSpPr/>
          <p:nvPr/>
        </p:nvSpPr>
        <p:spPr>
          <a:xfrm>
            <a:off x="6320332" y="6300216"/>
            <a:ext cx="1599590" cy="402336"/>
          </a:xfrm>
          <a:prstGeom prst="roundRect">
            <a:avLst>
              <a:gd name="adj" fmla="val 6000"/>
            </a:avLst>
          </a:prstGeom>
          <a:solidFill>
            <a:srgbClr val="FFFFFF"/>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75196" y="6300216"/>
            <a:ext cx="1489862" cy="402336"/>
          </a:xfrm>
          <a:prstGeom prst="rect">
            <a:avLst/>
          </a:prstGeom>
          <a:noFill/>
        </p:spPr>
        <p:txBody>
          <a:bodyPr wrap="square" lIns="0" rIns="0" tIns="0" bIns="0" anchor="ctr">
            <a:spAutoFit/>
          </a:bodyPr>
          <a:lstStyle/>
          <a:p>
            <a:pPr algn="ctr">
              <a:lnSpc>
                <a:spcPct val="115000"/>
              </a:lnSpc>
            </a:pPr>
            <a:r>
              <a:rPr sz="1000" b="1" i="0">
                <a:solidFill>
                  <a:srgbClr val="B45309"/>
                </a:solidFill>
                <a:latin typeface="Aptos"/>
              </a:rPr>
              <a:t>Yes</a:t>
            </a:r>
          </a:p>
        </p:txBody>
      </p:sp>
      <p:sp>
        <p:nvSpPr>
          <p:cNvPr id="43" name="Rounded Rectangle 42"/>
          <p:cNvSpPr/>
          <p:nvPr/>
        </p:nvSpPr>
        <p:spPr>
          <a:xfrm>
            <a:off x="8047939" y="6300216"/>
            <a:ext cx="1599590" cy="402336"/>
          </a:xfrm>
          <a:prstGeom prst="roundRect">
            <a:avLst>
              <a:gd name="adj" fmla="val 6000"/>
            </a:avLst>
          </a:prstGeom>
          <a:solidFill>
            <a:srgbClr val="FFFFFF"/>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2803" y="6300216"/>
            <a:ext cx="1489862" cy="402336"/>
          </a:xfrm>
          <a:prstGeom prst="rect">
            <a:avLst/>
          </a:prstGeom>
          <a:noFill/>
        </p:spPr>
        <p:txBody>
          <a:bodyPr wrap="square" lIns="0" rIns="0" tIns="0" bIns="0" anchor="ctr">
            <a:spAutoFit/>
          </a:bodyPr>
          <a:lstStyle/>
          <a:p>
            <a:pPr algn="ctr">
              <a:lnSpc>
                <a:spcPct val="115000"/>
              </a:lnSpc>
            </a:pPr>
            <a:r>
              <a:rPr sz="1000" b="1" i="0">
                <a:solidFill>
                  <a:srgbClr val="B45309"/>
                </a:solidFill>
                <a:latin typeface="Aptos"/>
              </a:rPr>
              <a:t>Yes, after these fixes</a:t>
            </a:r>
          </a:p>
        </p:txBody>
      </p:sp>
      <p:sp>
        <p:nvSpPr>
          <p:cNvPr id="45" name="Rounded Rectangle 44"/>
          <p:cNvSpPr/>
          <p:nvPr/>
        </p:nvSpPr>
        <p:spPr>
          <a:xfrm>
            <a:off x="9775545" y="6300216"/>
            <a:ext cx="1599590" cy="402336"/>
          </a:xfrm>
          <a:prstGeom prst="roundRect">
            <a:avLst>
              <a:gd name="adj" fmla="val 6000"/>
            </a:avLst>
          </a:prstGeom>
          <a:solidFill>
            <a:srgbClr val="FFFFFF"/>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830409" y="6300216"/>
            <a:ext cx="1489862" cy="402336"/>
          </a:xfrm>
          <a:prstGeom prst="rect">
            <a:avLst/>
          </a:prstGeom>
          <a:noFill/>
        </p:spPr>
        <p:txBody>
          <a:bodyPr wrap="square" lIns="0" rIns="0" tIns="0" bIns="0" anchor="ctr">
            <a:spAutoFit/>
          </a:bodyPr>
          <a:lstStyle/>
          <a:p>
            <a:pPr algn="ctr">
              <a:lnSpc>
                <a:spcPct val="115000"/>
              </a:lnSpc>
            </a:pPr>
            <a:r>
              <a:rPr sz="1000" b="1" i="0">
                <a:solidFill>
                  <a:srgbClr val="B45309"/>
                </a:solidFill>
                <a:latin typeface="Aptos"/>
              </a:rPr>
              <a:t>No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7315200" cy="182880"/>
          </a:xfrm>
          <a:prstGeom prst="rect">
            <a:avLst/>
          </a:prstGeom>
          <a:noFill/>
        </p:spPr>
        <p:txBody>
          <a:bodyPr wrap="square" lIns="0" rIns="0" tIns="0" bIns="0" anchor="t">
            <a:spAutoFit/>
          </a:bodyPr>
          <a:lstStyle/>
          <a:p>
            <a:pPr algn="l">
              <a:lnSpc>
                <a:spcPct val="115000"/>
              </a:lnSpc>
            </a:pPr>
            <a:r>
              <a:rPr sz="950" b="1" i="0">
                <a:solidFill>
                  <a:srgbClr val="008A47"/>
                </a:solidFill>
                <a:latin typeface="Aptos"/>
              </a:rPr>
              <a:t>THE ASK</a:t>
            </a:r>
          </a:p>
        </p:txBody>
      </p:sp>
      <p:sp>
        <p:nvSpPr>
          <p:cNvPr id="3" name="TextBox 2"/>
          <p:cNvSpPr txBox="1"/>
          <p:nvPr/>
        </p:nvSpPr>
        <p:spPr>
          <a:xfrm>
            <a:off x="566928" y="621792"/>
            <a:ext cx="10058400" cy="411480"/>
          </a:xfrm>
          <a:prstGeom prst="rect">
            <a:avLst/>
          </a:prstGeom>
          <a:noFill/>
        </p:spPr>
        <p:txBody>
          <a:bodyPr wrap="square" lIns="0" rIns="0" tIns="0" bIns="0" anchor="t">
            <a:spAutoFit/>
          </a:bodyPr>
          <a:lstStyle/>
          <a:p>
            <a:pPr algn="l">
              <a:lnSpc>
                <a:spcPct val="115000"/>
              </a:lnSpc>
            </a:pPr>
            <a:r>
              <a:rPr sz="2400" b="1" i="0">
                <a:solidFill>
                  <a:srgbClr val="0F172A"/>
                </a:solidFill>
                <a:latin typeface="Aptos"/>
              </a:rPr>
              <a:t>What I need from you this week</a:t>
            </a:r>
          </a:p>
        </p:txBody>
      </p:sp>
      <p:sp>
        <p:nvSpPr>
          <p:cNvPr id="4" name="Rectangle 3"/>
          <p:cNvSpPr/>
          <p:nvPr/>
        </p:nvSpPr>
        <p:spPr>
          <a:xfrm>
            <a:off x="566928" y="1133856"/>
            <a:ext cx="64008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16736"/>
            <a:ext cx="11064240" cy="457200"/>
          </a:xfrm>
          <a:prstGeom prst="rect">
            <a:avLst/>
          </a:prstGeom>
          <a:noFill/>
        </p:spPr>
        <p:txBody>
          <a:bodyPr wrap="square" lIns="0" rIns="0" tIns="0" bIns="0" anchor="t">
            <a:spAutoFit/>
          </a:bodyPr>
          <a:lstStyle/>
          <a:p>
            <a:pPr algn="l">
              <a:lnSpc>
                <a:spcPct val="115000"/>
              </a:lnSpc>
            </a:pPr>
            <a:r>
              <a:rPr sz="1200" b="0" i="0">
                <a:solidFill>
                  <a:srgbClr val="64748B"/>
                </a:solidFill>
                <a:latin typeface="Aptos"/>
              </a:rPr>
              <a:t>Short version: use it for real, and tell me every single thing that is wrong.</a:t>
            </a:r>
          </a:p>
        </p:txBody>
      </p:sp>
      <p:sp>
        <p:nvSpPr>
          <p:cNvPr id="6" name="Rounded Rectangle 5"/>
          <p:cNvSpPr/>
          <p:nvPr/>
        </p:nvSpPr>
        <p:spPr>
          <a:xfrm>
            <a:off x="566928" y="1965960"/>
            <a:ext cx="11064240" cy="1234440"/>
          </a:xfrm>
          <a:prstGeom prst="roundRect">
            <a:avLst>
              <a:gd name="adj" fmla="val 6000"/>
            </a:avLst>
          </a:prstGeom>
          <a:solidFill>
            <a:srgbClr val="FEF2F2"/>
          </a:solidFill>
          <a:ln w="952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2148840"/>
            <a:ext cx="10515600" cy="256032"/>
          </a:xfrm>
          <a:prstGeom prst="rect">
            <a:avLst/>
          </a:prstGeom>
          <a:noFill/>
        </p:spPr>
        <p:txBody>
          <a:bodyPr wrap="square" lIns="0" rIns="0" tIns="0" bIns="0" anchor="t">
            <a:spAutoFit/>
          </a:bodyPr>
          <a:lstStyle/>
          <a:p>
            <a:pPr algn="l">
              <a:lnSpc>
                <a:spcPct val="115000"/>
              </a:lnSpc>
            </a:pPr>
            <a:r>
              <a:rPr sz="1350" b="1" i="0">
                <a:solidFill>
                  <a:srgbClr val="0F172A"/>
                </a:solidFill>
                <a:latin typeface="Aptos"/>
              </a:rPr>
              <a:t>Be specific, not polite</a:t>
            </a:r>
          </a:p>
        </p:txBody>
      </p:sp>
      <p:sp>
        <p:nvSpPr>
          <p:cNvPr id="8" name="TextBox 7"/>
          <p:cNvSpPr txBox="1"/>
          <p:nvPr/>
        </p:nvSpPr>
        <p:spPr>
          <a:xfrm>
            <a:off x="841248" y="2478024"/>
            <a:ext cx="10515600" cy="594360"/>
          </a:xfrm>
          <a:prstGeom prst="rect">
            <a:avLst/>
          </a:prstGeom>
          <a:noFill/>
        </p:spPr>
        <p:txBody>
          <a:bodyPr wrap="square" lIns="0" rIns="0" tIns="0" bIns="0" anchor="t">
            <a:spAutoFit/>
          </a:bodyPr>
          <a:lstStyle/>
          <a:p>
            <a:pPr algn="l">
              <a:lnSpc>
                <a:spcPct val="125000"/>
              </a:lnSpc>
            </a:pPr>
            <a:r>
              <a:rPr sz="1150" b="0" i="0">
                <a:solidFill>
                  <a:srgbClr val="334155"/>
                </a:solidFill>
                <a:latin typeface="Aptos"/>
              </a:rPr>
              <a:t>'The payment page is confusing' cannot be fixed. 'Decline reason is not visible without two clicks' was fixed the same day.</a:t>
            </a:r>
          </a:p>
        </p:txBody>
      </p:sp>
      <p:sp>
        <p:nvSpPr>
          <p:cNvPr id="9" name="Rounded Rectangle 8"/>
          <p:cNvSpPr/>
          <p:nvPr/>
        </p:nvSpPr>
        <p:spPr>
          <a:xfrm>
            <a:off x="566928" y="3337560"/>
            <a:ext cx="11064240" cy="1234440"/>
          </a:xfrm>
          <a:prstGeom prst="roundRect">
            <a:avLst>
              <a:gd name="adj" fmla="val 6000"/>
            </a:avLst>
          </a:prstGeom>
          <a:solidFill>
            <a:srgbClr val="ECFDF3"/>
          </a:solidFill>
          <a:ln w="9525">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3520440"/>
            <a:ext cx="10515600" cy="256032"/>
          </a:xfrm>
          <a:prstGeom prst="rect">
            <a:avLst/>
          </a:prstGeom>
          <a:noFill/>
        </p:spPr>
        <p:txBody>
          <a:bodyPr wrap="square" lIns="0" rIns="0" tIns="0" bIns="0" anchor="t">
            <a:spAutoFit/>
          </a:bodyPr>
          <a:lstStyle/>
          <a:p>
            <a:pPr algn="l">
              <a:lnSpc>
                <a:spcPct val="115000"/>
              </a:lnSpc>
            </a:pPr>
            <a:r>
              <a:rPr sz="1350" b="1" i="0">
                <a:solidFill>
                  <a:srgbClr val="0F172A"/>
                </a:solidFill>
                <a:latin typeface="Aptos"/>
              </a:rPr>
              <a:t>Report numbers that look wrong FIRST</a:t>
            </a:r>
          </a:p>
        </p:txBody>
      </p:sp>
      <p:sp>
        <p:nvSpPr>
          <p:cNvPr id="11" name="TextBox 10"/>
          <p:cNvSpPr txBox="1"/>
          <p:nvPr/>
        </p:nvSpPr>
        <p:spPr>
          <a:xfrm>
            <a:off x="841248" y="3849624"/>
            <a:ext cx="10515600" cy="594360"/>
          </a:xfrm>
          <a:prstGeom prst="rect">
            <a:avLst/>
          </a:prstGeom>
          <a:noFill/>
        </p:spPr>
        <p:txBody>
          <a:bodyPr wrap="square" lIns="0" rIns="0" tIns="0" bIns="0" anchor="t">
            <a:spAutoFit/>
          </a:bodyPr>
          <a:lstStyle/>
          <a:p>
            <a:pPr algn="l">
              <a:lnSpc>
                <a:spcPct val="125000"/>
              </a:lnSpc>
            </a:pPr>
            <a:r>
              <a:rPr sz="1150" b="0" i="0">
                <a:solidFill>
                  <a:srgbClr val="334155"/>
                </a:solidFill>
                <a:latin typeface="Aptos"/>
              </a:rPr>
              <a:t>Every serious defect so far was found by someone saying 'that looks wrong'. The reseller figures. The staleness banner. The stuck payments. All of them.</a:t>
            </a:r>
          </a:p>
        </p:txBody>
      </p:sp>
      <p:sp>
        <p:nvSpPr>
          <p:cNvPr id="12" name="Rounded Rectangle 11"/>
          <p:cNvSpPr/>
          <p:nvPr/>
        </p:nvSpPr>
        <p:spPr>
          <a:xfrm>
            <a:off x="566928" y="4709160"/>
            <a:ext cx="11064240" cy="1234440"/>
          </a:xfrm>
          <a:prstGeom prst="roundRect">
            <a:avLst>
              <a:gd name="adj" fmla="val 6000"/>
            </a:avLst>
          </a:prstGeom>
          <a:solidFill>
            <a:srgbClr val="FFFBEB"/>
          </a:solid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4892040"/>
            <a:ext cx="10515600" cy="256032"/>
          </a:xfrm>
          <a:prstGeom prst="rect">
            <a:avLst/>
          </a:prstGeom>
          <a:noFill/>
        </p:spPr>
        <p:txBody>
          <a:bodyPr wrap="square" lIns="0" rIns="0" tIns="0" bIns="0" anchor="t">
            <a:spAutoFit/>
          </a:bodyPr>
          <a:lstStyle/>
          <a:p>
            <a:pPr algn="l">
              <a:lnSpc>
                <a:spcPct val="115000"/>
              </a:lnSpc>
            </a:pPr>
            <a:r>
              <a:rPr sz="1350" b="1" i="0">
                <a:solidFill>
                  <a:srgbClr val="0F172A"/>
                </a:solidFill>
                <a:latin typeface="Aptos"/>
              </a:rPr>
              <a:t>Say when an alert wasted your time</a:t>
            </a:r>
          </a:p>
        </p:txBody>
      </p:sp>
      <p:sp>
        <p:nvSpPr>
          <p:cNvPr id="14" name="TextBox 13"/>
          <p:cNvSpPr txBox="1"/>
          <p:nvPr/>
        </p:nvSpPr>
        <p:spPr>
          <a:xfrm>
            <a:off x="841248" y="5221224"/>
            <a:ext cx="10515600" cy="594360"/>
          </a:xfrm>
          <a:prstGeom prst="rect">
            <a:avLst/>
          </a:prstGeom>
          <a:noFill/>
        </p:spPr>
        <p:txBody>
          <a:bodyPr wrap="square" lIns="0" rIns="0" tIns="0" bIns="0" anchor="t">
            <a:spAutoFit/>
          </a:bodyPr>
          <a:lstStyle/>
          <a:p>
            <a:pPr algn="l">
              <a:lnSpc>
                <a:spcPct val="125000"/>
              </a:lnSpc>
            </a:pPr>
            <a:r>
              <a:rPr sz="1150" b="0" i="0">
                <a:solidFill>
                  <a:srgbClr val="334155"/>
                </a:solidFill>
                <a:latin typeface="Aptos"/>
              </a:rPr>
              <a:t>Noise is not a minor complaint — it is how a monitoring system dies. A rule you ignore is worse than one that does not exist.</a:t>
            </a:r>
          </a:p>
        </p:txBody>
      </p:sp>
      <p:sp>
        <p:nvSpPr>
          <p:cNvPr id="15" name="Rounded Rectangle 14"/>
          <p:cNvSpPr/>
          <p:nvPr/>
        </p:nvSpPr>
        <p:spPr>
          <a:xfrm>
            <a:off x="566928" y="6172200"/>
            <a:ext cx="11064240" cy="548640"/>
          </a:xfrm>
          <a:prstGeom prst="roundRect">
            <a:avLst>
              <a:gd name="adj" fmla="val 6000"/>
            </a:avLst>
          </a:prstGeom>
          <a:solidFill>
            <a:srgbClr val="ECFDF3"/>
          </a:solidFill>
          <a:ln w="9525">
            <a:solidFill>
              <a:srgbClr val="008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6309360"/>
            <a:ext cx="10515600" cy="292608"/>
          </a:xfrm>
          <a:prstGeom prst="rect">
            <a:avLst/>
          </a:prstGeom>
          <a:noFill/>
        </p:spPr>
        <p:txBody>
          <a:bodyPr wrap="square" lIns="0" rIns="0" tIns="0" bIns="0" anchor="t">
            <a:spAutoFit/>
          </a:bodyPr>
          <a:lstStyle/>
          <a:p>
            <a:pPr algn="l">
              <a:lnSpc>
                <a:spcPct val="115000"/>
              </a:lnSpc>
            </a:pPr>
            <a:r>
              <a:rPr sz="1300" b="1" i="0">
                <a:solidFill>
                  <a:srgbClr val="008A47"/>
                </a:solidFill>
                <a:latin typeface="Aptos"/>
              </a:rPr>
              <a:t>By Friday I want a ranked list of what is wrong — not a list of what is good.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0" y="2377440"/>
            <a:ext cx="12191695" cy="274320"/>
          </a:xfrm>
          <a:prstGeom prst="rect">
            <a:avLst/>
          </a:prstGeom>
          <a:noFill/>
        </p:spPr>
        <p:txBody>
          <a:bodyPr wrap="square" lIns="0" rIns="0" tIns="0" bIns="0" anchor="t">
            <a:spAutoFit/>
          </a:bodyPr>
          <a:lstStyle/>
          <a:p>
            <a:pPr algn="ctr">
              <a:lnSpc>
                <a:spcPct val="115000"/>
              </a:lnSpc>
            </a:pPr>
            <a:r>
              <a:rPr sz="1100" b="1" i="0">
                <a:solidFill>
                  <a:srgbClr val="008A47"/>
                </a:solidFill>
                <a:latin typeface="Aptos"/>
              </a:rPr>
              <a:t>SESSION 1 STARTS TODAY</a:t>
            </a:r>
          </a:p>
        </p:txBody>
      </p:sp>
      <p:sp>
        <p:nvSpPr>
          <p:cNvPr id="3" name="TextBox 2"/>
          <p:cNvSpPr txBox="1"/>
          <p:nvPr/>
        </p:nvSpPr>
        <p:spPr>
          <a:xfrm>
            <a:off x="0" y="2743200"/>
            <a:ext cx="12191695" cy="685800"/>
          </a:xfrm>
          <a:prstGeom prst="rect">
            <a:avLst/>
          </a:prstGeom>
          <a:noFill/>
        </p:spPr>
        <p:txBody>
          <a:bodyPr wrap="square" lIns="0" rIns="0" tIns="0" bIns="0" anchor="t">
            <a:spAutoFit/>
          </a:bodyPr>
          <a:lstStyle/>
          <a:p>
            <a:pPr algn="ctr">
              <a:lnSpc>
                <a:spcPct val="115000"/>
              </a:lnSpc>
            </a:pPr>
            <a:r>
              <a:rPr sz="3400" b="1" i="0">
                <a:solidFill>
                  <a:srgbClr val="FFFFFF"/>
                </a:solidFill>
                <a:latin typeface="Aptos"/>
              </a:rPr>
              <a:t>Bring a real case</a:t>
            </a:r>
          </a:p>
        </p:txBody>
      </p:sp>
      <p:sp>
        <p:nvSpPr>
          <p:cNvPr id="4" name="Rectangle 3"/>
          <p:cNvSpPr/>
          <p:nvPr/>
        </p:nvSpPr>
        <p:spPr>
          <a:xfrm>
            <a:off x="5623560" y="3611880"/>
            <a:ext cx="960120" cy="32004"/>
          </a:xfrm>
          <a:prstGeom prst="rect">
            <a:avLst/>
          </a:prstGeom>
          <a:solidFill>
            <a:srgbClr val="008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3886200"/>
            <a:ext cx="12191695" cy="502920"/>
          </a:xfrm>
          <a:prstGeom prst="rect">
            <a:avLst/>
          </a:prstGeom>
          <a:noFill/>
        </p:spPr>
        <p:txBody>
          <a:bodyPr wrap="square" lIns="0" rIns="0" tIns="0" bIns="0" anchor="t">
            <a:spAutoFit/>
          </a:bodyPr>
          <a:lstStyle/>
          <a:p>
            <a:pPr algn="ctr">
              <a:lnSpc>
                <a:spcPct val="135000"/>
              </a:lnSpc>
            </a:pPr>
            <a:r>
              <a:rPr sz="1400" b="0" i="0">
                <a:solidFill>
                  <a:srgbClr val="E2E8F0"/>
                </a:solidFill>
                <a:latin typeface="Aptos"/>
              </a:rPr>
              <a:t>One you handled this week, that was harder than it should have been.</a:t>
            </a:r>
          </a:p>
          <a:p>
            <a:pPr algn="ctr">
              <a:lnSpc>
                <a:spcPct val="135000"/>
              </a:lnSpc>
            </a:pPr>
            <a:r>
              <a:rPr sz="1400" b="0" i="0">
                <a:solidFill>
                  <a:srgbClr val="E2E8F0"/>
                </a:solidFill>
                <a:latin typeface="Aptos"/>
              </a:rPr>
              <a:t>We will find it in the console together.</a:t>
            </a:r>
          </a:p>
        </p:txBody>
      </p:sp>
      <p:sp>
        <p:nvSpPr>
          <p:cNvPr id="6" name="TextBox 5"/>
          <p:cNvSpPr txBox="1"/>
          <p:nvPr/>
        </p:nvSpPr>
        <p:spPr>
          <a:xfrm>
            <a:off x="0" y="4937760"/>
            <a:ext cx="12191695" cy="274320"/>
          </a:xfrm>
          <a:prstGeom prst="rect">
            <a:avLst/>
          </a:prstGeom>
          <a:noFill/>
        </p:spPr>
        <p:txBody>
          <a:bodyPr wrap="square" lIns="0" rIns="0" tIns="0" bIns="0" anchor="t">
            <a:spAutoFit/>
          </a:bodyPr>
          <a:lstStyle/>
          <a:p>
            <a:pPr algn="ctr">
              <a:lnSpc>
                <a:spcPct val="115000"/>
              </a:lnSpc>
            </a:pPr>
            <a:r>
              <a:rPr sz="1200" b="0" i="0">
                <a:solidFill>
                  <a:srgbClr val="94A3B8"/>
                </a:solidFill>
                <a:latin typeface="Consolas"/>
              </a:rPr>
              <a:t>http://172.31.38.115/digital-console/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