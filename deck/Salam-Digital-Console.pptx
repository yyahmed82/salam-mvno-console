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0976" y="384048"/>
            <a:ext cx="10287000" cy="6099048"/>
          </a:xfrm>
          <a:prstGeom prst="roundRect">
            <a:avLst>
              <a:gd name="adj" fmla="val 3000"/>
            </a:avLst>
          </a:prstGeom>
          <a:solidFill>
            <a:srgbClr val="0A0A0F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93976"/>
            <a:ext cx="1219169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MVNO DIGITAL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95728"/>
            <a:ext cx="12191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Liter"/>
              </a:rPr>
              <a:t>DIGITAL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38928" y="3429000"/>
            <a:ext cx="1901952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712463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0">
                <a:solidFill>
                  <a:srgbClr val="E5E7EB"/>
                </a:solidFill>
                <a:latin typeface="Liter"/>
              </a:rPr>
              <a:t>See every journey. Catch every failure. Before the customer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24528"/>
            <a:ext cx="121916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A3AF"/>
                </a:solidFill>
                <a:latin typeface="Liter"/>
              </a:rPr>
              <a:t>Salam Mobile  ·  Digital Ops  · 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507492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550408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ALERT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507492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5550408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JOURNEYS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7492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50408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PANELS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07492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550408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ROWS WATCHED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BLIND SPOTS COST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5E7EB"/>
                </a:solidFill>
                <a:latin typeface="Liter"/>
              </a:rPr>
              <a:t>Every dashboard said production was healthy — while customers were being charged twice, left unactivated, and told to call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486400" cy="969264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32888"/>
            <a:ext cx="310896" cy="228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79191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Liter"/>
              </a:rPr>
              <a:t>A gateway goes down and nobody notices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90087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E5E7EB"/>
                </a:solidFill>
                <a:latin typeface="Liter"/>
              </a:rPr>
              <a:t>UPG stopped taking payments. Failover to HyperPay kept the blended rate green — L1 found out 34 minutes later, from a customer.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92424"/>
            <a:ext cx="5486400" cy="969264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93592"/>
            <a:ext cx="310896" cy="228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39896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Liter"/>
              </a:rPr>
              <a:t>Money taken, order never completes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50791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E5E7EB"/>
                </a:solidFill>
                <a:latin typeface="Liter"/>
              </a:rPr>
              <a:t>The gateway captured the charge; the confirmation never landed. Counted as neither success nor failure — it fell through silently.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53127"/>
            <a:ext cx="5486400" cy="969264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654295"/>
            <a:ext cx="310896" cy="228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599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Liter"/>
              </a:rPr>
              <a:t>The same customer charged twice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11495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E5E7EB"/>
                </a:solidFill>
                <a:latin typeface="Liter"/>
              </a:rPr>
              <a:t>One order, two captures at the gateway — only visible by reconciling against the provider.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13831"/>
            <a:ext cx="5486400" cy="969264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714999"/>
            <a:ext cx="310896" cy="228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61303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Liter"/>
              </a:rPr>
              <a:t>A provider that flaps under a noisy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199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E5E7EB"/>
                </a:solidFill>
                <a:latin typeface="Liter"/>
              </a:rPr>
              <a:t>Semati fails ~55% on a normal day. A flat threshold either screams all day or never fires.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331720"/>
            <a:ext cx="5184648" cy="402336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606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Liter"/>
              </a:rPr>
              <a:t>WHAT IT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2926080"/>
            <a:ext cx="310896" cy="228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3182112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C2626"/>
                </a:solidFill>
                <a:latin typeface="Liter"/>
              </a:rPr>
              <a:t>34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21868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blind spot before a gateway outage was noticed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3941063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C2626"/>
                </a:solidFill>
                <a:latin typeface="Liter"/>
              </a:rPr>
              <a:t>Silent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97763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captured-but-unconfirmed payments, excluded from every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7000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C2626"/>
                </a:solidFill>
                <a:latin typeface="Liter"/>
              </a:rPr>
              <a:t>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73659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three teams and a WhatsApp group to answer one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545896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C2626"/>
                </a:solidFill>
                <a:latin typeface="Liter"/>
              </a:rPr>
              <a:t>Reactive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5495544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the customer was the monitoring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ONE CONSOLE. EVERY JOURNEY.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Live production telemetry, plain-English alerts and a guided runbook — in one place, for every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All 24 journeys,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Failure → root cause in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Alerts on change, not on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Role-scoped · PII masked by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NAV AREAS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7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7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03-dashboard-hero.png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Dashboard · full page, 30d range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THE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WHAT IT WATCHES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5E7EB"/>
                </a:solidFill>
                <a:latin typeface="Liter"/>
              </a:rPr>
              <a:t>Real production volume, synced continuously from the prod replica — read-only, never a write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3520440" cy="114300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128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D66F"/>
                </a:solidFill>
                <a:latin typeface="Liter"/>
              </a:rPr>
              <a:t>16.0M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614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3AF"/>
                </a:solidFill>
                <a:latin typeface="Liter"/>
              </a:rPr>
              <a:t>DEVICES SEEN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011680"/>
            <a:ext cx="3520440" cy="114300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2128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D66F"/>
                </a:solidFill>
                <a:latin typeface="Liter"/>
              </a:rPr>
              <a:t>8.0M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7614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3AF"/>
                </a:solidFill>
                <a:latin typeface="Liter"/>
              </a:rPr>
              <a:t>ORDER ATTEMPTS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011680"/>
            <a:ext cx="3520440" cy="114300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2128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D66F"/>
                </a:solidFill>
                <a:latin typeface="Liter"/>
              </a:rPr>
              <a:t>4.9M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7614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3AF"/>
                </a:solidFill>
                <a:latin typeface="Liter"/>
              </a:rPr>
              <a:t>PAYMENT ATTEMPTS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83280"/>
            <a:ext cx="3520440" cy="114300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5844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D66F"/>
                </a:solidFill>
                <a:latin typeface="Liter"/>
              </a:rPr>
              <a:t>4.4M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1330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3AF"/>
                </a:solidFill>
                <a:latin typeface="Liter"/>
              </a:rPr>
              <a:t>ACTIVATION CALLS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3383280"/>
            <a:ext cx="3520440" cy="114300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35844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D66F"/>
                </a:solidFill>
                <a:latin typeface="Liter"/>
              </a:rPr>
              <a:t>2.3M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1330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3AF"/>
                </a:solidFill>
                <a:latin typeface="Liter"/>
              </a:rPr>
              <a:t>NAFATH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3383280"/>
            <a:ext cx="3520440" cy="114300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5844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0D66F"/>
                </a:solidFill>
                <a:latin typeface="Liter"/>
              </a:rPr>
              <a:t>506K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41330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CA3AF"/>
                </a:solidFill>
                <a:latin typeface="Liter"/>
              </a:rPr>
              <a:t>REGISTERED 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2040"/>
            <a:ext cx="11064240" cy="128016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3892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Liter"/>
              </a:rPr>
              <a:t>THE FUNNEL, IN ONE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6811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D66F"/>
                </a:solidFill>
                <a:latin typeface="Liter"/>
              </a:rPr>
              <a:t>16M devices  →  8M order attempts  →  2.6M checkouts  →  4.9M payment attempts  →  506K users  ·  362K deliveries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35024"/>
            <a:ext cx="3813048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0">
                <a:solidFill>
                  <a:srgbClr val="00D66F"/>
                </a:solidFill>
                <a:latin typeface="Li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044952"/>
            <a:ext cx="100584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Liter"/>
              </a:rPr>
              <a:t>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694176"/>
            <a:ext cx="758952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904487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E5E7EB"/>
                </a:solidFill>
                <a:latin typeface="Liter"/>
              </a:rPr>
              <a:t>Four real incidents — and what the console now catches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PROOF · INC0014859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THE OUTAGE THAT HID BEHIND FAILOVER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Failover to HyperPay kept the blended rate green — so no aggregate dashboard could see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Per-gateway zero-success watchdog (P1)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Fires even when failover masks the blend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Sibling rules for HyperPay &amp; Tap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Colour-coded gateway chips on Troubleshoot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DETECT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GATEWAY WATCHDOGS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SEVERITY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06-upg-alert.png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Alerts › rule detail — UPG gateway zero-success watchdog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PROOF · UPG / TAP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CHARGED BUT NOT ACTIVATED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Pending payments were excluded from the failure-rate denominator — so a captured charge counted as neither success nor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"Payment stuck (unconfirmed)" tile — with refs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"Payment duplicate (suspected)"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Tightened to require a real commit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Tap reconciliation confirms authoritatively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NEW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NEW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DRILL-DOWNS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07-payment-stuck.png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Troubleshoot › Payment stuck (unconfirmed) tile + feed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PROOF · INC0012977 / INC0013148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CATCHING A PROVIDER THAT FLAPS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Semati returns 715 and transport errors intermittently — invisible to a flat threshold against a ~55%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7-rule family tuned above the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Flapping rule: ok→fail transitions, not a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Correlation pages once, not ten 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Synthetic canary covers the 3am no-traffic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SEMATI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60s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CANARY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PAGE, NOT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08-semati-correlation.png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Alerts › open incident with correlation + blast radius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PROOF · OSB 1500 / OSB-382000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THE FAULTS NOBODY COULD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BSS read APIs threw SOAP faults in bursts of 100–200/min. Writes still succeeded, so activation dashboards stayed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Reads logs.uil_logs directly — a separate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Live per-minute fault frequency + top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P1 watcher when faults spike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Reference card tells L1 exactly where to 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FAULT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100–200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PER MINUTE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WATCHER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09-osb-faults.png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Troubleshoot › Activation › BSS read-path OSB fault panel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FROM REACTIVE TO PROACTIVE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5E7EB"/>
                </a:solidFill>
                <a:latin typeface="Liter"/>
              </a:rPr>
              <a:t>The same incident, before and after the console.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6208" y="192024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C2626"/>
                </a:solidFill>
                <a:latin typeface="Liter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12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D66F"/>
                </a:solidFill>
                <a:latin typeface="Liter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✕  Customer calls the call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954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✕  Agent escalates to L1 on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2160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✕  L1 asks BSS, Payments, and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✕  Someone greps logs on three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4573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✕  Hours later: a root cause, maybe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✕  No record, no trend, no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Console pages on-call in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0954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Incident carries its own runbook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72160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Root cause named + blast radius printed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33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Agent sees the customer's full 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74573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One-click ack · assign · resolve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57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History proves recurrence to the vendor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35024"/>
            <a:ext cx="3813048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0">
                <a:solidFill>
                  <a:srgbClr val="00D66F"/>
                </a:solidFill>
                <a:latin typeface="Lite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044952"/>
            <a:ext cx="100584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Liter"/>
              </a:rPr>
              <a:t>DAILY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694176"/>
            <a:ext cx="758952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904487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E5E7EB"/>
                </a:solidFill>
                <a:latin typeface="Liter"/>
              </a:rPr>
              <a:t>Sign in, see the day, fix what broke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SECURE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SIGN IN WITH YOUR WORK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A one-time code to your Salam address, then a real server-side session — and you only see what your role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@salam.sa / @salammobile.sa only — enforced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Registered accounts only; no self-signup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12-hour sliding session, token never stored 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PII masked by default — unmask is audited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8×6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VIEWS×CAPS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PII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12-login.png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Sign-in card — email step (and code step if you have it)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THE WHOLE BUSINESS, ONE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Eight KPIs with deltas, eight journey-health tiles, and a banner that says in plain English whether today is fine.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Coloured against SLA target, not a raw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Today · Yesterday · 7d · 30d + intra-day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Customize: pick sections, 3 role presets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Loud banner if data is stale — never silent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JOURNEYS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PRESETS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13-dashboard-kpis.png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Dashboard › KPI strip + journey health + NOC banner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ORDER STATUS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WHERE ORDERS ACTUALLY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Eligibility → payment → activation &amp; delivery. Every box is clickable and lists the exact orders behind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19 labelled nodes across 3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New SIM and MNP lanes side by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Reconciles to the Orders 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Click any node → the order list → the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LANES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14-flow-tree.png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Dashboard › Order status flow (both lanes visible)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TROUBLESHOOT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TYPE A NUMBER. SEE WHAT BROKE.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Live failures grouped by category and owner team — searchable by mobile, order, ICCID or national 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10 categories, each with its owner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Code · message drill-down on 5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Gateway chips: UPG · HyperPay · Tap · Samsung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Export any view to CSV or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DRILL-DOWNS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SEARCH KEYS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15-troubleshoot.png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Troubleshoot › Error Control Board with category tiles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SUBSCRIBER 360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ONE CUSTOMER, ONE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Payment, activation, Nafath, eligibility, delivery and plan change — assembled into one chronological narrative.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Search by MSISDN or national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Request/response captured at each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Masked by default; unmask is logged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Answers "what happened to this customer?"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SYSTEMS JOINED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TIMELINE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16-timeline.png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Troubleshoot › expanded row timeline, or #sub360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IT WATCHES SO YOU DON'T HAVE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38 rules over 28 metrics, each with a window, a sample gate and a runbook — alerting on change from normal, not on the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Open · History · Metric charts ·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Seasonal expected-range band on every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Self-serve: edit, test against live, save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Replay history as live traffic to tune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P1–P3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SEVERITIES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17-alerts.png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Alerts › Open alerts (or Metric charts with the band)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GUIDED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THE RUNBOOK COMES WITH THE ALERT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Every incident carries its steps, blast radius and escalation path — so whoever is paged at 3am never hunts for the wiki.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Runbook steps written per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Root cause named; symptoms suppressed under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Ack · assign · snooze · resolve · comment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On-call ladder climbs until acknowledged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0/10/25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P1 LADDER (MIN)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CHANNELS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18-guided-response.png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Alerts › incident detail with runbook + Notify on-call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SLA &amp; VENDOR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ARE WE KEEPING OUR PROMISES?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Seven service levels with attainment and error budget, plus per-vendor health for gateways and couriers.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7 SLOs: met · at risk · breached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Error budget remaining, 7-day sparkline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Vendor board over 24h / 7d / 30d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Anomaly detection vs seasonal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BASELINE BUCKETS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3.5σ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THRESHOLD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19-sla.png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SLA › service levels + vendor health 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35024"/>
            <a:ext cx="3813048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0">
                <a:solidFill>
                  <a:srgbClr val="00D66F"/>
                </a:solidFill>
                <a:latin typeface="Liter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044952"/>
            <a:ext cx="100584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Liter"/>
              </a:rPr>
              <a:t>INSIGHT &amp;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694176"/>
            <a:ext cx="758952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904487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E5E7EB"/>
                </a:solidFill>
                <a:latin typeface="Liter"/>
              </a:rPr>
              <a:t>From what broke — to what's working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A BI WORKSPACE, BUILT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Fourteen dashboards and seventy-nine panels over live data — and anyone can build their own without raising a ticket.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14 dashboards · 79 panels · 7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7 chart types, all dependency-free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Add a panel: dataset → metric → viz →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Save personal or shared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DASHBOARDS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PANELS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VIZ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21-analytics.png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Analytics › a rich dashboard (Payments or Overview)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WHICH CHANNELS ACTUALLY PRODUCE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Sales paths, resellers, campaigns and referrals — measured by activated lines, not clicks.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Funnel by sales path with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Campaigns by source · medium (UTM)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Acquisition × distribution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Apollo referral leaderboard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SALES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PERIODS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22-growth.png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Growth › Resellers &amp; Campaigns (sections ① and ②)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MNP PORT-INS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WHO IS SWITCHING TO SALAM — AND FROM 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Port-ins by donor operator with activation rate. Low activation on one donor means porting friction, not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Per-operator: port-ins, share, activation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Spot a donor-specific porting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Top donor + overall activation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Also available as a home dashboard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GROWTH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MNP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LANE ON THE FLOW TREE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23-mnp-donors.png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Growth › ⑤ MNP port-ins by donor operator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DEALERS &amp; QR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CHANNEL PERFORMANCE,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Attempts, completions, conversion and stalled orders per dealer and QR partner, with integration health alongside.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KPI tiles: attempts → completed → activated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Top dealers, plan mix, orders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QR/POSA source leaderboard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Integration health bars per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SCOPES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KPI TILES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24-dealers.png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Dealers dashboard (or QR partners scope)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35024"/>
            <a:ext cx="3813048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0">
                <a:solidFill>
                  <a:srgbClr val="00D66F"/>
                </a:solidFill>
                <a:latin typeface="Liter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044952"/>
            <a:ext cx="100584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Liter"/>
              </a:rPr>
              <a:t>INTELLIGENCE &amp;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694176"/>
            <a:ext cx="758952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904487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E5E7EB"/>
                </a:solidFill>
                <a:latin typeface="Liter"/>
              </a:rPr>
              <a:t>The AI teammate, the integrations, and the engineering underneath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YUSR  ·  يُسر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AN AI TEAMMATE THAT KNOWS YOUR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Ask in plain language and get one answer instead of five screens. Runs on-premise — data never leaves the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Customer · alerts · runbook · smalltalk intents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Cites open CST/ServiceNow tickets by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PII masked to the asker's own permissions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Degrades to rule-based answers if the LLM is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ON-NETWORK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INTENTS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DATA EGRESS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26-yusr.png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Yusr chat open with a subscriber answer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READ-ONLY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5E7EB"/>
                </a:solidFill>
                <a:latin typeface="Liter"/>
              </a:rPr>
              <a:t>The console reaches into six external systems to enrich what it shows — and writes to none of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5394960" cy="123444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ServiceNow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Related customer tickets on every incident; Yusr cites them by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920240"/>
            <a:ext cx="5394960" cy="123444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2121408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6771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OSB · uil_logs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78608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BSS read-path SOAP faults from a database nothing else replicates.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37560"/>
            <a:ext cx="5394960" cy="123444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38728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8503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Tap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95928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Authoritative reconciliation for duplicate and stuck charges.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337560"/>
            <a:ext cx="5394960" cy="123444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538728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8503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Semati canary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95928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Synthetic probe every 60s — catches outages with no traffic.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54880"/>
            <a:ext cx="5394960" cy="123444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56048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0235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API Gateway probe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13248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True per-node reachability, TCP connect only.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754880"/>
            <a:ext cx="5394960" cy="123444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4956048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10235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Teams · Slack · WhatsApp · SMS · 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13248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Five ways to reach on-call, severity-gated.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TOPOLOGY &amp;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THE MAP OF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43 nodes, 56 flows — plus a live NOC view of the DMS integration hub with real per-node reachability.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43 nodes · 56 flows · 9 flow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32 external integrations catalogued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43 Sidekiq workers across 22 queues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Live green/amber/red per gateway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INTEGRATIONS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WEBHOOKS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28-topology.png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Topology page — or the #apigw hub map with the live status strip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LEAST PRIVILEGE, AND A RECORD OF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5E7EB"/>
                </a:solidFill>
                <a:latin typeface="Liter"/>
              </a:rPr>
              <a:t>Eleven roles across an editable matrix. Customer data is masked unless a named senior unmasks it — and that is logged.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Domain-locked sign-in, server-side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Only Super Admin &amp; L3 Digital can unmask 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273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Audit log: logins, unmasks, rule &amp; user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● Read-only against production, always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PII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89204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5367527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READ-ONLY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143000"/>
            <a:ext cx="7662672" cy="49560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3118104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74151"/>
                </a:solidFill>
                <a:latin typeface="Liter"/>
              </a:rPr>
              <a:t>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11296"/>
            <a:ext cx="7662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Liter"/>
              </a:rPr>
              <a:t>29-roles.png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895344"/>
            <a:ext cx="7662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Liter"/>
              </a:rPr>
              <a:t>Settings › Roles &amp; permissions matrix (or Audit log)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RELIABILITY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BUILT TO STAY HONEST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5E7EB"/>
                </a:solidFill>
                <a:latin typeface="Liter"/>
              </a:rPr>
              <a:t>The console's biggest risk is showing stale numbers as if they were live. Several layers exist purely to prevent that.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5394960" cy="12984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Prod-sync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488289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Read-only session, watermarks, bounded batches — never a write path, never a load spike.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920240"/>
            <a:ext cx="5394960" cy="12984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2121408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6771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Watchdog (cron)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78608"/>
            <a:ext cx="488289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Measures lag first, syncs only when behind, retries with backoff, self-heals a wedged cursor.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01568"/>
            <a:ext cx="5394960" cy="12984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02736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49040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Staleness banner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59936"/>
            <a:ext cx="488289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If data is behind, that outranks every other status — figures are marked NOT live.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401568"/>
            <a:ext cx="5394960" cy="1298448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602736"/>
            <a:ext cx="310896" cy="22860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40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Liter"/>
              </a:rPr>
              <a:t>Response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59936"/>
            <a:ext cx="488289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E5E7EB"/>
                </a:solidFill>
                <a:latin typeface="Liter"/>
              </a:rPr>
              <a:t>Stale-while-revalidate + single-flight: 30-day views open instantly, DB spared the repeat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029200"/>
            <a:ext cx="11064240" cy="100584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303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Liter"/>
              </a:rPr>
              <a:t>MEASURED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321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D66F"/>
                </a:solidFill>
                <a:latin typeface="Liter"/>
              </a:rPr>
              <a:t>30-day dashboard 4.6s → 8ms cached   ·   timeline lookups 20–30s → indexed   ·   sync lag alert at 10 min, critical at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83464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Liter"/>
              </a:rPr>
              <a:t>LIVE IN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566928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5E7EB"/>
                </a:solidFill>
                <a:latin typeface="Liter"/>
              </a:rPr>
              <a:t>Deployed on the internal network, syncing from the prod replica, serving the team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5394960" cy="393192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6208" y="1920240"/>
            <a:ext cx="5394960" cy="3931920"/>
          </a:xfrm>
          <a:prstGeom prst="roundRect">
            <a:avLst>
              <a:gd name="adj" fmla="val 3000"/>
            </a:avLst>
          </a:prstGeom>
          <a:solidFill>
            <a:srgbClr val="12121A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D66F"/>
                </a:solidFill>
                <a:latin typeface="Liter"/>
              </a:rPr>
              <a:t>RUNNING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Console live on the internal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Prod-sync every 5 minutes, watchdog on cron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38 alert rules armed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Role-based access + audit log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OSB BSS fault monitoring connected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D66F"/>
                </a:solidFill>
                <a:latin typeface="Liter"/>
              </a:rPr>
              <a:t>✓  Published to the team via reverse proxy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12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9E0B"/>
                </a:solidFill>
                <a:latin typeface="Liter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→  SMTP relay whitelist — email alerts &amp;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00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→  API-gateway probe targets (SOC firewall)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→  ServiceNow ticket correlation (SOC firewall)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06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→  Yusr LLM model on-box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709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→  Roll out to wider ops &amp; commercial 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12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5E7EB"/>
                </a:solidFill>
                <a:latin typeface="Liter"/>
              </a:rPr>
              <a:t>→  Tune thresholds against live baselines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0976" y="384048"/>
            <a:ext cx="10287000" cy="6099048"/>
          </a:xfrm>
          <a:prstGeom prst="roundRect">
            <a:avLst>
              <a:gd name="adj" fmla="val 3000"/>
            </a:avLst>
          </a:prstGeom>
          <a:solidFill>
            <a:srgbClr val="0A0A0F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Liter"/>
              </a:rPr>
              <a:t>SALAM DIGITAL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0604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ter"/>
              </a:rPr>
              <a:t>Know first. Fix faster.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38928" y="3520440"/>
            <a:ext cx="1901952" cy="27432"/>
          </a:xfrm>
          <a:prstGeom prst="rect">
            <a:avLst/>
          </a:prstGeom>
          <a:solidFill>
            <a:srgbClr val="00D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7947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E5E7EB"/>
                </a:solidFill>
                <a:latin typeface="Liter"/>
              </a:rPr>
              <a:t>Every journey, every failure, every customer — in one place.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E5E7EB"/>
                </a:solidFill>
                <a:latin typeface="Liter"/>
              </a:rPr>
              <a:t>Built from real incidents, for the people who answer for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502920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5504688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502920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504688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502920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5504688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PANELS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02920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504688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JOURNEYS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029200"/>
            <a:ext cx="1005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0D66F"/>
                </a:solidFill>
                <a:latin typeface="Liter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5504688"/>
            <a:ext cx="1005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CA3AF"/>
                </a:solidFill>
                <a:latin typeface="Liter"/>
              </a:rPr>
              <a:t>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